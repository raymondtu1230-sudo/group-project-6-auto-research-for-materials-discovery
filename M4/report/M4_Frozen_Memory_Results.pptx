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515d2a8e0384333" /><Relationship Type="http://schemas.openxmlformats.org/officeDocument/2006/relationships/extended-properties" Target="/docProps/app.xml" Id="R7d4f2c32f17e4fca" /><Relationship Type="http://schemas.openxmlformats.org/officeDocument/2006/relationships/officeDocument" Target="/ppt/presentation.xml" Id="Rabbc699852574a24" /></Relationships>
</file>

<file path=ppt/presentation.xml><?xml version="1.0" encoding="utf-8"?>
<p:presentation xmlns:p="http://schemas.openxmlformats.org/presentationml/2006/main">
  <p:sldMasterIdLst>
    <p:sldMasterId xmlns:r="http://schemas.openxmlformats.org/officeDocument/2006/relationships" id="2147483648" r:id="Re1727be849e2431f"/>
  </p:sldMasterIdLst>
  <p:notesMasterIdLst>
    <p:notesMasterId xmlns:r="http://schemas.openxmlformats.org/officeDocument/2006/relationships" r:id="R7a5c5ed451b249f4"/>
  </p:notesMasterIdLst>
  <p:sldIdLst>
    <p:sldId xmlns:r="http://schemas.openxmlformats.org/officeDocument/2006/relationships" id="256" r:id="Ra04a8149e6134b32"/>
    <p:sldId xmlns:r="http://schemas.openxmlformats.org/officeDocument/2006/relationships" id="257" r:id="R1f35bd7d747947e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2a825fd4f541f5" /><Relationship Type="http://schemas.openxmlformats.org/officeDocument/2006/relationships/slideMaster" Target="/ppt/slideMasters/slideMaster1.xml" Id="Re1727be849e2431f" /><Relationship Type="http://schemas.openxmlformats.org/officeDocument/2006/relationships/notesMaster" Target="/ppt/notesMasters/notesMaster1.xml" Id="R7a5c5ed451b249f4" /><Relationship Type="http://schemas.openxmlformats.org/officeDocument/2006/relationships/presProps" Target="/ppt/presProps.xml" Id="R1f59bf472af64ac8" /><Relationship Type="http://schemas.openxmlformats.org/officeDocument/2006/relationships/tableStyles" Target="/ppt/tableStyles.xml" Id="R5f184430ff614256" /><Relationship Type="http://schemas.openxmlformats.org/officeDocument/2006/relationships/slide" Target="/ppt/slides/slide1.xml" Id="Ra04a8149e6134b32" /><Relationship Type="http://schemas.openxmlformats.org/officeDocument/2006/relationships/slide" Target="/ppt/slides/slide2.xml" Id="R1f35bd7d747947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3a74cf47844a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cc5b766fea48e1" /><Relationship Type="http://schemas.openxmlformats.org/officeDocument/2006/relationships/notesMaster" Target="/ppt/notesMasters/notesMaster1.xml" Id="R38e1e756e5654b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d3562c9988450a" /><Relationship Type="http://schemas.openxmlformats.org/officeDocument/2006/relationships/notesMaster" Target="/ppt/notesMasters/notesMaster1.xml" Id="R5dffbd7e5ae54d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M4 records the feedback from each queried structure, including its composition, energy and observed stability. It gives the planner a bounded selection of recent stable and unstable outcomes, with up to eight records at a time. Each episode has its own memory, and the state can be restored from a checkpoint. We also keep the full trajectory in both Memory ON and OFF runs. Generator and filter logs stay separate from planning, so turning memory off does not remove the evidence needed for analysis.</a:t>
            </a:r>
          </a:p>
          <a:p xmlns:a="http://schemas.openxmlformats.org/drawingml/2006/main">
            <a:r>
              <a:t/>
            </a:r>
          </a:p>
          <a:p xmlns:a="http://schemas.openxmlformats.org/drawingml/2006/main">
            <a:r>
              <a:t>Sources: M4/src/m4_memory/ and M1/PLUGIN_INTERFACE.md.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tested Memory ON and OFF on six development systems with three seeds, giving 18 pairs and 36 episodes. Each episode used the same budget of 20 campaign queries. The table shows that Memory ON averaged 10.00 mSUN, compared with 9.11 for OFF. AUDC was 88.11 versus 86.94. The average mSUN difference was positive, but the effect varied: ON did better in eight pairs, tied in three and did worse in seven. We therefore describe the result as a modest average improvement rather than a consistent gain. These are development results. M1 reconstructed the ON curves from the saved trajectories, and the report records that provenance.</a:t>
            </a:r>
          </a:p>
          <a:p xmlns:a="http://schemas.openxmlformats.org/drawingml/2006/main">
            <a:r>
              <a:t/>
            </a:r>
          </a:p>
          <a:p xmlns:a="http://schemas.openxmlformats.org/drawingml/2006/main">
            <a:r>
              <a:t>Sources: M4/evidence/frozen-memory-ablation-20261026/paired_results.csv and analysis/aggregate_curves.csv. Means average six systems within each seed, then the three seed means. The report provides seed SD and individual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6bf90c31764a3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1fe7ecfae94d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b2b8e98f3ea44f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2420b59dbdf4d9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1b01953bf97465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8413201db1748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E0A743-93E7-4F5E-9109-BC2B070C886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CA6F865-3386-4DC2-97DC-D5A55D05AD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84F412-F520-4AC6-B23E-9EDDA9CCC88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3A1009-A03C-483E-A482-F9A571281A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B9B39F-DFB2-43DE-B9BE-20BBCA2826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DDEE9E8-DFF8-42BD-ADB7-6CF24A21F3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9D5D19-4196-475F-A3DB-D52CC303A7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F0239A7-7C66-4867-98EC-97C0EF61B8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432FD-1B23-40E8-B5C3-A16E3A3D24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D1326-11C7-45D7-A001-714416B6B4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818413b93c4fff" /><Relationship Type="http://schemas.openxmlformats.org/officeDocument/2006/relationships/slideLayout" Target="/ppt/slideLayouts/slideLayout1.xml" Id="R4eb5ee560cda4e46" /><Relationship Type="http://schemas.openxmlformats.org/officeDocument/2006/relationships/slideLayout" Target="/ppt/slideLayouts/slideLayout2.xml" Id="Rebc0d9fc2ded4a9c" /><Relationship Type="http://schemas.openxmlformats.org/officeDocument/2006/relationships/slideLayout" Target="/ppt/slideLayouts/slideLayout3.xml" Id="Rc8d0344844104f55" /><Relationship Type="http://schemas.openxmlformats.org/officeDocument/2006/relationships/slideLayout" Target="/ppt/slideLayouts/slideLayout4.xml" Id="R8d579818ce28406b" /><Relationship Type="http://schemas.openxmlformats.org/officeDocument/2006/relationships/slideLayout" Target="/ppt/slideLayouts/slideLayout5.xml" Id="R2507c6eede414917" /><Relationship Type="http://schemas.openxmlformats.org/officeDocument/2006/relationships/slideLayout" Target="/ppt/slideLayouts/slideLayout6.xml" Id="R4f08bf5326604d9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b5ee560cda4e46"/>
    <p:sldLayoutId xmlns:r="http://schemas.openxmlformats.org/officeDocument/2006/relationships" id="2147483650" r:id="Rebc0d9fc2ded4a9c"/>
    <p:sldLayoutId xmlns:r="http://schemas.openxmlformats.org/officeDocument/2006/relationships" id="2147483651" r:id="Rc8d0344844104f55"/>
    <p:sldLayoutId xmlns:r="http://schemas.openxmlformats.org/officeDocument/2006/relationships" id="2147483652" r:id="R8d579818ce28406b"/>
    <p:sldLayoutId xmlns:r="http://schemas.openxmlformats.org/officeDocument/2006/relationships" id="2147483653" r:id="R2507c6eede414917"/>
    <p:sldLayoutId xmlns:r="http://schemas.openxmlformats.org/officeDocument/2006/relationships" id="2147483654" r:id="R4f08bf5326604d9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7c600dea3a6425b" /><Relationship Type="http://schemas.openxmlformats.org/officeDocument/2006/relationships/notesSlide" Target="/ppt/notesSlides/notesSlide1.xml" Id="R16e9969352b24d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a10145d09c34c0d" /><Relationship Type="http://schemas.openxmlformats.org/officeDocument/2006/relationships/chart" Target="/ppt/slides/charts/chart1.xml" Id="R6fd8b52deff5485d" /><Relationship Type="http://schemas.openxmlformats.org/officeDocument/2006/relationships/notesSlide" Target="/ppt/notesSlides/notesSlide2.xml" Id="Rd25f10a8c173436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Memory ON</c:v>
          </c:tx>
          <c:spPr>
            <a:ln xmlns:a="http://schemas.openxmlformats.org/drawingml/2006/main" w="28575">
              <a:solidFill>
                <a:srgbClr val="164A72"/>
              </a:solidFill>
            </a:ln>
          </c:spPr>
          <c:xVal>
            <c:numRef>
              <c:f>'Chart Data'!$A$2:$A$21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xVal>
          <c:yVal>
            <c:numRef>
              <c:f>'Chart Data'!$B$2:$B$21</c:f>
              <c:numCache>
                <c:formatCode>General</c:formatCode>
                <c:ptCount val="20"/>
                <c:pt idx="0">
                  <c:v>0.1111111111</c:v>
                </c:pt>
                <c:pt idx="1">
                  <c:v>0.2222222222</c:v>
                </c:pt>
                <c:pt idx="2">
                  <c:v>0.6666666667</c:v>
                </c:pt>
                <c:pt idx="3">
                  <c:v>1</c:v>
                </c:pt>
                <c:pt idx="4">
                  <c:v>1.5</c:v>
                </c:pt>
                <c:pt idx="5">
                  <c:v>1.9444444444</c:v>
                </c:pt>
                <c:pt idx="6">
                  <c:v>2.5</c:v>
                </c:pt>
                <c:pt idx="7">
                  <c:v>3.1666666667</c:v>
                </c:pt>
                <c:pt idx="8">
                  <c:v>3.7777777778</c:v>
                </c:pt>
                <c:pt idx="9">
                  <c:v>4.3333333333</c:v>
                </c:pt>
                <c:pt idx="10">
                  <c:v>4.8888888889</c:v>
                </c:pt>
                <c:pt idx="11">
                  <c:v>5.4444444444</c:v>
                </c:pt>
                <c:pt idx="12">
                  <c:v>6.1111111111</c:v>
                </c:pt>
                <c:pt idx="13">
                  <c:v>6.5555555556</c:v>
                </c:pt>
                <c:pt idx="14">
                  <c:v>7</c:v>
                </c:pt>
                <c:pt idx="15">
                  <c:v>7.5</c:v>
                </c:pt>
                <c:pt idx="16">
                  <c:v>8.1666666667</c:v>
                </c:pt>
                <c:pt idx="17">
                  <c:v>8.7777777778</c:v>
                </c:pt>
                <c:pt idx="18">
                  <c:v>9.4444444444</c:v>
                </c:pt>
                <c:pt idx="19">
                  <c:v>10</c:v>
                </c:pt>
              </c:numCache>
            </c:numRef>
          </c:yVal>
        </c:ser>
        <c:ser>
          <c:idx val="1"/>
          <c:order val="1"/>
          <c:tx>
            <c:v>Memory OFF</c:v>
          </c:tx>
          <c:spPr>
            <a:ln xmlns:a="http://schemas.openxmlformats.org/drawingml/2006/main" w="28575">
              <a:solidFill>
                <a:srgbClr val="BA6434"/>
              </a:solidFill>
            </a:ln>
          </c:spPr>
          <c:xVal>
            <c:numRef>
              <c:f>'Chart Data'!$C$2:$C$21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xVal>
          <c:yVal>
            <c:numRef>
              <c:f>'Chart Data'!$D$2:$D$21</c:f>
              <c:numCache>
                <c:formatCode>General</c:formatCode>
                <c:ptCount val="20"/>
                <c:pt idx="0">
                  <c:v>0.1111111111</c:v>
                </c:pt>
                <c:pt idx="1">
                  <c:v>0.6111111111</c:v>
                </c:pt>
                <c:pt idx="2">
                  <c:v>0.8888888889</c:v>
                </c:pt>
                <c:pt idx="3">
                  <c:v>1.1666666667</c:v>
                </c:pt>
                <c:pt idx="4">
                  <c:v>1.5555555556</c:v>
                </c:pt>
                <c:pt idx="5">
                  <c:v>2.1666666667</c:v>
                </c:pt>
                <c:pt idx="6">
                  <c:v>2.8333333333</c:v>
                </c:pt>
                <c:pt idx="7">
                  <c:v>3.5555555556</c:v>
                </c:pt>
                <c:pt idx="8">
                  <c:v>3.9444444444</c:v>
                </c:pt>
                <c:pt idx="9">
                  <c:v>4.5555555556</c:v>
                </c:pt>
                <c:pt idx="10">
                  <c:v>4.8888888889</c:v>
                </c:pt>
                <c:pt idx="11">
                  <c:v>5.3333333333</c:v>
                </c:pt>
                <c:pt idx="12">
                  <c:v>5.8888888889</c:v>
                </c:pt>
                <c:pt idx="13">
                  <c:v>6.3888888889</c:v>
                </c:pt>
                <c:pt idx="14">
                  <c:v>6.6666666667</c:v>
                </c:pt>
                <c:pt idx="15">
                  <c:v>7.2222222222</c:v>
                </c:pt>
                <c:pt idx="16">
                  <c:v>7.7222222222</c:v>
                </c:pt>
                <c:pt idx="17">
                  <c:v>8.2222222222</c:v>
                </c:pt>
                <c:pt idx="18">
                  <c:v>8.6666666667</c:v>
                </c:pt>
                <c:pt idx="19">
                  <c:v>9.1111111111</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6DEE6"/>
              </a:solidFill>
            </a:ln>
          </c:spPr>
        </c:majorGridlines>
        <c:title>
          <c:tx>
            <c:rich>
              <a:bodyPr xmlns:a="http://schemas.openxmlformats.org/drawingml/2006/main"/>
              <a:lstStyle xmlns:a="http://schemas.openxmlformats.org/drawingml/2006/main"/>
              <a:p xmlns:a="http://schemas.openxmlformats.org/drawingml/2006/main">
                <a:r>
                  <a:rPr sz="1350">
                    <a:latin typeface="Arial"/>
                    <a:ea typeface="Arial"/>
                    <a:cs typeface="Arial"/>
                  </a:rPr>
                  <a:t>Mean mSUN</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3"/>
      </c:valAx>
      <c:valAx>
        <c:axId val="48650112"/>
        <c:scaling>
          <c:orientation val="minMax"/>
          <c:max val="20"/>
          <c:min val="0"/>
        </c:scaling>
        <c:delete val="0"/>
        <c:axPos val="b"/>
        <c:title>
          <c:tx>
            <c:rich>
              <a:bodyPr xmlns:a="http://schemas.openxmlformats.org/drawingml/2006/main"/>
              <a:lstStyle xmlns:a="http://schemas.openxmlformats.org/drawingml/2006/main"/>
              <a:p xmlns:a="http://schemas.openxmlformats.org/drawingml/2006/main">
                <a:r>
                  <a:rPr sz="1350">
                    <a:latin typeface="Arial"/>
                    <a:ea typeface="Arial"/>
                    <a:cs typeface="Arial"/>
                  </a:rPr>
                  <a:t>Completed campaign queries</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9E549A-DE9E-43DA-9478-A88073312876}"/>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Memory and evidence management</a:t>
            </a:r>
          </a:p>
        </p:txBody>
      </p:sp>
      <p:sp>
        <p:nvSpPr>
          <p:cNvPr id="2" name="">
            <a:extLst xmlns:a="http://schemas.openxmlformats.org/drawingml/2006/main">
              <a:ext uri="{FF2B5EF4-FFF2-40B4-BE49-F238E27FC236}">
                <a16:creationId xmlns:a16="http://schemas.microsoft.com/office/drawing/2014/main" id="{43A6538B-147D-407F-B7E8-90BD1D17DBD1}"/>
              </a:ext>
            </a:extLst>
          </p:cNvPr>
          <p:cNvSpPr>
            <a:spLocks xmlns:a="http://schemas.openxmlformats.org/drawingml/2006/main" noGrp="1"/>
          </p:cNvSpPr>
          <p:nvPr/>
        </p:nvSpPr>
        <p:spPr>
          <a:xfrm xmlns:a="http://schemas.openxmlformats.org/drawingml/2006/main">
            <a:off x="609600" y="14763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Observed feedback</a:t>
            </a:r>
          </a:p>
        </p:txBody>
      </p:sp>
      <p:sp>
        <p:nvSpPr>
          <p:cNvPr id="3" name="">
            <a:extLst xmlns:a="http://schemas.openxmlformats.org/drawingml/2006/main">
              <a:ext uri="{FF2B5EF4-FFF2-40B4-BE49-F238E27FC236}">
                <a16:creationId xmlns:a16="http://schemas.microsoft.com/office/drawing/2014/main" id="{37317543-107F-4689-8F16-09BD68099B36}"/>
              </a:ext>
            </a:extLst>
          </p:cNvPr>
          <p:cNvSpPr>
            <a:spLocks xmlns:a="http://schemas.openxmlformats.org/drawingml/2006/main" noGrp="1"/>
          </p:cNvSpPr>
          <p:nvPr/>
        </p:nvSpPr>
        <p:spPr>
          <a:xfrm xmlns:a="http://schemas.openxmlformats.org/drawingml/2006/main">
            <a:off x="609600" y="2076450"/>
            <a:ext cx="5238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Candidate composition and identity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Energy and observed stability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One record per queried structure</a:t>
            </a:r>
          </a:p>
        </p:txBody>
      </p:sp>
      <p:sp>
        <p:nvSpPr>
          <p:cNvPr id="4" name="">
            <a:extLst xmlns:a="http://schemas.openxmlformats.org/drawingml/2006/main">
              <a:ext uri="{FF2B5EF4-FFF2-40B4-BE49-F238E27FC236}">
                <a16:creationId xmlns:a16="http://schemas.microsoft.com/office/drawing/2014/main" id="{C8D3A7E2-CBD4-4D3E-BE57-DE93805BB1E6}"/>
              </a:ext>
            </a:extLst>
          </p:cNvPr>
          <p:cNvSpPr>
            <a:spLocks xmlns:a="http://schemas.openxmlformats.org/drawingml/2006/main" noGrp="1"/>
          </p:cNvSpPr>
          <p:nvPr/>
        </p:nvSpPr>
        <p:spPr>
          <a:xfrm xmlns:a="http://schemas.openxmlformats.org/drawingml/2006/main">
            <a:off x="6705600" y="1476375"/>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Memory for planning</a:t>
            </a:r>
          </a:p>
        </p:txBody>
      </p:sp>
      <p:sp>
        <p:nvSpPr>
          <p:cNvPr id="5" name="">
            <a:extLst xmlns:a="http://schemas.openxmlformats.org/drawingml/2006/main">
              <a:ext uri="{FF2B5EF4-FFF2-40B4-BE49-F238E27FC236}">
                <a16:creationId xmlns:a16="http://schemas.microsoft.com/office/drawing/2014/main" id="{7D2B3E82-8F0E-4B0C-9B36-7191D6B834A1}"/>
              </a:ext>
            </a:extLst>
          </p:cNvPr>
          <p:cNvSpPr>
            <a:spLocks xmlns:a="http://schemas.openxmlformats.org/drawingml/2006/main" noGrp="1"/>
          </p:cNvSpPr>
          <p:nvPr/>
        </p:nvSpPr>
        <p:spPr>
          <a:xfrm xmlns:a="http://schemas.openxmlformats.org/drawingml/2006/main">
            <a:off x="6705600" y="2076450"/>
            <a:ext cx="4810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Recent stable and unstable outcomes</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Up to 8 records per retrieval</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Separate memory for each episode</a:t>
            </a:r>
          </a:p>
        </p:txBody>
      </p:sp>
      <p:sp>
        <p:nvSpPr>
          <p:cNvPr id="6" name="">
            <a:extLst xmlns:a="http://schemas.openxmlformats.org/drawingml/2006/main">
              <a:ext uri="{FF2B5EF4-FFF2-40B4-BE49-F238E27FC236}">
                <a16:creationId xmlns:a16="http://schemas.microsoft.com/office/drawing/2014/main" id="{C51FF765-F577-4885-AD08-564721DBE292}"/>
              </a:ext>
            </a:extLst>
          </p:cNvPr>
          <p:cNvSpPr>
            <a:spLocks xmlns:a="http://schemas.openxmlformats.org/drawingml/2006/main" noGrp="1"/>
          </p:cNvSpPr>
          <p:nvPr/>
        </p:nvSpPr>
        <p:spPr>
          <a:xfrm xmlns:a="http://schemas.openxmlformats.org/drawingml/2006/main">
            <a:off x="609600" y="44481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Evidence stays available with Memory OFF</a:t>
            </a:r>
          </a:p>
        </p:txBody>
      </p:sp>
      <p:sp>
        <p:nvSpPr>
          <p:cNvPr id="7" name="">
            <a:extLst xmlns:a="http://schemas.openxmlformats.org/drawingml/2006/main">
              <a:ext uri="{FF2B5EF4-FFF2-40B4-BE49-F238E27FC236}">
                <a16:creationId xmlns:a16="http://schemas.microsoft.com/office/drawing/2014/main" id="{C4E7397A-28F8-4169-B645-7C1824C00148}"/>
              </a:ext>
            </a:extLst>
          </p:cNvPr>
          <p:cNvSpPr>
            <a:spLocks xmlns:a="http://schemas.openxmlformats.org/drawingml/2006/main" noGrp="1"/>
          </p:cNvSpPr>
          <p:nvPr/>
        </p:nvSpPr>
        <p:spPr>
          <a:xfrm xmlns:a="http://schemas.openxmlformats.org/drawingml/2006/main">
            <a:off x="609600" y="50006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Both arms retain complete trajectories.</a:t>
            </a:r>
          </a:p>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Generator/filter logs stay separate from planning.</a:t>
            </a:r>
          </a:p>
        </p:txBody>
      </p:sp>
      <p:sp>
        <p:nvSpPr>
          <p:cNvPr id="8" name="">
            <a:extLst xmlns:a="http://schemas.openxmlformats.org/drawingml/2006/main">
              <a:ext uri="{FF2B5EF4-FFF2-40B4-BE49-F238E27FC236}">
                <a16:creationId xmlns:a16="http://schemas.microsoft.com/office/drawing/2014/main" id="{3E362FA6-98F8-45BE-9982-B90523306528}"/>
              </a:ext>
            </a:extLst>
          </p:cNvPr>
          <p:cNvSpPr>
            <a:spLocks xmlns:a="http://schemas.openxmlformats.org/drawingml/2006/main" noGrp="1"/>
          </p:cNvSpPr>
          <p:nvPr/>
        </p:nvSpPr>
        <p:spPr>
          <a:xfrm xmlns:a="http://schemas.openxmlformats.org/drawingml/2006/main">
            <a:off x="609600" y="61436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470"/>
                </a:solidFill>
                <a:latin typeface="Arial"/>
                <a:ea typeface="Arial"/>
                <a:cs typeface="Arial"/>
              </a:defRPr>
            </a:defPPr>
            <a:lvl1pPr>
              <a:buNone/>
              <a:defRPr sz="1725" b="0">
                <a:solidFill>
                  <a:srgbClr val="5B6470"/>
                </a:solidFill>
                <a:latin typeface="Arial"/>
                <a:ea typeface="Arial"/>
                <a:cs typeface="Arial"/>
              </a:defRPr>
            </a:lvl1pPr>
            <a:lvl2pPr>
              <a:buNone/>
              <a:defRPr sz="1725" b="0">
                <a:solidFill>
                  <a:srgbClr val="5B6470"/>
                </a:solidFill>
                <a:latin typeface="Arial"/>
                <a:ea typeface="Arial"/>
                <a:cs typeface="Arial"/>
              </a:defRPr>
            </a:lvl2pPr>
            <a:lvl3pPr>
              <a:buNone/>
              <a:defRPr sz="1725" b="0">
                <a:solidFill>
                  <a:srgbClr val="5B6470"/>
                </a:solidFill>
                <a:latin typeface="Arial"/>
                <a:ea typeface="Arial"/>
                <a:cs typeface="Arial"/>
              </a:defRPr>
            </a:lvl3pPr>
            <a:lvl4pPr>
              <a:buNone/>
              <a:defRPr sz="1725" b="0">
                <a:solidFill>
                  <a:srgbClr val="5B6470"/>
                </a:solidFill>
                <a:latin typeface="Arial"/>
                <a:ea typeface="Arial"/>
                <a:cs typeface="Arial"/>
              </a:defRPr>
            </a:lvl4pPr>
            <a:lvl5pPr>
              <a:buNone/>
              <a:defRPr sz="1725" b="0">
                <a:solidFill>
                  <a:srgbClr val="5B6470"/>
                </a:solidFill>
                <a:latin typeface="Arial"/>
                <a:ea typeface="Arial"/>
                <a:cs typeface="Arial"/>
              </a:defRPr>
            </a:lvl5pPr>
            <a:lvl6pPr>
              <a:buNone/>
              <a:defRPr sz="1725" b="0">
                <a:solidFill>
                  <a:srgbClr val="5B6470"/>
                </a:solidFill>
                <a:latin typeface="Arial"/>
                <a:ea typeface="Arial"/>
                <a:cs typeface="Arial"/>
              </a:defRPr>
            </a:lvl6pPr>
            <a:lvl7pPr>
              <a:buNone/>
              <a:defRPr sz="1725" b="0">
                <a:solidFill>
                  <a:srgbClr val="5B6470"/>
                </a:solidFill>
                <a:latin typeface="Arial"/>
                <a:ea typeface="Arial"/>
                <a:cs typeface="Arial"/>
              </a:defRPr>
            </a:lvl7pPr>
            <a:lvl8pPr>
              <a:buNone/>
              <a:defRPr sz="1725" b="0">
                <a:solidFill>
                  <a:srgbClr val="5B6470"/>
                </a:solidFill>
                <a:latin typeface="Arial"/>
                <a:ea typeface="Arial"/>
                <a:cs typeface="Arial"/>
              </a:defRPr>
            </a:lvl8pPr>
            <a:lvl9pPr>
              <a:buNone/>
              <a:defRPr sz="1725" b="0">
                <a:solidFill>
                  <a:srgbClr val="5B6470"/>
                </a:solidFill>
                <a:latin typeface="Arial"/>
                <a:ea typeface="Arial"/>
                <a:cs typeface="Arial"/>
              </a:defRPr>
            </a:lvl9pPr>
          </a:lstStyle>
          <a:p xmlns:a="http://schemas.openxmlformats.org/drawingml/2006/main">
            <a:pPr>
              <a:buNone/>
              <a:defRPr sz="1725" b="0">
                <a:solidFill>
                  <a:srgbClr val="5B6470"/>
                </a:solidFill>
                <a:latin typeface="Arial"/>
                <a:ea typeface="Arial"/>
                <a:cs typeface="Arial"/>
              </a:defRPr>
            </a:pPr>
            <a:r>
              <a:rPr sz="1725" b="0">
                <a:solidFill>
                  <a:srgbClr val="5B6470"/>
                </a:solidFill>
                <a:latin typeface="Arial"/>
                <a:ea typeface="Arial"/>
                <a:cs typeface="Arial"/>
              </a:rPr>
              <a:t>18 ON/OFF pairs, 36 episodes. Development split.</a:t>
            </a:r>
          </a:p>
        </p:txBody>
      </p:sp>
    </p:spTree>
    <p:extLst>
      <p:ext uri="{BB962C8B-B14F-4D97-AF65-F5344CB8AC3E}">
        <p14:creationId xmlns:p14="http://schemas.microsoft.com/office/powerpoint/2010/main" val="11863955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DE5ED-8F4B-49D4-8B6E-7E9AD88D0DFF}"/>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Frozen Memory ablation</a:t>
            </a:r>
          </a:p>
        </p:txBody>
      </p:sp>
      <p:sp>
        <p:nvSpPr>
          <p:cNvPr id="3" name="">
            <a:extLst xmlns:a="http://schemas.openxmlformats.org/drawingml/2006/main">
              <a:ext uri="{FF2B5EF4-FFF2-40B4-BE49-F238E27FC236}">
                <a16:creationId xmlns:a16="http://schemas.microsoft.com/office/drawing/2014/main" id="{ED5712AA-BE3B-417C-ABC0-F83BB3CDFACE}"/>
              </a:ext>
            </a:extLst>
          </p:cNvPr>
          <p:cNvSpPr>
            <a:spLocks xmlns:a="http://schemas.openxmlformats.org/drawingml/2006/main" noGrp="1"/>
          </p:cNvSpPr>
          <p:nvPr/>
        </p:nvSpPr>
        <p:spPr>
          <a:xfrm xmlns:a="http://schemas.openxmlformats.org/drawingml/2006/main">
            <a:off x="609600" y="56197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52A43"/>
                </a:solidFill>
                <a:latin typeface="Arial"/>
                <a:ea typeface="Arial"/>
                <a:cs typeface="Arial"/>
              </a:defRPr>
            </a:defPPr>
            <a:lvl1pPr>
              <a:buNone/>
              <a:defRPr sz="1950" b="1">
                <a:solidFill>
                  <a:srgbClr val="152A43"/>
                </a:solidFill>
                <a:latin typeface="Arial"/>
                <a:ea typeface="Arial"/>
                <a:cs typeface="Arial"/>
              </a:defRPr>
            </a:lvl1pPr>
            <a:lvl2pPr>
              <a:buNone/>
              <a:defRPr sz="1950" b="1">
                <a:solidFill>
                  <a:srgbClr val="152A43"/>
                </a:solidFill>
                <a:latin typeface="Arial"/>
                <a:ea typeface="Arial"/>
                <a:cs typeface="Arial"/>
              </a:defRPr>
            </a:lvl2pPr>
            <a:lvl3pPr>
              <a:buNone/>
              <a:defRPr sz="1950" b="1">
                <a:solidFill>
                  <a:srgbClr val="152A43"/>
                </a:solidFill>
                <a:latin typeface="Arial"/>
                <a:ea typeface="Arial"/>
                <a:cs typeface="Arial"/>
              </a:defRPr>
            </a:lvl3pPr>
            <a:lvl4pPr>
              <a:buNone/>
              <a:defRPr sz="1950" b="1">
                <a:solidFill>
                  <a:srgbClr val="152A43"/>
                </a:solidFill>
                <a:latin typeface="Arial"/>
                <a:ea typeface="Arial"/>
                <a:cs typeface="Arial"/>
              </a:defRPr>
            </a:lvl4pPr>
            <a:lvl5pPr>
              <a:buNone/>
              <a:defRPr sz="1950" b="1">
                <a:solidFill>
                  <a:srgbClr val="152A43"/>
                </a:solidFill>
                <a:latin typeface="Arial"/>
                <a:ea typeface="Arial"/>
                <a:cs typeface="Arial"/>
              </a:defRPr>
            </a:lvl5pPr>
            <a:lvl6pPr>
              <a:buNone/>
              <a:defRPr sz="1950" b="1">
                <a:solidFill>
                  <a:srgbClr val="152A43"/>
                </a:solidFill>
                <a:latin typeface="Arial"/>
                <a:ea typeface="Arial"/>
                <a:cs typeface="Arial"/>
              </a:defRPr>
            </a:lvl6pPr>
            <a:lvl7pPr>
              <a:buNone/>
              <a:defRPr sz="1950" b="1">
                <a:solidFill>
                  <a:srgbClr val="152A43"/>
                </a:solidFill>
                <a:latin typeface="Arial"/>
                <a:ea typeface="Arial"/>
                <a:cs typeface="Arial"/>
              </a:defRPr>
            </a:lvl7pPr>
            <a:lvl8pPr>
              <a:buNone/>
              <a:defRPr sz="1950" b="1">
                <a:solidFill>
                  <a:srgbClr val="152A43"/>
                </a:solidFill>
                <a:latin typeface="Arial"/>
                <a:ea typeface="Arial"/>
                <a:cs typeface="Arial"/>
              </a:defRPr>
            </a:lvl8pPr>
            <a:lvl9pPr>
              <a:buNone/>
              <a:defRPr sz="1950" b="1">
                <a:solidFill>
                  <a:srgbClr val="152A43"/>
                </a:solidFill>
                <a:latin typeface="Arial"/>
                <a:ea typeface="Arial"/>
                <a:cs typeface="Arial"/>
              </a:defRPr>
            </a:lvl9pPr>
          </a:lstStyle>
          <a:p xmlns:a="http://schemas.openxmlformats.org/drawingml/2006/main">
            <a:pPr>
              <a:buNone/>
              <a:defRPr sz="1950" b="1">
                <a:solidFill>
                  <a:srgbClr val="152A43"/>
                </a:solidFill>
                <a:latin typeface="Arial"/>
                <a:ea typeface="Arial"/>
                <a:cs typeface="Arial"/>
              </a:defRPr>
            </a:pPr>
            <a:r>
              <a:rPr sz="1950" b="1">
                <a:solidFill>
                  <a:srgbClr val="152A43"/>
                </a:solidFill>
                <a:latin typeface="Arial"/>
                <a:ea typeface="Arial"/>
                <a:cs typeface="Arial"/>
              </a:rPr>
              <a:t>Discovery across 18 development pairs</a:t>
            </a:r>
          </a:p>
        </p:txBody>
      </p:sp>
      <p:sp>
        <p:nvSpPr>
          <p:cNvPr id="4" name="">
            <a:extLst xmlns:a="http://schemas.openxmlformats.org/drawingml/2006/main">
              <a:ext uri="{FF2B5EF4-FFF2-40B4-BE49-F238E27FC236}">
                <a16:creationId xmlns:a16="http://schemas.microsoft.com/office/drawing/2014/main" id="{0F8CB7BC-C187-43A0-8890-1F47FD8465FE}"/>
              </a:ext>
            </a:extLst>
          </p:cNvPr>
          <p:cNvSpPr>
            <a:spLocks xmlns:a="http://schemas.openxmlformats.org/drawingml/2006/main" noGrp="1"/>
          </p:cNvSpPr>
          <p:nvPr/>
        </p:nvSpPr>
        <p:spPr>
          <a:xfrm xmlns:a="http://schemas.openxmlformats.org/drawingml/2006/main">
            <a:off x="609600" y="6067425"/>
            <a:ext cx="552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A43"/>
                </a:solidFill>
                <a:latin typeface="Arial"/>
                <a:ea typeface="Arial"/>
                <a:cs typeface="Arial"/>
              </a:defRPr>
            </a:defPPr>
            <a:lvl1pPr>
              <a:buNone/>
              <a:defRPr sz="1725" b="0">
                <a:solidFill>
                  <a:srgbClr val="152A43"/>
                </a:solidFill>
                <a:latin typeface="Arial"/>
                <a:ea typeface="Arial"/>
                <a:cs typeface="Arial"/>
              </a:defRPr>
            </a:lvl1pPr>
            <a:lvl2pPr>
              <a:buNone/>
              <a:defRPr sz="1725" b="0">
                <a:solidFill>
                  <a:srgbClr val="152A43"/>
                </a:solidFill>
                <a:latin typeface="Arial"/>
                <a:ea typeface="Arial"/>
                <a:cs typeface="Arial"/>
              </a:defRPr>
            </a:lvl2pPr>
            <a:lvl3pPr>
              <a:buNone/>
              <a:defRPr sz="1725" b="0">
                <a:solidFill>
                  <a:srgbClr val="152A43"/>
                </a:solidFill>
                <a:latin typeface="Arial"/>
                <a:ea typeface="Arial"/>
                <a:cs typeface="Arial"/>
              </a:defRPr>
            </a:lvl3pPr>
            <a:lvl4pPr>
              <a:buNone/>
              <a:defRPr sz="1725" b="0">
                <a:solidFill>
                  <a:srgbClr val="152A43"/>
                </a:solidFill>
                <a:latin typeface="Arial"/>
                <a:ea typeface="Arial"/>
                <a:cs typeface="Arial"/>
              </a:defRPr>
            </a:lvl4pPr>
            <a:lvl5pPr>
              <a:buNone/>
              <a:defRPr sz="1725" b="0">
                <a:solidFill>
                  <a:srgbClr val="152A43"/>
                </a:solidFill>
                <a:latin typeface="Arial"/>
                <a:ea typeface="Arial"/>
                <a:cs typeface="Arial"/>
              </a:defRPr>
            </a:lvl5pPr>
            <a:lvl6pPr>
              <a:buNone/>
              <a:defRPr sz="1725" b="0">
                <a:solidFill>
                  <a:srgbClr val="152A43"/>
                </a:solidFill>
                <a:latin typeface="Arial"/>
                <a:ea typeface="Arial"/>
                <a:cs typeface="Arial"/>
              </a:defRPr>
            </a:lvl6pPr>
            <a:lvl7pPr>
              <a:buNone/>
              <a:defRPr sz="1725" b="0">
                <a:solidFill>
                  <a:srgbClr val="152A43"/>
                </a:solidFill>
                <a:latin typeface="Arial"/>
                <a:ea typeface="Arial"/>
                <a:cs typeface="Arial"/>
              </a:defRPr>
            </a:lvl7pPr>
            <a:lvl8pPr>
              <a:buNone/>
              <a:defRPr sz="1725" b="0">
                <a:solidFill>
                  <a:srgbClr val="152A43"/>
                </a:solidFill>
                <a:latin typeface="Arial"/>
                <a:ea typeface="Arial"/>
                <a:cs typeface="Arial"/>
              </a:defRPr>
            </a:lvl8pPr>
            <a:lvl9pPr>
              <a:buNone/>
              <a:defRPr sz="1725" b="0">
                <a:solidFill>
                  <a:srgbClr val="152A43"/>
                </a:solidFill>
                <a:latin typeface="Arial"/>
                <a:ea typeface="Arial"/>
                <a:cs typeface="Arial"/>
              </a:defRPr>
            </a:lvl9pPr>
          </a:lstStyle>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6 systems, seeds 17/29/43, B=20</a:t>
            </a:r>
          </a:p>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CPU ORB, only Memory disabled in OFF</a:t>
            </a:r>
          </a:p>
        </p:txBody>
      </p:sp>
      <p:sp>
        <p:nvSpPr>
          <p:cNvPr id="5" name="">
            <a:extLst xmlns:a="http://schemas.openxmlformats.org/drawingml/2006/main">
              <a:ext uri="{FF2B5EF4-FFF2-40B4-BE49-F238E27FC236}">
                <a16:creationId xmlns:a16="http://schemas.microsoft.com/office/drawing/2014/main" id="{B1DD9CE8-A540-47DF-9A61-0E611F19EB0F}"/>
              </a:ext>
            </a:extLst>
          </p:cNvPr>
          <p:cNvSpPr>
            <a:spLocks xmlns:a="http://schemas.openxmlformats.org/drawingml/2006/main" noGrp="1"/>
          </p:cNvSpPr>
          <p:nvPr/>
        </p:nvSpPr>
        <p:spPr>
          <a:xfrm xmlns:a="http://schemas.openxmlformats.org/drawingml/2006/main">
            <a:off x="6477000" y="1476375"/>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52A43"/>
                </a:solidFill>
                <a:latin typeface="Arial"/>
                <a:ea typeface="Arial"/>
                <a:cs typeface="Arial"/>
              </a:defRPr>
            </a:defPPr>
            <a:lvl1pPr>
              <a:buNone/>
              <a:defRPr sz="2325" b="1">
                <a:solidFill>
                  <a:srgbClr val="152A43"/>
                </a:solidFill>
                <a:latin typeface="Arial"/>
                <a:ea typeface="Arial"/>
                <a:cs typeface="Arial"/>
              </a:defRPr>
            </a:lvl1pPr>
            <a:lvl2pPr>
              <a:buNone/>
              <a:defRPr sz="2325" b="1">
                <a:solidFill>
                  <a:srgbClr val="152A43"/>
                </a:solidFill>
                <a:latin typeface="Arial"/>
                <a:ea typeface="Arial"/>
                <a:cs typeface="Arial"/>
              </a:defRPr>
            </a:lvl2pPr>
            <a:lvl3pPr>
              <a:buNone/>
              <a:defRPr sz="2325" b="1">
                <a:solidFill>
                  <a:srgbClr val="152A43"/>
                </a:solidFill>
                <a:latin typeface="Arial"/>
                <a:ea typeface="Arial"/>
                <a:cs typeface="Arial"/>
              </a:defRPr>
            </a:lvl3pPr>
            <a:lvl4pPr>
              <a:buNone/>
              <a:defRPr sz="2325" b="1">
                <a:solidFill>
                  <a:srgbClr val="152A43"/>
                </a:solidFill>
                <a:latin typeface="Arial"/>
                <a:ea typeface="Arial"/>
                <a:cs typeface="Arial"/>
              </a:defRPr>
            </a:lvl4pPr>
            <a:lvl5pPr>
              <a:buNone/>
              <a:defRPr sz="2325" b="1">
                <a:solidFill>
                  <a:srgbClr val="152A43"/>
                </a:solidFill>
                <a:latin typeface="Arial"/>
                <a:ea typeface="Arial"/>
                <a:cs typeface="Arial"/>
              </a:defRPr>
            </a:lvl5pPr>
            <a:lvl6pPr>
              <a:buNone/>
              <a:defRPr sz="2325" b="1">
                <a:solidFill>
                  <a:srgbClr val="152A43"/>
                </a:solidFill>
                <a:latin typeface="Arial"/>
                <a:ea typeface="Arial"/>
                <a:cs typeface="Arial"/>
              </a:defRPr>
            </a:lvl6pPr>
            <a:lvl7pPr>
              <a:buNone/>
              <a:defRPr sz="2325" b="1">
                <a:solidFill>
                  <a:srgbClr val="152A43"/>
                </a:solidFill>
                <a:latin typeface="Arial"/>
                <a:ea typeface="Arial"/>
                <a:cs typeface="Arial"/>
              </a:defRPr>
            </a:lvl7pPr>
            <a:lvl8pPr>
              <a:buNone/>
              <a:defRPr sz="2325" b="1">
                <a:solidFill>
                  <a:srgbClr val="152A43"/>
                </a:solidFill>
                <a:latin typeface="Arial"/>
                <a:ea typeface="Arial"/>
                <a:cs typeface="Arial"/>
              </a:defRPr>
            </a:lvl8pPr>
            <a:lvl9pPr>
              <a:buNone/>
              <a:defRPr sz="2325" b="1">
                <a:solidFill>
                  <a:srgbClr val="152A43"/>
                </a:solidFill>
                <a:latin typeface="Arial"/>
                <a:ea typeface="Arial"/>
                <a:cs typeface="Arial"/>
              </a:defRPr>
            </a:lvl9pPr>
          </a:lstStyle>
          <a:p xmlns:a="http://schemas.openxmlformats.org/drawingml/2006/main">
            <a:pPr>
              <a:buNone/>
              <a:defRPr sz="2325" b="1">
                <a:solidFill>
                  <a:srgbClr val="152A43"/>
                </a:solidFill>
                <a:latin typeface="Arial"/>
                <a:ea typeface="Arial"/>
                <a:cs typeface="Arial"/>
              </a:defRPr>
            </a:pPr>
            <a:r>
              <a:rPr sz="2325" b="1">
                <a:solidFill>
                  <a:srgbClr val="152A43"/>
                </a:solidFill>
                <a:latin typeface="Arial"/>
                <a:ea typeface="Arial"/>
                <a:cs typeface="Arial"/>
              </a:rPr>
              <a:t>Mean development results</a:t>
            </a:r>
          </a:p>
        </p:txBody>
      </p:sp>
      <p:sp>
        <p:nvSpPr>
          <p:cNvPr id="7" name="">
            <a:extLst xmlns:a="http://schemas.openxmlformats.org/drawingml/2006/main">
              <a:ext uri="{FF2B5EF4-FFF2-40B4-BE49-F238E27FC236}">
                <a16:creationId xmlns:a16="http://schemas.microsoft.com/office/drawing/2014/main" id="{81735D51-3855-49B1-9208-E2FCB1E23592}"/>
              </a:ext>
            </a:extLst>
          </p:cNvPr>
          <p:cNvSpPr>
            <a:spLocks xmlns:a="http://schemas.openxmlformats.org/drawingml/2006/main" noGrp="1"/>
          </p:cNvSpPr>
          <p:nvPr/>
        </p:nvSpPr>
        <p:spPr>
          <a:xfrm xmlns:a="http://schemas.openxmlformats.org/drawingml/2006/main">
            <a:off x="6477000" y="3886200"/>
            <a:ext cx="5105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Mixed effects across pairs</a:t>
            </a:r>
          </a:p>
        </p:txBody>
      </p:sp>
      <p:sp>
        <p:nvSpPr>
          <p:cNvPr id="8" name="">
            <a:extLst xmlns:a="http://schemas.openxmlformats.org/drawingml/2006/main">
              <a:ext uri="{FF2B5EF4-FFF2-40B4-BE49-F238E27FC236}">
                <a16:creationId xmlns:a16="http://schemas.microsoft.com/office/drawing/2014/main" id="{B588CD48-CB06-41EB-9976-3AEF5B08A817}"/>
              </a:ext>
            </a:extLst>
          </p:cNvPr>
          <p:cNvSpPr>
            <a:spLocks xmlns:a="http://schemas.openxmlformats.org/drawingml/2006/main" noGrp="1"/>
          </p:cNvSpPr>
          <p:nvPr/>
        </p:nvSpPr>
        <p:spPr>
          <a:xfrm xmlns:a="http://schemas.openxmlformats.org/drawingml/2006/main">
            <a:off x="6477000" y="4457700"/>
            <a:ext cx="51054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2A43"/>
                </a:solidFill>
                <a:latin typeface="Arial"/>
                <a:ea typeface="Arial"/>
                <a:cs typeface="Arial"/>
              </a:defRPr>
            </a:defPPr>
            <a:lvl1pPr>
              <a:buNone/>
              <a:defRPr sz="2025" b="0">
                <a:solidFill>
                  <a:srgbClr val="152A43"/>
                </a:solidFill>
                <a:latin typeface="Arial"/>
                <a:ea typeface="Arial"/>
                <a:cs typeface="Arial"/>
              </a:defRPr>
            </a:lvl1pPr>
            <a:lvl2pPr>
              <a:buNone/>
              <a:defRPr sz="2025" b="0">
                <a:solidFill>
                  <a:srgbClr val="152A43"/>
                </a:solidFill>
                <a:latin typeface="Arial"/>
                <a:ea typeface="Arial"/>
                <a:cs typeface="Arial"/>
              </a:defRPr>
            </a:lvl2pPr>
            <a:lvl3pPr>
              <a:buNone/>
              <a:defRPr sz="2025" b="0">
                <a:solidFill>
                  <a:srgbClr val="152A43"/>
                </a:solidFill>
                <a:latin typeface="Arial"/>
                <a:ea typeface="Arial"/>
                <a:cs typeface="Arial"/>
              </a:defRPr>
            </a:lvl3pPr>
            <a:lvl4pPr>
              <a:buNone/>
              <a:defRPr sz="2025" b="0">
                <a:solidFill>
                  <a:srgbClr val="152A43"/>
                </a:solidFill>
                <a:latin typeface="Arial"/>
                <a:ea typeface="Arial"/>
                <a:cs typeface="Arial"/>
              </a:defRPr>
            </a:lvl4pPr>
            <a:lvl5pPr>
              <a:buNone/>
              <a:defRPr sz="2025" b="0">
                <a:solidFill>
                  <a:srgbClr val="152A43"/>
                </a:solidFill>
                <a:latin typeface="Arial"/>
                <a:ea typeface="Arial"/>
                <a:cs typeface="Arial"/>
              </a:defRPr>
            </a:lvl5pPr>
            <a:lvl6pPr>
              <a:buNone/>
              <a:defRPr sz="2025" b="0">
                <a:solidFill>
                  <a:srgbClr val="152A43"/>
                </a:solidFill>
                <a:latin typeface="Arial"/>
                <a:ea typeface="Arial"/>
                <a:cs typeface="Arial"/>
              </a:defRPr>
            </a:lvl6pPr>
            <a:lvl7pPr>
              <a:buNone/>
              <a:defRPr sz="2025" b="0">
                <a:solidFill>
                  <a:srgbClr val="152A43"/>
                </a:solidFill>
                <a:latin typeface="Arial"/>
                <a:ea typeface="Arial"/>
                <a:cs typeface="Arial"/>
              </a:defRPr>
            </a:lvl7pPr>
            <a:lvl8pPr>
              <a:buNone/>
              <a:defRPr sz="2025" b="0">
                <a:solidFill>
                  <a:srgbClr val="152A43"/>
                </a:solidFill>
                <a:latin typeface="Arial"/>
                <a:ea typeface="Arial"/>
                <a:cs typeface="Arial"/>
              </a:defRPr>
            </a:lvl8pPr>
            <a:lvl9pPr>
              <a:buNone/>
              <a:defRPr sz="2025" b="0">
                <a:solidFill>
                  <a:srgbClr val="152A43"/>
                </a:solidFill>
                <a:latin typeface="Arial"/>
                <a:ea typeface="Arial"/>
                <a:cs typeface="Arial"/>
              </a:defRPr>
            </a:lvl9pPr>
          </a:lstStyle>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Mean difference: +0.89 mSUN</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ON better in 8 pairs, equal in 3,</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and worse in 7</a:t>
            </a:r>
          </a:p>
        </p:txBody>
      </p:sp>
      <p:sp>
        <p:nvSpPr>
          <p:cNvPr id="9" name="">
            <a:extLst xmlns:a="http://schemas.openxmlformats.org/drawingml/2006/main">
              <a:ext uri="{FF2B5EF4-FFF2-40B4-BE49-F238E27FC236}">
                <a16:creationId xmlns:a16="http://schemas.microsoft.com/office/drawing/2014/main" id="{A98D30F2-BADD-4938-8E4F-F0796B91EF85}"/>
              </a:ext>
            </a:extLst>
          </p:cNvPr>
          <p:cNvSpPr>
            <a:spLocks xmlns:a="http://schemas.openxmlformats.org/drawingml/2006/main" noGrp="1"/>
          </p:cNvSpPr>
          <p:nvPr/>
        </p:nvSpPr>
        <p:spPr>
          <a:xfrm xmlns:a="http://schemas.openxmlformats.org/drawingml/2006/main">
            <a:off x="6477000" y="6067425"/>
            <a:ext cx="5105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B6470"/>
                </a:solidFill>
                <a:latin typeface="Arial"/>
                <a:ea typeface="Arial"/>
                <a:cs typeface="Arial"/>
              </a:defRPr>
            </a:defPPr>
            <a:lvl1pPr>
              <a:buNone/>
              <a:defRPr sz="1875" b="1">
                <a:solidFill>
                  <a:srgbClr val="7C4614"/>
                </a:solidFill>
                <a:latin typeface="Arial"/>
                <a:ea typeface="Arial"/>
                <a:cs typeface="Arial"/>
              </a:defRPr>
            </a:lvl1pPr>
            <a:lvl2pPr>
              <a:buNone/>
              <a:defRPr sz="1875" b="1">
                <a:solidFill>
                  <a:srgbClr val="7C4614"/>
                </a:solidFill>
                <a:latin typeface="Arial"/>
                <a:ea typeface="Arial"/>
                <a:cs typeface="Arial"/>
              </a:defRPr>
            </a:lvl2pPr>
            <a:lvl3pPr>
              <a:buNone/>
              <a:defRPr sz="1875" b="1">
                <a:solidFill>
                  <a:srgbClr val="7C4614"/>
                </a:solidFill>
                <a:latin typeface="Arial"/>
                <a:ea typeface="Arial"/>
                <a:cs typeface="Arial"/>
              </a:defRPr>
            </a:lvl3pPr>
            <a:lvl4pPr>
              <a:buNone/>
              <a:defRPr sz="1875" b="1">
                <a:solidFill>
                  <a:srgbClr val="7C4614"/>
                </a:solidFill>
                <a:latin typeface="Arial"/>
                <a:ea typeface="Arial"/>
                <a:cs typeface="Arial"/>
              </a:defRPr>
            </a:lvl4pPr>
            <a:lvl5pPr>
              <a:buNone/>
              <a:defRPr sz="1875" b="1">
                <a:solidFill>
                  <a:srgbClr val="7C4614"/>
                </a:solidFill>
                <a:latin typeface="Arial"/>
                <a:ea typeface="Arial"/>
                <a:cs typeface="Arial"/>
              </a:defRPr>
            </a:lvl5pPr>
            <a:lvl6pPr>
              <a:buNone/>
              <a:defRPr sz="1875" b="1">
                <a:solidFill>
                  <a:srgbClr val="7C4614"/>
                </a:solidFill>
                <a:latin typeface="Arial"/>
                <a:ea typeface="Arial"/>
                <a:cs typeface="Arial"/>
              </a:defRPr>
            </a:lvl6pPr>
            <a:lvl7pPr>
              <a:buNone/>
              <a:defRPr sz="1875" b="1">
                <a:solidFill>
                  <a:srgbClr val="7C4614"/>
                </a:solidFill>
                <a:latin typeface="Arial"/>
                <a:ea typeface="Arial"/>
                <a:cs typeface="Arial"/>
              </a:defRPr>
            </a:lvl7pPr>
            <a:lvl8pPr>
              <a:buNone/>
              <a:defRPr sz="1875" b="1">
                <a:solidFill>
                  <a:srgbClr val="7C4614"/>
                </a:solidFill>
                <a:latin typeface="Arial"/>
                <a:ea typeface="Arial"/>
                <a:cs typeface="Arial"/>
              </a:defRPr>
            </a:lvl8pPr>
            <a:lvl9pPr>
              <a:buNone/>
              <a:defRPr sz="1875" b="1">
                <a:solidFill>
                  <a:srgbClr val="7C4614"/>
                </a:solidFill>
                <a:latin typeface="Arial"/>
                <a:ea typeface="Arial"/>
                <a:cs typeface="Arial"/>
              </a:defRPr>
            </a:lvl9pPr>
          </a:lstStyle>
          <a:p xmlns:a="http://schemas.openxmlformats.org/drawingml/2006/main">
            <a:pPr>
              <a:buNone/>
              <a:defRPr sz="1650" b="1">
                <a:solidFill>
                  <a:srgbClr val="5B6470"/>
                </a:solidFill>
                <a:latin typeface="Arial"/>
                <a:ea typeface="Arial"/>
                <a:cs typeface="Arial"/>
              </a:defRPr>
            </a:pPr>
            <a:r>
              <a:rPr sz="1650" b="1">
                <a:solidFill>
                  <a:srgbClr val="5B6470"/>
                </a:solidFill>
                <a:latin typeface="Arial"/>
                <a:ea typeface="Arial"/>
                <a:cs typeface="Arial"/>
              </a:rPr>
              <a:t>Dev only. ON curves reconstructed</a:t>
            </a:r>
          </a:p>
          <a:p xmlns:a="http://schemas.openxmlformats.org/drawingml/2006/main">
            <a:pPr>
              <a:buNone/>
              <a:defRPr sz="1650" b="1">
                <a:solidFill>
                  <a:srgbClr val="5B6470"/>
                </a:solidFill>
                <a:latin typeface="Arial"/>
                <a:ea typeface="Arial"/>
                <a:cs typeface="Arial"/>
              </a:defRPr>
            </a:pPr>
            <a:r>
              <a:rPr sz="1650" b="1">
                <a:solidFill>
                  <a:srgbClr val="5B6470"/>
                </a:solidFill>
                <a:latin typeface="Arial"/>
                <a:ea typeface="Arial"/>
                <a:cs typeface="Arial"/>
              </a:rPr>
              <a:t>from frozen trajectories by M1.</a:t>
            </a:r>
          </a:p>
        </p:txBody>
      </p:sp>
      <p:graphicFrame>
        <p:nvGraphicFramePr>
          <p:cNvPr id="11" name="">
            <a:extLst xmlns:a="http://schemas.openxmlformats.org/drawingml/2006/main">
              <a:ext uri="{FF2B5EF4-FFF2-40B4-BE49-F238E27FC236}">
                <a16:creationId xmlns:a16="http://schemas.microsoft.com/office/drawing/2014/main" id="{7AB0B37B-FE7E-4FB6-9D2F-89F06650676C}"/>
              </a:ext>
            </a:extLst>
          </p:cNvPr>
          <p:cNvGraphicFramePr/>
          <p:nvPr/>
        </p:nvGraphicFramePr>
        <p:xfrm>
          <a:off xmlns:a="http://schemas.openxmlformats.org/drawingml/2006/main" x="6477000" y="2047875"/>
          <a:ext xmlns:a="http://schemas.openxmlformats.org/drawingml/2006/main" cx="5105400" cy="1562100"/>
        </p:xfrm>
        <a:graphic xmlns:a="http://schemas.openxmlformats.org/drawingml/2006/main">
          <a:graphicData uri="http://schemas.openxmlformats.org/drawingml/2006/table">
            <a:tbl>
              <a:tblPr/>
              <a:tblGrid>
                <a:gridCol w="2190750"/>
                <a:gridCol w="1457325"/>
                <a:gridCol w="1457325"/>
              </a:tblGrid>
              <a:tr h="520700">
                <a:tc>
                  <a:txBody>
                    <a:bodyPr/>
                    <a:lstStyle/>
                    <a:p>
                      <a:r>
                        <a:rPr sz="1950" b="1">
                          <a:solidFill>
                            <a:srgbClr val="FFFFFF"/>
                          </a:solidFill>
                          <a:latin typeface="Arial"/>
                          <a:ea typeface="Arial"/>
                          <a:cs typeface="Arial"/>
                        </a:rPr>
                        <a:t>Metric</a:t>
                      </a:r>
                    </a:p>
                  </a:txBody>
                  <a:tcPr marL="91440" marR="91440" marT="45720" marB="45720">
                    <a:lnL w="9525">
                      <a:solidFill>
                        <a:srgbClr val="D6DEE6"/>
                      </a:solidFill>
                      <a:prstDash val="solid"/>
                    </a:lnL>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ON</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OFF</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r>
              <a:tr h="520700">
                <a:tc>
                  <a:txBody>
                    <a:bodyPr/>
                    <a:lstStyle/>
                    <a:p>
                      <a:r>
                        <a:rPr sz="1950" b="0">
                          <a:solidFill>
                            <a:srgbClr val="152A43"/>
                          </a:solidFill>
                          <a:latin typeface="Arial"/>
                          <a:ea typeface="Arial"/>
                          <a:cs typeface="Arial"/>
                        </a:rPr>
                        <a:t>mSUN@20</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10.00</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9.11</a:t>
                      </a:r>
                    </a:p>
                  </a:txBody>
                  <a:tcPr marL="91440" marR="91440" marT="45720" marB="45720">
                    <a:lnR w="9525">
                      <a:solidFill>
                        <a:srgbClr val="D6DEE6"/>
                      </a:solidFill>
                      <a:prstDash val="solid"/>
                    </a:lnR>
                    <a:lnB w="9525">
                      <a:solidFill>
                        <a:srgbClr val="D6DEE6"/>
                      </a:solidFill>
                      <a:prstDash val="solid"/>
                    </a:lnB>
                    <a:solidFill>
                      <a:srgbClr val="FFFFFF"/>
                    </a:solidFill>
                  </a:tcPr>
                </a:tc>
              </a:tr>
              <a:tr h="520700">
                <a:tc>
                  <a:txBody>
                    <a:bodyPr/>
                    <a:lstStyle/>
                    <a:p>
                      <a:r>
                        <a:rPr sz="1950" b="0">
                          <a:solidFill>
                            <a:srgbClr val="152A43"/>
                          </a:solidFill>
                          <a:latin typeface="Arial"/>
                          <a:ea typeface="Arial"/>
                          <a:cs typeface="Arial"/>
                        </a:rPr>
                        <a:t>AUDC</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88.11</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86.94</a:t>
                      </a:r>
                    </a:p>
                  </a:txBody>
                  <a:tcPr marL="91440" marR="91440" marT="45720" marB="45720">
                    <a:lnR w="9525">
                      <a:solidFill>
                        <a:srgbClr val="D6DEE6"/>
                      </a:solidFill>
                      <a:prstDash val="solid"/>
                    </a:lnR>
                    <a:lnB w="9525">
                      <a:solidFill>
                        <a:srgbClr val="D6DEE6"/>
                      </a:solidFill>
                      <a:prstDash val="solid"/>
                    </a:lnB>
                    <a:solidFill>
                      <a:srgbClr val="FFFFFF"/>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00FF1425-E3E3-4FF9-A525-89843324A225}"/>
              </a:ext>
            </a:extLst>
          </p:cNvPr>
          <p:cNvGraphicFramePr/>
          <p:nvPr/>
        </p:nvGraphicFramePr>
        <p:xfrm>
          <a:off xmlns:a="http://schemas.openxmlformats.org/drawingml/2006/main" x="495300" y="1504950"/>
          <a:ext xmlns:a="http://schemas.openxmlformats.org/drawingml/2006/main" cx="5448300" cy="3924300"/>
        </p:xfrm>
        <a:graphic xmlns:a="http://schemas.openxmlformats.org/drawingml/2006/main">
          <a:graphicData uri="http://schemas.openxmlformats.org/drawingml/2006/chart">
            <c:chart xmlns:r="http://schemas.openxmlformats.org/officeDocument/2006/relationships" xmlns:c="http://schemas.openxmlformats.org/drawingml/2006/chart" r:id="R6fd8b52deff5485d"/>
          </a:graphicData>
        </a:graphic>
      </p:graphicFrame>
    </p:spTree>
    <p:extLst>
      <p:ext uri="{BB962C8B-B14F-4D97-AF65-F5344CB8AC3E}">
        <p14:creationId xmlns:p14="http://schemas.microsoft.com/office/powerpoint/2010/main" val="936515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2026-10-26T04:37:34.2100000Z</dcterms:created>
  <dcterms:modified xsi:type="dcterms:W3CDTF">2026-10-26T04:37:34.2100000Z</dcterms:modified>
</coreProperties>
</file>