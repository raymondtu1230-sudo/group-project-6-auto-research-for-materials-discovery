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354e94b69464f13" /><Relationship Type="http://schemas.openxmlformats.org/officeDocument/2006/relationships/extended-properties" Target="/docProps/app.xml" Id="R85252239e2cd4661" /><Relationship Type="http://schemas.openxmlformats.org/officeDocument/2006/relationships/officeDocument" Target="/ppt/presentation.xml" Id="Rfdb32d701be74ac6" /></Relationships>
</file>

<file path=ppt/presentation.xml><?xml version="1.0" encoding="utf-8"?>
<p:presentation xmlns:p="http://schemas.openxmlformats.org/presentationml/2006/main">
  <p:sldMasterIdLst>
    <p:sldMasterId xmlns:r="http://schemas.openxmlformats.org/officeDocument/2006/relationships" id="2147483648" r:id="Rbeed4b8fe2e74c37"/>
  </p:sldMasterIdLst>
  <p:notesMasterIdLst>
    <p:notesMasterId xmlns:r="http://schemas.openxmlformats.org/officeDocument/2006/relationships" r:id="R15ba0b5d4d1f49dd"/>
  </p:notesMasterIdLst>
  <p:sldIdLst>
    <p:sldId xmlns:r="http://schemas.openxmlformats.org/officeDocument/2006/relationships" id="256" r:id="R7ad2f2302901464a"/>
    <p:sldId xmlns:r="http://schemas.openxmlformats.org/officeDocument/2006/relationships" id="257" r:id="R8626659274c64cc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0e0516e7dbd4b66" /><Relationship Type="http://schemas.openxmlformats.org/officeDocument/2006/relationships/slideMaster" Target="/ppt/slideMasters/slideMaster1.xml" Id="Rbeed4b8fe2e74c37" /><Relationship Type="http://schemas.openxmlformats.org/officeDocument/2006/relationships/notesMaster" Target="/ppt/notesMasters/notesMaster1.xml" Id="R15ba0b5d4d1f49dd" /><Relationship Type="http://schemas.openxmlformats.org/officeDocument/2006/relationships/presProps" Target="/ppt/presProps.xml" Id="R39b613acfa1e4bc0" /><Relationship Type="http://schemas.openxmlformats.org/officeDocument/2006/relationships/tableStyles" Target="/ppt/tableStyles.xml" Id="Ra7643ea614c84d04" /><Relationship Type="http://schemas.openxmlformats.org/officeDocument/2006/relationships/slide" Target="/ppt/slides/slide1.xml" Id="R7ad2f2302901464a" /><Relationship Type="http://schemas.openxmlformats.org/officeDocument/2006/relationships/slide" Target="/ppt/slides/slide2.xml" Id="R8626659274c64c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694b9a1e3d04d4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acf45b4a90540c6" /><Relationship Type="http://schemas.openxmlformats.org/officeDocument/2006/relationships/notesMaster" Target="/ppt/notesMasters/notesMaster1.xml" Id="R39ba6880015b464b" /></Relationships>
</file>

<file path=ppt/notesSlides/_rels/notesSlide2.xml.rels>&#65279;<?xml version="1.0" encoding="utf-8"?><Relationships xmlns="http://schemas.openxmlformats.org/package/2006/relationships"><Relationship Type="http://schemas.openxmlformats.org/officeDocument/2006/relationships/slide" Target="/ppt/slides/slide2.xml" Id="R14292d14156f4ce7" /><Relationship Type="http://schemas.openxmlformats.org/officeDocument/2006/relationships/notesMaster" Target="/ppt/notesMasters/notesMaster1.xml" Id="R436ae53bd236436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M4 keeps a complete evidence log and supplies a bounded set of observations to planning. Each structure attempt has its own identity and retains public energy and stability feedback. The adapter returns recent observations with contrasting outcomes, up to eight records and 4,000 JSON characters. M1 has adopted the module, and M3 records the memory IDs used in its reviews. We export the official trajectory in both conditions to include the final query. Separate audit logs capture generator and filter events without feeding them back into decisions. Oracle exceptions remain outside this capture boundary.</a:t>
            </a:r>
          </a:p>
          <a:p xmlns:a="http://schemas.openxmlformats.org/drawingml/2006/main">
            <a:r>
              <a:t/>
            </a:r>
          </a:p>
          <a:p xmlns:a="http://schemas.openxmlformats.org/drawingml/2006/main">
            <a:r>
              <a:t/>
            </a:r>
          </a:p>
          <a:p xmlns:a="http://schemas.openxmlformats.org/drawingml/2006/main">
            <a:r>
              <a:t>Sources: Slide 1: M4/EVIDENCE_SCHEMA.md, M4/src/m4_memory/m1_adapter.py, M4/src/m4_memory/capture.py, M1/PLUGIN_INTERFACE.md and adopted profile commit 3f8d48f.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tested one development pair on Mg-Sn-Sr with seed 17 and a budget of 20 queries per arm. Both used the M3 planner and CPU ORB, with exploration and routing off. Memory ON scored seven on mSUN and 68.5 on AUDC. OFF scored eight and 76.0, so this pair showed no benefit. ON stayed in Sn-Sr, while OFF also explored ternary compositions. The figure shows the ON run's observed phase diagram. This is a development finding from one system and seed. The formal ablation will compare the frozen full agent against Memory OFF with all other settings matched.</a:t>
            </a:r>
          </a:p>
          <a:p xmlns:a="http://schemas.openxmlformats.org/drawingml/2006/main">
            <a:r>
              <a:t/>
            </a:r>
          </a:p>
          <a:p xmlns:a="http://schemas.openxmlformats.org/drawingml/2006/main">
            <a:r>
              <a:t/>
            </a:r>
          </a:p>
          <a:p xmlns:a="http://schemas.openxmlformats.org/drawingml/2006/main">
            <a:r>
              <a:t>Sources: Slide 2: M4/evidence/dev-pilot-20261021/paired_results.csv, audit.json, m3_trace_on.json, m3_trace_off.json and raw_outputs.zip. The figure is on/trajectories/phase_diagram_episode_000.png inside the ZIP. The base team revision is e1a40d8. M6/PROTOCOL_ADOPTION.md defines the final dev-only ablation. Initialization adds oracle work beyond the 20 campaign queries. Neither the single pair nor its runtime difference establishes a general effect or isolated Memory overhead.</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afd45b4c65e4d8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d92800741ed410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2cc2ab4ac35414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060ba9a225d44f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12cec84004447d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e41679d48b84d6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E0A743-93E7-4F5E-9109-BC2B070C886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CA6F865-3386-4DC2-97DC-D5A55D05ADE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D84F412-F520-4AC6-B23E-9EDDA9CCC88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3A1009-A03C-483E-A482-F9A571281A5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7B9B39F-DFB2-43DE-B9BE-20BBCA2826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DDEE9E8-DFF8-42BD-ADB7-6CF24A21F36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29D5D19-4196-475F-A3DB-D52CC303A70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F0239A7-7C66-4867-98EC-97C0EF61B83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24432FD-1B23-40E8-B5C3-A16E3A3D24B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0D1326-11C7-45D7-A001-714416B6B41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8b7fd0ff01446fe" /><Relationship Type="http://schemas.openxmlformats.org/officeDocument/2006/relationships/slideLayout" Target="/ppt/slideLayouts/slideLayout1.xml" Id="R73febabea3cf4112" /><Relationship Type="http://schemas.openxmlformats.org/officeDocument/2006/relationships/slideLayout" Target="/ppt/slideLayouts/slideLayout2.xml" Id="Rec8ea4d589e34705" /><Relationship Type="http://schemas.openxmlformats.org/officeDocument/2006/relationships/slideLayout" Target="/ppt/slideLayouts/slideLayout3.xml" Id="R5c4bee214f8949a9" /><Relationship Type="http://schemas.openxmlformats.org/officeDocument/2006/relationships/slideLayout" Target="/ppt/slideLayouts/slideLayout4.xml" Id="R389a5f88a0784b39" /><Relationship Type="http://schemas.openxmlformats.org/officeDocument/2006/relationships/slideLayout" Target="/ppt/slideLayouts/slideLayout5.xml" Id="Re35e87b1f42a4274" /><Relationship Type="http://schemas.openxmlformats.org/officeDocument/2006/relationships/slideLayout" Target="/ppt/slideLayouts/slideLayout6.xml" Id="R5764e516a19f407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3febabea3cf4112"/>
    <p:sldLayoutId xmlns:r="http://schemas.openxmlformats.org/officeDocument/2006/relationships" id="2147483650" r:id="Rec8ea4d589e34705"/>
    <p:sldLayoutId xmlns:r="http://schemas.openxmlformats.org/officeDocument/2006/relationships" id="2147483651" r:id="R5c4bee214f8949a9"/>
    <p:sldLayoutId xmlns:r="http://schemas.openxmlformats.org/officeDocument/2006/relationships" id="2147483652" r:id="R389a5f88a0784b39"/>
    <p:sldLayoutId xmlns:r="http://schemas.openxmlformats.org/officeDocument/2006/relationships" id="2147483653" r:id="Re35e87b1f42a4274"/>
    <p:sldLayoutId xmlns:r="http://schemas.openxmlformats.org/officeDocument/2006/relationships" id="2147483654" r:id="R5764e516a19f407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c3567b38dff4c5b" /><Relationship Type="http://schemas.openxmlformats.org/officeDocument/2006/relationships/notesSlide" Target="/ppt/notesSlides/notesSlide1.xml" Id="R39ffbe52efbc47f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7d324ff830d4ee3" /><Relationship Type="http://schemas.openxmlformats.org/officeDocument/2006/relationships/image" Target="/ppt/media/image.png" Id="Rea2d3ebf58d447cf" /><Relationship Type="http://schemas.openxmlformats.org/officeDocument/2006/relationships/notesSlide" Target="/ppt/notesSlides/notesSlide2.xml" Id="R9689013ce3dd4c3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9E549A-DE9E-43DA-9478-A88073312876}"/>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52A43"/>
                </a:solidFill>
                <a:latin typeface="Arial"/>
                <a:ea typeface="Arial"/>
                <a:cs typeface="Arial"/>
              </a:defRPr>
            </a:defPPr>
            <a:lvl1pPr>
              <a:buNone/>
              <a:defRPr sz="3600" b="1">
                <a:solidFill>
                  <a:srgbClr val="152A43"/>
                </a:solidFill>
                <a:latin typeface="Arial"/>
                <a:ea typeface="Arial"/>
                <a:cs typeface="Arial"/>
              </a:defRPr>
            </a:lvl1pPr>
            <a:lvl2pPr>
              <a:buNone/>
              <a:defRPr sz="3600" b="1">
                <a:solidFill>
                  <a:srgbClr val="152A43"/>
                </a:solidFill>
                <a:latin typeface="Arial"/>
                <a:ea typeface="Arial"/>
                <a:cs typeface="Arial"/>
              </a:defRPr>
            </a:lvl2pPr>
            <a:lvl3pPr>
              <a:buNone/>
              <a:defRPr sz="3600" b="1">
                <a:solidFill>
                  <a:srgbClr val="152A43"/>
                </a:solidFill>
                <a:latin typeface="Arial"/>
                <a:ea typeface="Arial"/>
                <a:cs typeface="Arial"/>
              </a:defRPr>
            </a:lvl3pPr>
            <a:lvl4pPr>
              <a:buNone/>
              <a:defRPr sz="3600" b="1">
                <a:solidFill>
                  <a:srgbClr val="152A43"/>
                </a:solidFill>
                <a:latin typeface="Arial"/>
                <a:ea typeface="Arial"/>
                <a:cs typeface="Arial"/>
              </a:defRPr>
            </a:lvl4pPr>
            <a:lvl5pPr>
              <a:buNone/>
              <a:defRPr sz="3600" b="1">
                <a:solidFill>
                  <a:srgbClr val="152A43"/>
                </a:solidFill>
                <a:latin typeface="Arial"/>
                <a:ea typeface="Arial"/>
                <a:cs typeface="Arial"/>
              </a:defRPr>
            </a:lvl5pPr>
            <a:lvl6pPr>
              <a:buNone/>
              <a:defRPr sz="3600" b="1">
                <a:solidFill>
                  <a:srgbClr val="152A43"/>
                </a:solidFill>
                <a:latin typeface="Arial"/>
                <a:ea typeface="Arial"/>
                <a:cs typeface="Arial"/>
              </a:defRPr>
            </a:lvl6pPr>
            <a:lvl7pPr>
              <a:buNone/>
              <a:defRPr sz="3600" b="1">
                <a:solidFill>
                  <a:srgbClr val="152A43"/>
                </a:solidFill>
                <a:latin typeface="Arial"/>
                <a:ea typeface="Arial"/>
                <a:cs typeface="Arial"/>
              </a:defRPr>
            </a:lvl7pPr>
            <a:lvl8pPr>
              <a:buNone/>
              <a:defRPr sz="3600" b="1">
                <a:solidFill>
                  <a:srgbClr val="152A43"/>
                </a:solidFill>
                <a:latin typeface="Arial"/>
                <a:ea typeface="Arial"/>
                <a:cs typeface="Arial"/>
              </a:defRPr>
            </a:lvl8pPr>
            <a:lvl9pPr>
              <a:buNone/>
              <a:defRPr sz="3600" b="1">
                <a:solidFill>
                  <a:srgbClr val="152A43"/>
                </a:solidFill>
                <a:latin typeface="Arial"/>
                <a:ea typeface="Arial"/>
                <a:cs typeface="Arial"/>
              </a:defRPr>
            </a:lvl9pPr>
          </a:lstStyle>
          <a:p xmlns:a="http://schemas.openxmlformats.org/drawingml/2006/main">
            <a:pPr>
              <a:buNone/>
              <a:defRPr sz="3600" b="1">
                <a:solidFill>
                  <a:srgbClr val="152A43"/>
                </a:solidFill>
                <a:latin typeface="Arial"/>
                <a:ea typeface="Arial"/>
                <a:cs typeface="Arial"/>
              </a:defRPr>
            </a:pPr>
            <a:r>
              <a:rPr sz="3600" b="1">
                <a:solidFill>
                  <a:srgbClr val="152A43"/>
                </a:solidFill>
                <a:latin typeface="Arial"/>
                <a:ea typeface="Arial"/>
                <a:cs typeface="Arial"/>
              </a:rPr>
              <a:t>Memory and evidence management</a:t>
            </a:r>
          </a:p>
        </p:txBody>
      </p:sp>
      <p:sp>
        <p:nvSpPr>
          <p:cNvPr id="2" name="">
            <a:extLst xmlns:a="http://schemas.openxmlformats.org/drawingml/2006/main">
              <a:ext uri="{FF2B5EF4-FFF2-40B4-BE49-F238E27FC236}">
                <a16:creationId xmlns:a16="http://schemas.microsoft.com/office/drawing/2014/main" id="{43A6538B-147D-407F-B7E8-90BD1D17DBD1}"/>
              </a:ext>
            </a:extLst>
          </p:cNvPr>
          <p:cNvSpPr>
            <a:spLocks xmlns:a="http://schemas.openxmlformats.org/drawingml/2006/main" noGrp="1"/>
          </p:cNvSpPr>
          <p:nvPr/>
        </p:nvSpPr>
        <p:spPr>
          <a:xfrm xmlns:a="http://schemas.openxmlformats.org/drawingml/2006/main">
            <a:off x="609600" y="147637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Candidate evidence</a:t>
            </a:r>
          </a:p>
        </p:txBody>
      </p:sp>
      <p:sp>
        <p:nvSpPr>
          <p:cNvPr id="3" name="">
            <a:extLst xmlns:a="http://schemas.openxmlformats.org/drawingml/2006/main">
              <a:ext uri="{FF2B5EF4-FFF2-40B4-BE49-F238E27FC236}">
                <a16:creationId xmlns:a16="http://schemas.microsoft.com/office/drawing/2014/main" id="{37317543-107F-4689-8F16-09BD68099B36}"/>
              </a:ext>
            </a:extLst>
          </p:cNvPr>
          <p:cNvSpPr>
            <a:spLocks xmlns:a="http://schemas.openxmlformats.org/drawingml/2006/main" noGrp="1"/>
          </p:cNvSpPr>
          <p:nvPr/>
        </p:nvSpPr>
        <p:spPr>
          <a:xfrm xmlns:a="http://schemas.openxmlformats.org/drawingml/2006/main">
            <a:off x="609600" y="2076450"/>
            <a:ext cx="52387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A43"/>
                </a:solidFill>
                <a:latin typeface="Arial"/>
                <a:ea typeface="Arial"/>
                <a:cs typeface="Arial"/>
              </a:defRPr>
            </a:defPPr>
            <a:lvl1pPr>
              <a:buNone/>
              <a:defRPr sz="2100" b="0">
                <a:solidFill>
                  <a:srgbClr val="152A43"/>
                </a:solidFill>
                <a:latin typeface="Arial"/>
                <a:ea typeface="Arial"/>
                <a:cs typeface="Arial"/>
              </a:defRPr>
            </a:lvl1pPr>
            <a:lvl2pPr>
              <a:buNone/>
              <a:defRPr sz="2100" b="0">
                <a:solidFill>
                  <a:srgbClr val="152A43"/>
                </a:solidFill>
                <a:latin typeface="Arial"/>
                <a:ea typeface="Arial"/>
                <a:cs typeface="Arial"/>
              </a:defRPr>
            </a:lvl2pPr>
            <a:lvl3pPr>
              <a:buNone/>
              <a:defRPr sz="2100" b="0">
                <a:solidFill>
                  <a:srgbClr val="152A43"/>
                </a:solidFill>
                <a:latin typeface="Arial"/>
                <a:ea typeface="Arial"/>
                <a:cs typeface="Arial"/>
              </a:defRPr>
            </a:lvl3pPr>
            <a:lvl4pPr>
              <a:buNone/>
              <a:defRPr sz="2100" b="0">
                <a:solidFill>
                  <a:srgbClr val="152A43"/>
                </a:solidFill>
                <a:latin typeface="Arial"/>
                <a:ea typeface="Arial"/>
                <a:cs typeface="Arial"/>
              </a:defRPr>
            </a:lvl4pPr>
            <a:lvl5pPr>
              <a:buNone/>
              <a:defRPr sz="2100" b="0">
                <a:solidFill>
                  <a:srgbClr val="152A43"/>
                </a:solidFill>
                <a:latin typeface="Arial"/>
                <a:ea typeface="Arial"/>
                <a:cs typeface="Arial"/>
              </a:defRPr>
            </a:lvl5pPr>
            <a:lvl6pPr>
              <a:buNone/>
              <a:defRPr sz="2100" b="0">
                <a:solidFill>
                  <a:srgbClr val="152A43"/>
                </a:solidFill>
                <a:latin typeface="Arial"/>
                <a:ea typeface="Arial"/>
                <a:cs typeface="Arial"/>
              </a:defRPr>
            </a:lvl6pPr>
            <a:lvl7pPr>
              <a:buNone/>
              <a:defRPr sz="2100" b="0">
                <a:solidFill>
                  <a:srgbClr val="152A43"/>
                </a:solidFill>
                <a:latin typeface="Arial"/>
                <a:ea typeface="Arial"/>
                <a:cs typeface="Arial"/>
              </a:defRPr>
            </a:lvl7pPr>
            <a:lvl8pPr>
              <a:buNone/>
              <a:defRPr sz="2100" b="0">
                <a:solidFill>
                  <a:srgbClr val="152A43"/>
                </a:solidFill>
                <a:latin typeface="Arial"/>
                <a:ea typeface="Arial"/>
                <a:cs typeface="Arial"/>
              </a:defRPr>
            </a:lvl8pPr>
            <a:lvl9pPr>
              <a:buNone/>
              <a:defRPr sz="2100" b="0">
                <a:solidFill>
                  <a:srgbClr val="152A43"/>
                </a:solidFill>
                <a:latin typeface="Arial"/>
                <a:ea typeface="Arial"/>
                <a:cs typeface="Arial"/>
              </a:defRPr>
            </a:lvl9pPr>
          </a:lstStyle>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Run and query identity</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Chemical system and candidate composition</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Energy and observed stability</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A separate record for every structure attempt</a:t>
            </a:r>
          </a:p>
        </p:txBody>
      </p:sp>
      <p:sp>
        <p:nvSpPr>
          <p:cNvPr id="4" name="">
            <a:extLst xmlns:a="http://schemas.openxmlformats.org/drawingml/2006/main">
              <a:ext uri="{FF2B5EF4-FFF2-40B4-BE49-F238E27FC236}">
                <a16:creationId xmlns:a16="http://schemas.microsoft.com/office/drawing/2014/main" id="{C8D3A7E2-CBD4-4D3E-BE57-DE93805BB1E6}"/>
              </a:ext>
            </a:extLst>
          </p:cNvPr>
          <p:cNvSpPr>
            <a:spLocks xmlns:a="http://schemas.openxmlformats.org/drawingml/2006/main" noGrp="1"/>
          </p:cNvSpPr>
          <p:nvPr/>
        </p:nvSpPr>
        <p:spPr>
          <a:xfrm xmlns:a="http://schemas.openxmlformats.org/drawingml/2006/main">
            <a:off x="6705600" y="1476375"/>
            <a:ext cx="4876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Bounded memory for the Planner</a:t>
            </a:r>
          </a:p>
        </p:txBody>
      </p:sp>
      <p:sp>
        <p:nvSpPr>
          <p:cNvPr id="5" name="">
            <a:extLst xmlns:a="http://schemas.openxmlformats.org/drawingml/2006/main">
              <a:ext uri="{FF2B5EF4-FFF2-40B4-BE49-F238E27FC236}">
                <a16:creationId xmlns:a16="http://schemas.microsoft.com/office/drawing/2014/main" id="{7D2B3E82-8F0E-4B0C-9B36-7191D6B834A1}"/>
              </a:ext>
            </a:extLst>
          </p:cNvPr>
          <p:cNvSpPr>
            <a:spLocks xmlns:a="http://schemas.openxmlformats.org/drawingml/2006/main" noGrp="1"/>
          </p:cNvSpPr>
          <p:nvPr/>
        </p:nvSpPr>
        <p:spPr>
          <a:xfrm xmlns:a="http://schemas.openxmlformats.org/drawingml/2006/main">
            <a:off x="6705600" y="2076450"/>
            <a:ext cx="4810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A43"/>
                </a:solidFill>
                <a:latin typeface="Arial"/>
                <a:ea typeface="Arial"/>
                <a:cs typeface="Arial"/>
              </a:defRPr>
            </a:defPPr>
            <a:lvl1pPr>
              <a:buNone/>
              <a:defRPr sz="2100" b="0">
                <a:solidFill>
                  <a:srgbClr val="152A43"/>
                </a:solidFill>
                <a:latin typeface="Arial"/>
                <a:ea typeface="Arial"/>
                <a:cs typeface="Arial"/>
              </a:defRPr>
            </a:lvl1pPr>
            <a:lvl2pPr>
              <a:buNone/>
              <a:defRPr sz="2100" b="0">
                <a:solidFill>
                  <a:srgbClr val="152A43"/>
                </a:solidFill>
                <a:latin typeface="Arial"/>
                <a:ea typeface="Arial"/>
                <a:cs typeface="Arial"/>
              </a:defRPr>
            </a:lvl2pPr>
            <a:lvl3pPr>
              <a:buNone/>
              <a:defRPr sz="2100" b="0">
                <a:solidFill>
                  <a:srgbClr val="152A43"/>
                </a:solidFill>
                <a:latin typeface="Arial"/>
                <a:ea typeface="Arial"/>
                <a:cs typeface="Arial"/>
              </a:defRPr>
            </a:lvl3pPr>
            <a:lvl4pPr>
              <a:buNone/>
              <a:defRPr sz="2100" b="0">
                <a:solidFill>
                  <a:srgbClr val="152A43"/>
                </a:solidFill>
                <a:latin typeface="Arial"/>
                <a:ea typeface="Arial"/>
                <a:cs typeface="Arial"/>
              </a:defRPr>
            </a:lvl4pPr>
            <a:lvl5pPr>
              <a:buNone/>
              <a:defRPr sz="2100" b="0">
                <a:solidFill>
                  <a:srgbClr val="152A43"/>
                </a:solidFill>
                <a:latin typeface="Arial"/>
                <a:ea typeface="Arial"/>
                <a:cs typeface="Arial"/>
              </a:defRPr>
            </a:lvl5pPr>
            <a:lvl6pPr>
              <a:buNone/>
              <a:defRPr sz="2100" b="0">
                <a:solidFill>
                  <a:srgbClr val="152A43"/>
                </a:solidFill>
                <a:latin typeface="Arial"/>
                <a:ea typeface="Arial"/>
                <a:cs typeface="Arial"/>
              </a:defRPr>
            </a:lvl6pPr>
            <a:lvl7pPr>
              <a:buNone/>
              <a:defRPr sz="2100" b="0">
                <a:solidFill>
                  <a:srgbClr val="152A43"/>
                </a:solidFill>
                <a:latin typeface="Arial"/>
                <a:ea typeface="Arial"/>
                <a:cs typeface="Arial"/>
              </a:defRPr>
            </a:lvl7pPr>
            <a:lvl8pPr>
              <a:buNone/>
              <a:defRPr sz="2100" b="0">
                <a:solidFill>
                  <a:srgbClr val="152A43"/>
                </a:solidFill>
                <a:latin typeface="Arial"/>
                <a:ea typeface="Arial"/>
                <a:cs typeface="Arial"/>
              </a:defRPr>
            </a:lvl8pPr>
            <a:lvl9pPr>
              <a:buNone/>
              <a:defRPr sz="2100" b="0">
                <a:solidFill>
                  <a:srgbClr val="152A43"/>
                </a:solidFill>
                <a:latin typeface="Arial"/>
                <a:ea typeface="Arial"/>
                <a:cs typeface="Arial"/>
              </a:defRPr>
            </a:lvl9pPr>
          </a:lstStyle>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Recent observations with contrasting outcomes</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Up to 8 records and 4,000 JSON characters</a:t>
            </a:r>
          </a:p>
          <a:p xmlns:a="http://schemas.openxmlformats.org/drawingml/2006/main">
            <a:pPr>
              <a:buNone/>
              <a:defRPr sz="2100" b="0">
                <a:solidFill>
                  <a:srgbClr val="152A43"/>
                </a:solidFill>
                <a:latin typeface="Arial"/>
                <a:ea typeface="Arial"/>
                <a:cs typeface="Arial"/>
              </a:defRPr>
            </a:pPr>
            <a:r>
              <a:rPr sz="2100" b="0">
                <a:solidFill>
                  <a:srgbClr val="152A43"/>
                </a:solidFill>
                <a:latin typeface="Arial"/>
                <a:ea typeface="Arial"/>
                <a:cs typeface="Arial"/>
              </a:rPr>
              <a:t>Episode isolation and checkpoint recovery</a:t>
            </a:r>
          </a:p>
        </p:txBody>
      </p:sp>
      <p:sp>
        <p:nvSpPr>
          <p:cNvPr id="6" name="">
            <a:extLst xmlns:a="http://schemas.openxmlformats.org/drawingml/2006/main">
              <a:ext uri="{FF2B5EF4-FFF2-40B4-BE49-F238E27FC236}">
                <a16:creationId xmlns:a16="http://schemas.microsoft.com/office/drawing/2014/main" id="{C51FF765-F577-4885-AD08-564721DBE292}"/>
              </a:ext>
            </a:extLst>
          </p:cNvPr>
          <p:cNvSpPr>
            <a:spLocks xmlns:a="http://schemas.openxmlformats.org/drawingml/2006/main" noGrp="1"/>
          </p:cNvSpPr>
          <p:nvPr/>
        </p:nvSpPr>
        <p:spPr>
          <a:xfrm xmlns:a="http://schemas.openxmlformats.org/drawingml/2006/main">
            <a:off x="609600" y="44481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Complete evidence in both ON and OFF runs</a:t>
            </a:r>
          </a:p>
        </p:txBody>
      </p:sp>
      <p:sp>
        <p:nvSpPr>
          <p:cNvPr id="7" name="">
            <a:extLst xmlns:a="http://schemas.openxmlformats.org/drawingml/2006/main">
              <a:ext uri="{FF2B5EF4-FFF2-40B4-BE49-F238E27FC236}">
                <a16:creationId xmlns:a16="http://schemas.microsoft.com/office/drawing/2014/main" id="{C4E7397A-28F8-4169-B645-7C1824C00148}"/>
              </a:ext>
            </a:extLst>
          </p:cNvPr>
          <p:cNvSpPr>
            <a:spLocks xmlns:a="http://schemas.openxmlformats.org/drawingml/2006/main" noGrp="1"/>
          </p:cNvSpPr>
          <p:nvPr/>
        </p:nvSpPr>
        <p:spPr>
          <a:xfrm xmlns:a="http://schemas.openxmlformats.org/drawingml/2006/main">
            <a:off x="609600" y="50006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A43"/>
                </a:solidFill>
                <a:latin typeface="Arial"/>
                <a:ea typeface="Arial"/>
                <a:cs typeface="Arial"/>
              </a:defRPr>
            </a:defPPr>
            <a:lvl1pPr>
              <a:buNone/>
              <a:defRPr sz="2100" b="0">
                <a:solidFill>
                  <a:srgbClr val="152A43"/>
                </a:solidFill>
                <a:latin typeface="Arial"/>
                <a:ea typeface="Arial"/>
                <a:cs typeface="Arial"/>
              </a:defRPr>
            </a:lvl1pPr>
            <a:lvl2pPr>
              <a:buNone/>
              <a:defRPr sz="2100" b="0">
                <a:solidFill>
                  <a:srgbClr val="152A43"/>
                </a:solidFill>
                <a:latin typeface="Arial"/>
                <a:ea typeface="Arial"/>
                <a:cs typeface="Arial"/>
              </a:defRPr>
            </a:lvl2pPr>
            <a:lvl3pPr>
              <a:buNone/>
              <a:defRPr sz="2100" b="0">
                <a:solidFill>
                  <a:srgbClr val="152A43"/>
                </a:solidFill>
                <a:latin typeface="Arial"/>
                <a:ea typeface="Arial"/>
                <a:cs typeface="Arial"/>
              </a:defRPr>
            </a:lvl3pPr>
            <a:lvl4pPr>
              <a:buNone/>
              <a:defRPr sz="2100" b="0">
                <a:solidFill>
                  <a:srgbClr val="152A43"/>
                </a:solidFill>
                <a:latin typeface="Arial"/>
                <a:ea typeface="Arial"/>
                <a:cs typeface="Arial"/>
              </a:defRPr>
            </a:lvl4pPr>
            <a:lvl5pPr>
              <a:buNone/>
              <a:defRPr sz="2100" b="0">
                <a:solidFill>
                  <a:srgbClr val="152A43"/>
                </a:solidFill>
                <a:latin typeface="Arial"/>
                <a:ea typeface="Arial"/>
                <a:cs typeface="Arial"/>
              </a:defRPr>
            </a:lvl5pPr>
            <a:lvl6pPr>
              <a:buNone/>
              <a:defRPr sz="2100" b="0">
                <a:solidFill>
                  <a:srgbClr val="152A43"/>
                </a:solidFill>
                <a:latin typeface="Arial"/>
                <a:ea typeface="Arial"/>
                <a:cs typeface="Arial"/>
              </a:defRPr>
            </a:lvl6pPr>
            <a:lvl7pPr>
              <a:buNone/>
              <a:defRPr sz="2100" b="0">
                <a:solidFill>
                  <a:srgbClr val="152A43"/>
                </a:solidFill>
                <a:latin typeface="Arial"/>
                <a:ea typeface="Arial"/>
                <a:cs typeface="Arial"/>
              </a:defRPr>
            </a:lvl7pPr>
            <a:lvl8pPr>
              <a:buNone/>
              <a:defRPr sz="2100" b="0">
                <a:solidFill>
                  <a:srgbClr val="152A43"/>
                </a:solidFill>
                <a:latin typeface="Arial"/>
                <a:ea typeface="Arial"/>
                <a:cs typeface="Arial"/>
              </a:defRPr>
            </a:lvl8pPr>
            <a:lvl9pPr>
              <a:buNone/>
              <a:defRPr sz="2100" b="0">
                <a:solidFill>
                  <a:srgbClr val="152A43"/>
                </a:solidFill>
                <a:latin typeface="Arial"/>
                <a:ea typeface="Arial"/>
                <a:cs typeface="Arial"/>
              </a:defRPr>
            </a:lvl9pPr>
          </a:lstStyle>
          <a:p xmlns:a="http://schemas.openxmlformats.org/drawingml/2006/main">
            <a:pPr>
              <a:buNone/>
              <a:defRPr sz="1950" b="0">
                <a:solidFill>
                  <a:srgbClr val="152A43"/>
                </a:solidFill>
                <a:latin typeface="Arial"/>
                <a:ea typeface="Arial"/>
                <a:cs typeface="Arial"/>
              </a:defRPr>
            </a:pPr>
            <a:r>
              <a:rPr sz="1950" b="0">
                <a:solidFill>
                  <a:srgbClr val="152A43"/>
                </a:solidFill>
                <a:latin typeface="Arial"/>
                <a:ea typeface="Arial"/>
                <a:cs typeface="Arial"/>
              </a:rPr>
              <a:t>Export each official trajectory, including the final evaluation.</a:t>
            </a:r>
          </a:p>
          <a:p xmlns:a="http://schemas.openxmlformats.org/drawingml/2006/main">
            <a:pPr>
              <a:buNone/>
              <a:defRPr sz="1950" b="0">
                <a:solidFill>
                  <a:srgbClr val="152A43"/>
                </a:solidFill>
                <a:latin typeface="Arial"/>
                <a:ea typeface="Arial"/>
                <a:cs typeface="Arial"/>
              </a:defRPr>
            </a:pPr>
            <a:r>
              <a:rPr sz="1950" b="0">
                <a:solidFill>
                  <a:srgbClr val="152A43"/>
                </a:solidFill>
                <a:latin typeface="Arial"/>
                <a:ea typeface="Arial"/>
                <a:cs typeface="Arial"/>
              </a:rPr>
              <a:t>Generator/filter audit logs remain separate from decision inputs.</a:t>
            </a:r>
          </a:p>
        </p:txBody>
      </p:sp>
      <p:sp>
        <p:nvSpPr>
          <p:cNvPr id="8" name="">
            <a:extLst xmlns:a="http://schemas.openxmlformats.org/drawingml/2006/main">
              <a:ext uri="{FF2B5EF4-FFF2-40B4-BE49-F238E27FC236}">
                <a16:creationId xmlns:a16="http://schemas.microsoft.com/office/drawing/2014/main" id="{3E362FA6-98F8-45BE-9982-B90523306528}"/>
              </a:ext>
            </a:extLst>
          </p:cNvPr>
          <p:cNvSpPr>
            <a:spLocks xmlns:a="http://schemas.openxmlformats.org/drawingml/2006/main" noGrp="1"/>
          </p:cNvSpPr>
          <p:nvPr/>
        </p:nvSpPr>
        <p:spPr>
          <a:xfrm xmlns:a="http://schemas.openxmlformats.org/drawingml/2006/main">
            <a:off x="609600" y="61436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B6470"/>
                </a:solidFill>
                <a:latin typeface="Arial"/>
                <a:ea typeface="Arial"/>
                <a:cs typeface="Arial"/>
              </a:defRPr>
            </a:defPPr>
            <a:lvl1pPr>
              <a:buNone/>
              <a:defRPr sz="1725" b="0">
                <a:solidFill>
                  <a:srgbClr val="5B6470"/>
                </a:solidFill>
                <a:latin typeface="Arial"/>
                <a:ea typeface="Arial"/>
                <a:cs typeface="Arial"/>
              </a:defRPr>
            </a:lvl1pPr>
            <a:lvl2pPr>
              <a:buNone/>
              <a:defRPr sz="1725" b="0">
                <a:solidFill>
                  <a:srgbClr val="5B6470"/>
                </a:solidFill>
                <a:latin typeface="Arial"/>
                <a:ea typeface="Arial"/>
                <a:cs typeface="Arial"/>
              </a:defRPr>
            </a:lvl2pPr>
            <a:lvl3pPr>
              <a:buNone/>
              <a:defRPr sz="1725" b="0">
                <a:solidFill>
                  <a:srgbClr val="5B6470"/>
                </a:solidFill>
                <a:latin typeface="Arial"/>
                <a:ea typeface="Arial"/>
                <a:cs typeface="Arial"/>
              </a:defRPr>
            </a:lvl3pPr>
            <a:lvl4pPr>
              <a:buNone/>
              <a:defRPr sz="1725" b="0">
                <a:solidFill>
                  <a:srgbClr val="5B6470"/>
                </a:solidFill>
                <a:latin typeface="Arial"/>
                <a:ea typeface="Arial"/>
                <a:cs typeface="Arial"/>
              </a:defRPr>
            </a:lvl4pPr>
            <a:lvl5pPr>
              <a:buNone/>
              <a:defRPr sz="1725" b="0">
                <a:solidFill>
                  <a:srgbClr val="5B6470"/>
                </a:solidFill>
                <a:latin typeface="Arial"/>
                <a:ea typeface="Arial"/>
                <a:cs typeface="Arial"/>
              </a:defRPr>
            </a:lvl5pPr>
            <a:lvl6pPr>
              <a:buNone/>
              <a:defRPr sz="1725" b="0">
                <a:solidFill>
                  <a:srgbClr val="5B6470"/>
                </a:solidFill>
                <a:latin typeface="Arial"/>
                <a:ea typeface="Arial"/>
                <a:cs typeface="Arial"/>
              </a:defRPr>
            </a:lvl6pPr>
            <a:lvl7pPr>
              <a:buNone/>
              <a:defRPr sz="1725" b="0">
                <a:solidFill>
                  <a:srgbClr val="5B6470"/>
                </a:solidFill>
                <a:latin typeface="Arial"/>
                <a:ea typeface="Arial"/>
                <a:cs typeface="Arial"/>
              </a:defRPr>
            </a:lvl7pPr>
            <a:lvl8pPr>
              <a:buNone/>
              <a:defRPr sz="1725" b="0">
                <a:solidFill>
                  <a:srgbClr val="5B6470"/>
                </a:solidFill>
                <a:latin typeface="Arial"/>
                <a:ea typeface="Arial"/>
                <a:cs typeface="Arial"/>
              </a:defRPr>
            </a:lvl8pPr>
            <a:lvl9pPr>
              <a:buNone/>
              <a:defRPr sz="1725" b="0">
                <a:solidFill>
                  <a:srgbClr val="5B6470"/>
                </a:solidFill>
                <a:latin typeface="Arial"/>
                <a:ea typeface="Arial"/>
                <a:cs typeface="Arial"/>
              </a:defRPr>
            </a:lvl9pPr>
          </a:lstStyle>
          <a:p xmlns:a="http://schemas.openxmlformats.org/drawingml/2006/main">
            <a:pPr>
              <a:buNone/>
              <a:defRPr sz="1725" b="0">
                <a:solidFill>
                  <a:srgbClr val="5B6470"/>
                </a:solidFill>
                <a:latin typeface="Arial"/>
                <a:ea typeface="Arial"/>
                <a:cs typeface="Arial"/>
              </a:defRPr>
            </a:pPr>
            <a:r>
              <a:rPr sz="1725" b="0">
                <a:solidFill>
                  <a:srgbClr val="5B6470"/>
                </a:solidFill>
                <a:latin typeface="Arial"/>
                <a:ea typeface="Arial"/>
                <a:cs typeface="Arial"/>
              </a:rPr>
              <a:t>M1 capture adopted. M3 consumes memory. Draft updated 21 Oct 2026.</a:t>
            </a:r>
          </a:p>
        </p:txBody>
      </p:sp>
    </p:spTree>
    <p:extLst>
      <p:ext uri="{BB962C8B-B14F-4D97-AF65-F5344CB8AC3E}">
        <p14:creationId xmlns:p14="http://schemas.microsoft.com/office/powerpoint/2010/main" val="118639557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C9DE5ED-8F4B-49D4-8B6E-7E9AD88D0DFF}"/>
              </a:ext>
            </a:extLst>
          </p:cNvPr>
          <p:cNvSpPr>
            <a:spLocks xmlns:a="http://schemas.openxmlformats.org/drawingml/2006/main" noGrp="1"/>
          </p:cNvSpPr>
          <p:nvPr/>
        </p:nvSpPr>
        <p:spPr>
          <a:xfrm xmlns:a="http://schemas.openxmlformats.org/drawingml/2006/main">
            <a:off x="609600" y="42862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52A43"/>
                </a:solidFill>
                <a:latin typeface="Arial"/>
                <a:ea typeface="Arial"/>
                <a:cs typeface="Arial"/>
              </a:defRPr>
            </a:defPPr>
            <a:lvl1pPr>
              <a:buNone/>
              <a:defRPr sz="3600" b="1">
                <a:solidFill>
                  <a:srgbClr val="152A43"/>
                </a:solidFill>
                <a:latin typeface="Arial"/>
                <a:ea typeface="Arial"/>
                <a:cs typeface="Arial"/>
              </a:defRPr>
            </a:lvl1pPr>
            <a:lvl2pPr>
              <a:buNone/>
              <a:defRPr sz="3600" b="1">
                <a:solidFill>
                  <a:srgbClr val="152A43"/>
                </a:solidFill>
                <a:latin typeface="Arial"/>
                <a:ea typeface="Arial"/>
                <a:cs typeface="Arial"/>
              </a:defRPr>
            </a:lvl2pPr>
            <a:lvl3pPr>
              <a:buNone/>
              <a:defRPr sz="3600" b="1">
                <a:solidFill>
                  <a:srgbClr val="152A43"/>
                </a:solidFill>
                <a:latin typeface="Arial"/>
                <a:ea typeface="Arial"/>
                <a:cs typeface="Arial"/>
              </a:defRPr>
            </a:lvl3pPr>
            <a:lvl4pPr>
              <a:buNone/>
              <a:defRPr sz="3600" b="1">
                <a:solidFill>
                  <a:srgbClr val="152A43"/>
                </a:solidFill>
                <a:latin typeface="Arial"/>
                <a:ea typeface="Arial"/>
                <a:cs typeface="Arial"/>
              </a:defRPr>
            </a:lvl4pPr>
            <a:lvl5pPr>
              <a:buNone/>
              <a:defRPr sz="3600" b="1">
                <a:solidFill>
                  <a:srgbClr val="152A43"/>
                </a:solidFill>
                <a:latin typeface="Arial"/>
                <a:ea typeface="Arial"/>
                <a:cs typeface="Arial"/>
              </a:defRPr>
            </a:lvl5pPr>
            <a:lvl6pPr>
              <a:buNone/>
              <a:defRPr sz="3600" b="1">
                <a:solidFill>
                  <a:srgbClr val="152A43"/>
                </a:solidFill>
                <a:latin typeface="Arial"/>
                <a:ea typeface="Arial"/>
                <a:cs typeface="Arial"/>
              </a:defRPr>
            </a:lvl6pPr>
            <a:lvl7pPr>
              <a:buNone/>
              <a:defRPr sz="3600" b="1">
                <a:solidFill>
                  <a:srgbClr val="152A43"/>
                </a:solidFill>
                <a:latin typeface="Arial"/>
                <a:ea typeface="Arial"/>
                <a:cs typeface="Arial"/>
              </a:defRPr>
            </a:lvl7pPr>
            <a:lvl8pPr>
              <a:buNone/>
              <a:defRPr sz="3600" b="1">
                <a:solidFill>
                  <a:srgbClr val="152A43"/>
                </a:solidFill>
                <a:latin typeface="Arial"/>
                <a:ea typeface="Arial"/>
                <a:cs typeface="Arial"/>
              </a:defRPr>
            </a:lvl8pPr>
            <a:lvl9pPr>
              <a:buNone/>
              <a:defRPr sz="3600" b="1">
                <a:solidFill>
                  <a:srgbClr val="152A43"/>
                </a:solidFill>
                <a:latin typeface="Arial"/>
                <a:ea typeface="Arial"/>
                <a:cs typeface="Arial"/>
              </a:defRPr>
            </a:lvl9pPr>
          </a:lstStyle>
          <a:p xmlns:a="http://schemas.openxmlformats.org/drawingml/2006/main">
            <a:pPr>
              <a:buNone/>
              <a:defRPr sz="3600" b="1">
                <a:solidFill>
                  <a:srgbClr val="152A43"/>
                </a:solidFill>
                <a:latin typeface="Arial"/>
                <a:ea typeface="Arial"/>
                <a:cs typeface="Arial"/>
              </a:defRPr>
            </a:pPr>
            <a:r>
              <a:rPr sz="3600" b="1">
                <a:solidFill>
                  <a:srgbClr val="152A43"/>
                </a:solidFill>
                <a:latin typeface="Arial"/>
                <a:ea typeface="Arial"/>
                <a:cs typeface="Arial"/>
              </a:rPr>
              <a:t>Memory pilot and planned evaluation</a:t>
            </a:r>
          </a:p>
        </p:txBody>
      </p:sp>
      <p:pic>
        <p:nvPicPr>
          <p:cNvPr id="2" name="">
            <a:extLst xmlns:a="http://schemas.openxmlformats.org/drawingml/2006/main">
              <a:ext uri="{FF2B5EF4-FFF2-40B4-BE49-F238E27FC236}">
                <a16:creationId xmlns:a16="http://schemas.microsoft.com/office/drawing/2014/main" id="{749DC283-89B5-405E-AA5B-77AAAD8356B9}"/>
              </a:ext>
            </a:extLst>
          </p:cNvPr>
          <p:cNvPicPr>
            <a:picLocks xmlns:a="http://schemas.openxmlformats.org/drawingml/2006/main" noChangeAspect="1"/>
          </p:cNvPicPr>
          <p:nvPr/>
        </p:nvPicPr>
        <p:blipFill>
          <a:blip xmlns:r="http://schemas.openxmlformats.org/officeDocument/2006/relationships" xmlns:a="http://schemas.openxmlformats.org/drawingml/2006/main" r:embed="Rea2d3ebf58d447cf"/>
          <a:stretch xmlns:a="http://schemas.openxmlformats.org/drawingml/2006/main"/>
        </p:blipFill>
        <p:spPr>
          <a:xfrm xmlns:a="http://schemas.openxmlformats.org/drawingml/2006/main">
            <a:off x="428625" y="1563461"/>
            <a:ext cx="5276850" cy="3769179"/>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D5712AA-BE3B-417C-ABC0-F83BB3CDFACE}"/>
              </a:ext>
            </a:extLst>
          </p:cNvPr>
          <p:cNvSpPr>
            <a:spLocks xmlns:a="http://schemas.openxmlformats.org/drawingml/2006/main" noGrp="1"/>
          </p:cNvSpPr>
          <p:nvPr/>
        </p:nvSpPr>
        <p:spPr>
          <a:xfrm xmlns:a="http://schemas.openxmlformats.org/drawingml/2006/main">
            <a:off x="609600" y="5619750"/>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52A43"/>
                </a:solidFill>
                <a:latin typeface="Arial"/>
                <a:ea typeface="Arial"/>
                <a:cs typeface="Arial"/>
              </a:defRPr>
            </a:defPPr>
            <a:lvl1pPr>
              <a:buNone/>
              <a:defRPr sz="1950" b="1">
                <a:solidFill>
                  <a:srgbClr val="152A43"/>
                </a:solidFill>
                <a:latin typeface="Arial"/>
                <a:ea typeface="Arial"/>
                <a:cs typeface="Arial"/>
              </a:defRPr>
            </a:lvl1pPr>
            <a:lvl2pPr>
              <a:buNone/>
              <a:defRPr sz="1950" b="1">
                <a:solidFill>
                  <a:srgbClr val="152A43"/>
                </a:solidFill>
                <a:latin typeface="Arial"/>
                <a:ea typeface="Arial"/>
                <a:cs typeface="Arial"/>
              </a:defRPr>
            </a:lvl2pPr>
            <a:lvl3pPr>
              <a:buNone/>
              <a:defRPr sz="1950" b="1">
                <a:solidFill>
                  <a:srgbClr val="152A43"/>
                </a:solidFill>
                <a:latin typeface="Arial"/>
                <a:ea typeface="Arial"/>
                <a:cs typeface="Arial"/>
              </a:defRPr>
            </a:lvl3pPr>
            <a:lvl4pPr>
              <a:buNone/>
              <a:defRPr sz="1950" b="1">
                <a:solidFill>
                  <a:srgbClr val="152A43"/>
                </a:solidFill>
                <a:latin typeface="Arial"/>
                <a:ea typeface="Arial"/>
                <a:cs typeface="Arial"/>
              </a:defRPr>
            </a:lvl4pPr>
            <a:lvl5pPr>
              <a:buNone/>
              <a:defRPr sz="1950" b="1">
                <a:solidFill>
                  <a:srgbClr val="152A43"/>
                </a:solidFill>
                <a:latin typeface="Arial"/>
                <a:ea typeface="Arial"/>
                <a:cs typeface="Arial"/>
              </a:defRPr>
            </a:lvl5pPr>
            <a:lvl6pPr>
              <a:buNone/>
              <a:defRPr sz="1950" b="1">
                <a:solidFill>
                  <a:srgbClr val="152A43"/>
                </a:solidFill>
                <a:latin typeface="Arial"/>
                <a:ea typeface="Arial"/>
                <a:cs typeface="Arial"/>
              </a:defRPr>
            </a:lvl6pPr>
            <a:lvl7pPr>
              <a:buNone/>
              <a:defRPr sz="1950" b="1">
                <a:solidFill>
                  <a:srgbClr val="152A43"/>
                </a:solidFill>
                <a:latin typeface="Arial"/>
                <a:ea typeface="Arial"/>
                <a:cs typeface="Arial"/>
              </a:defRPr>
            </a:lvl7pPr>
            <a:lvl8pPr>
              <a:buNone/>
              <a:defRPr sz="1950" b="1">
                <a:solidFill>
                  <a:srgbClr val="152A43"/>
                </a:solidFill>
                <a:latin typeface="Arial"/>
                <a:ea typeface="Arial"/>
                <a:cs typeface="Arial"/>
              </a:defRPr>
            </a:lvl8pPr>
            <a:lvl9pPr>
              <a:buNone/>
              <a:defRPr sz="1950" b="1">
                <a:solidFill>
                  <a:srgbClr val="152A43"/>
                </a:solidFill>
                <a:latin typeface="Arial"/>
                <a:ea typeface="Arial"/>
                <a:cs typeface="Arial"/>
              </a:defRPr>
            </a:lvl9pPr>
          </a:lstStyle>
          <a:p xmlns:a="http://schemas.openxmlformats.org/drawingml/2006/main">
            <a:pPr>
              <a:buNone/>
              <a:defRPr sz="1950" b="1">
                <a:solidFill>
                  <a:srgbClr val="152A43"/>
                </a:solidFill>
                <a:latin typeface="Arial"/>
                <a:ea typeface="Arial"/>
                <a:cs typeface="Arial"/>
              </a:defRPr>
            </a:pPr>
            <a:r>
              <a:rPr sz="1950" b="1">
                <a:solidFill>
                  <a:srgbClr val="152A43"/>
                </a:solidFill>
                <a:latin typeface="Arial"/>
                <a:ea typeface="Arial"/>
                <a:cs typeface="Arial"/>
              </a:rPr>
              <a:t>Memory ON observed phase diagram</a:t>
            </a:r>
          </a:p>
        </p:txBody>
      </p:sp>
      <p:sp>
        <p:nvSpPr>
          <p:cNvPr id="4" name="">
            <a:extLst xmlns:a="http://schemas.openxmlformats.org/drawingml/2006/main">
              <a:ext uri="{FF2B5EF4-FFF2-40B4-BE49-F238E27FC236}">
                <a16:creationId xmlns:a16="http://schemas.microsoft.com/office/drawing/2014/main" id="{0F8CB7BC-C187-43A0-8890-1F47FD8465FE}"/>
              </a:ext>
            </a:extLst>
          </p:cNvPr>
          <p:cNvSpPr>
            <a:spLocks xmlns:a="http://schemas.openxmlformats.org/drawingml/2006/main" noGrp="1"/>
          </p:cNvSpPr>
          <p:nvPr/>
        </p:nvSpPr>
        <p:spPr>
          <a:xfrm xmlns:a="http://schemas.openxmlformats.org/drawingml/2006/main">
            <a:off x="609600" y="6067425"/>
            <a:ext cx="5524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A43"/>
                </a:solidFill>
                <a:latin typeface="Arial"/>
                <a:ea typeface="Arial"/>
                <a:cs typeface="Arial"/>
              </a:defRPr>
            </a:defPPr>
            <a:lvl1pPr>
              <a:buNone/>
              <a:defRPr sz="1725" b="0">
                <a:solidFill>
                  <a:srgbClr val="152A43"/>
                </a:solidFill>
                <a:latin typeface="Arial"/>
                <a:ea typeface="Arial"/>
                <a:cs typeface="Arial"/>
              </a:defRPr>
            </a:lvl1pPr>
            <a:lvl2pPr>
              <a:buNone/>
              <a:defRPr sz="1725" b="0">
                <a:solidFill>
                  <a:srgbClr val="152A43"/>
                </a:solidFill>
                <a:latin typeface="Arial"/>
                <a:ea typeface="Arial"/>
                <a:cs typeface="Arial"/>
              </a:defRPr>
            </a:lvl2pPr>
            <a:lvl3pPr>
              <a:buNone/>
              <a:defRPr sz="1725" b="0">
                <a:solidFill>
                  <a:srgbClr val="152A43"/>
                </a:solidFill>
                <a:latin typeface="Arial"/>
                <a:ea typeface="Arial"/>
                <a:cs typeface="Arial"/>
              </a:defRPr>
            </a:lvl3pPr>
            <a:lvl4pPr>
              <a:buNone/>
              <a:defRPr sz="1725" b="0">
                <a:solidFill>
                  <a:srgbClr val="152A43"/>
                </a:solidFill>
                <a:latin typeface="Arial"/>
                <a:ea typeface="Arial"/>
                <a:cs typeface="Arial"/>
              </a:defRPr>
            </a:lvl4pPr>
            <a:lvl5pPr>
              <a:buNone/>
              <a:defRPr sz="1725" b="0">
                <a:solidFill>
                  <a:srgbClr val="152A43"/>
                </a:solidFill>
                <a:latin typeface="Arial"/>
                <a:ea typeface="Arial"/>
                <a:cs typeface="Arial"/>
              </a:defRPr>
            </a:lvl5pPr>
            <a:lvl6pPr>
              <a:buNone/>
              <a:defRPr sz="1725" b="0">
                <a:solidFill>
                  <a:srgbClr val="152A43"/>
                </a:solidFill>
                <a:latin typeface="Arial"/>
                <a:ea typeface="Arial"/>
                <a:cs typeface="Arial"/>
              </a:defRPr>
            </a:lvl6pPr>
            <a:lvl7pPr>
              <a:buNone/>
              <a:defRPr sz="1725" b="0">
                <a:solidFill>
                  <a:srgbClr val="152A43"/>
                </a:solidFill>
                <a:latin typeface="Arial"/>
                <a:ea typeface="Arial"/>
                <a:cs typeface="Arial"/>
              </a:defRPr>
            </a:lvl7pPr>
            <a:lvl8pPr>
              <a:buNone/>
              <a:defRPr sz="1725" b="0">
                <a:solidFill>
                  <a:srgbClr val="152A43"/>
                </a:solidFill>
                <a:latin typeface="Arial"/>
                <a:ea typeface="Arial"/>
                <a:cs typeface="Arial"/>
              </a:defRPr>
            </a:lvl8pPr>
            <a:lvl9pPr>
              <a:buNone/>
              <a:defRPr sz="1725" b="0">
                <a:solidFill>
                  <a:srgbClr val="152A43"/>
                </a:solidFill>
                <a:latin typeface="Arial"/>
                <a:ea typeface="Arial"/>
                <a:cs typeface="Arial"/>
              </a:defRPr>
            </a:lvl9pPr>
          </a:lstStyle>
          <a:p xmlns:a="http://schemas.openxmlformats.org/drawingml/2006/main">
            <a:pPr>
              <a:buNone/>
              <a:defRPr sz="1725" b="0">
                <a:solidFill>
                  <a:srgbClr val="152A43"/>
                </a:solidFill>
                <a:latin typeface="Arial"/>
                <a:ea typeface="Arial"/>
                <a:cs typeface="Arial"/>
              </a:defRPr>
            </a:pPr>
            <a:r>
              <a:rPr sz="1725" b="0">
                <a:solidFill>
                  <a:srgbClr val="152A43"/>
                </a:solidFill>
                <a:latin typeface="Arial"/>
                <a:ea typeface="Arial"/>
                <a:cs typeface="Arial"/>
              </a:rPr>
              <a:t>CPU ORB, seed 17, B=20 per arm</a:t>
            </a:r>
          </a:p>
          <a:p xmlns:a="http://schemas.openxmlformats.org/drawingml/2006/main">
            <a:pPr>
              <a:buNone/>
              <a:defRPr sz="1725" b="0">
                <a:solidFill>
                  <a:srgbClr val="152A43"/>
                </a:solidFill>
                <a:latin typeface="Arial"/>
                <a:ea typeface="Arial"/>
                <a:cs typeface="Arial"/>
              </a:defRPr>
            </a:pPr>
            <a:r>
              <a:rPr sz="1725" b="0">
                <a:solidFill>
                  <a:srgbClr val="152A43"/>
                </a:solidFill>
                <a:latin typeface="Arial"/>
                <a:ea typeface="Arial"/>
                <a:cs typeface="Arial"/>
              </a:rPr>
              <a:t>M3/M4 pilot, exploration and routing off</a:t>
            </a:r>
          </a:p>
        </p:txBody>
      </p:sp>
      <p:sp>
        <p:nvSpPr>
          <p:cNvPr id="5" name="">
            <a:extLst xmlns:a="http://schemas.openxmlformats.org/drawingml/2006/main">
              <a:ext uri="{FF2B5EF4-FFF2-40B4-BE49-F238E27FC236}">
                <a16:creationId xmlns:a16="http://schemas.microsoft.com/office/drawing/2014/main" id="{B1DD9CE8-A540-47DF-9A61-0E611F19EB0F}"/>
              </a:ext>
            </a:extLst>
          </p:cNvPr>
          <p:cNvSpPr>
            <a:spLocks xmlns:a="http://schemas.openxmlformats.org/drawingml/2006/main" noGrp="1"/>
          </p:cNvSpPr>
          <p:nvPr/>
        </p:nvSpPr>
        <p:spPr>
          <a:xfrm xmlns:a="http://schemas.openxmlformats.org/drawingml/2006/main">
            <a:off x="6477000" y="1476375"/>
            <a:ext cx="5105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52A43"/>
                </a:solidFill>
                <a:latin typeface="Arial"/>
                <a:ea typeface="Arial"/>
                <a:cs typeface="Arial"/>
              </a:defRPr>
            </a:defPPr>
            <a:lvl1pPr>
              <a:buNone/>
              <a:defRPr sz="2325" b="1">
                <a:solidFill>
                  <a:srgbClr val="152A43"/>
                </a:solidFill>
                <a:latin typeface="Arial"/>
                <a:ea typeface="Arial"/>
                <a:cs typeface="Arial"/>
              </a:defRPr>
            </a:lvl1pPr>
            <a:lvl2pPr>
              <a:buNone/>
              <a:defRPr sz="2325" b="1">
                <a:solidFill>
                  <a:srgbClr val="152A43"/>
                </a:solidFill>
                <a:latin typeface="Arial"/>
                <a:ea typeface="Arial"/>
                <a:cs typeface="Arial"/>
              </a:defRPr>
            </a:lvl2pPr>
            <a:lvl3pPr>
              <a:buNone/>
              <a:defRPr sz="2325" b="1">
                <a:solidFill>
                  <a:srgbClr val="152A43"/>
                </a:solidFill>
                <a:latin typeface="Arial"/>
                <a:ea typeface="Arial"/>
                <a:cs typeface="Arial"/>
              </a:defRPr>
            </a:lvl3pPr>
            <a:lvl4pPr>
              <a:buNone/>
              <a:defRPr sz="2325" b="1">
                <a:solidFill>
                  <a:srgbClr val="152A43"/>
                </a:solidFill>
                <a:latin typeface="Arial"/>
                <a:ea typeface="Arial"/>
                <a:cs typeface="Arial"/>
              </a:defRPr>
            </a:lvl4pPr>
            <a:lvl5pPr>
              <a:buNone/>
              <a:defRPr sz="2325" b="1">
                <a:solidFill>
                  <a:srgbClr val="152A43"/>
                </a:solidFill>
                <a:latin typeface="Arial"/>
                <a:ea typeface="Arial"/>
                <a:cs typeface="Arial"/>
              </a:defRPr>
            </a:lvl5pPr>
            <a:lvl6pPr>
              <a:buNone/>
              <a:defRPr sz="2325" b="1">
                <a:solidFill>
                  <a:srgbClr val="152A43"/>
                </a:solidFill>
                <a:latin typeface="Arial"/>
                <a:ea typeface="Arial"/>
                <a:cs typeface="Arial"/>
              </a:defRPr>
            </a:lvl6pPr>
            <a:lvl7pPr>
              <a:buNone/>
              <a:defRPr sz="2325" b="1">
                <a:solidFill>
                  <a:srgbClr val="152A43"/>
                </a:solidFill>
                <a:latin typeface="Arial"/>
                <a:ea typeface="Arial"/>
                <a:cs typeface="Arial"/>
              </a:defRPr>
            </a:lvl7pPr>
            <a:lvl8pPr>
              <a:buNone/>
              <a:defRPr sz="2325" b="1">
                <a:solidFill>
                  <a:srgbClr val="152A43"/>
                </a:solidFill>
                <a:latin typeface="Arial"/>
                <a:ea typeface="Arial"/>
                <a:cs typeface="Arial"/>
              </a:defRPr>
            </a:lvl8pPr>
            <a:lvl9pPr>
              <a:buNone/>
              <a:defRPr sz="2325" b="1">
                <a:solidFill>
                  <a:srgbClr val="152A43"/>
                </a:solidFill>
                <a:latin typeface="Arial"/>
                <a:ea typeface="Arial"/>
                <a:cs typeface="Arial"/>
              </a:defRPr>
            </a:lvl9pPr>
          </a:lstStyle>
          <a:p xmlns:a="http://schemas.openxmlformats.org/drawingml/2006/main">
            <a:pPr>
              <a:buNone/>
              <a:defRPr sz="2325" b="1">
                <a:solidFill>
                  <a:srgbClr val="152A43"/>
                </a:solidFill>
                <a:latin typeface="Arial"/>
                <a:ea typeface="Arial"/>
                <a:cs typeface="Arial"/>
              </a:defRPr>
            </a:pPr>
            <a:r>
              <a:rPr sz="2325" b="1">
                <a:solidFill>
                  <a:srgbClr val="152A43"/>
                </a:solidFill>
                <a:latin typeface="Arial"/>
                <a:ea typeface="Arial"/>
                <a:cs typeface="Arial"/>
              </a:rPr>
              <a:t>Development comparison</a:t>
            </a:r>
          </a:p>
        </p:txBody>
      </p:sp>
      <p:sp>
        <p:nvSpPr>
          <p:cNvPr id="7" name="">
            <a:extLst xmlns:a="http://schemas.openxmlformats.org/drawingml/2006/main">
              <a:ext uri="{FF2B5EF4-FFF2-40B4-BE49-F238E27FC236}">
                <a16:creationId xmlns:a16="http://schemas.microsoft.com/office/drawing/2014/main" id="{81735D51-3855-49B1-9208-E2FCB1E23592}"/>
              </a:ext>
            </a:extLst>
          </p:cNvPr>
          <p:cNvSpPr>
            <a:spLocks xmlns:a="http://schemas.openxmlformats.org/drawingml/2006/main" noGrp="1"/>
          </p:cNvSpPr>
          <p:nvPr/>
        </p:nvSpPr>
        <p:spPr>
          <a:xfrm xmlns:a="http://schemas.openxmlformats.org/drawingml/2006/main">
            <a:off x="6477000" y="3886200"/>
            <a:ext cx="5105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52A43"/>
                </a:solidFill>
                <a:latin typeface="Arial"/>
                <a:ea typeface="Arial"/>
                <a:cs typeface="Arial"/>
              </a:defRPr>
            </a:defPPr>
            <a:lvl1pPr>
              <a:buNone/>
              <a:defRPr sz="2250" b="1">
                <a:solidFill>
                  <a:srgbClr val="152A43"/>
                </a:solidFill>
                <a:latin typeface="Arial"/>
                <a:ea typeface="Arial"/>
                <a:cs typeface="Arial"/>
              </a:defRPr>
            </a:lvl1pPr>
            <a:lvl2pPr>
              <a:buNone/>
              <a:defRPr sz="2250" b="1">
                <a:solidFill>
                  <a:srgbClr val="152A43"/>
                </a:solidFill>
                <a:latin typeface="Arial"/>
                <a:ea typeface="Arial"/>
                <a:cs typeface="Arial"/>
              </a:defRPr>
            </a:lvl2pPr>
            <a:lvl3pPr>
              <a:buNone/>
              <a:defRPr sz="2250" b="1">
                <a:solidFill>
                  <a:srgbClr val="152A43"/>
                </a:solidFill>
                <a:latin typeface="Arial"/>
                <a:ea typeface="Arial"/>
                <a:cs typeface="Arial"/>
              </a:defRPr>
            </a:lvl3pPr>
            <a:lvl4pPr>
              <a:buNone/>
              <a:defRPr sz="2250" b="1">
                <a:solidFill>
                  <a:srgbClr val="152A43"/>
                </a:solidFill>
                <a:latin typeface="Arial"/>
                <a:ea typeface="Arial"/>
                <a:cs typeface="Arial"/>
              </a:defRPr>
            </a:lvl4pPr>
            <a:lvl5pPr>
              <a:buNone/>
              <a:defRPr sz="2250" b="1">
                <a:solidFill>
                  <a:srgbClr val="152A43"/>
                </a:solidFill>
                <a:latin typeface="Arial"/>
                <a:ea typeface="Arial"/>
                <a:cs typeface="Arial"/>
              </a:defRPr>
            </a:lvl5pPr>
            <a:lvl6pPr>
              <a:buNone/>
              <a:defRPr sz="2250" b="1">
                <a:solidFill>
                  <a:srgbClr val="152A43"/>
                </a:solidFill>
                <a:latin typeface="Arial"/>
                <a:ea typeface="Arial"/>
                <a:cs typeface="Arial"/>
              </a:defRPr>
            </a:lvl6pPr>
            <a:lvl7pPr>
              <a:buNone/>
              <a:defRPr sz="2250" b="1">
                <a:solidFill>
                  <a:srgbClr val="152A43"/>
                </a:solidFill>
                <a:latin typeface="Arial"/>
                <a:ea typeface="Arial"/>
                <a:cs typeface="Arial"/>
              </a:defRPr>
            </a:lvl7pPr>
            <a:lvl8pPr>
              <a:buNone/>
              <a:defRPr sz="2250" b="1">
                <a:solidFill>
                  <a:srgbClr val="152A43"/>
                </a:solidFill>
                <a:latin typeface="Arial"/>
                <a:ea typeface="Arial"/>
                <a:cs typeface="Arial"/>
              </a:defRPr>
            </a:lvl8pPr>
            <a:lvl9pPr>
              <a:buNone/>
              <a:defRPr sz="2250" b="1">
                <a:solidFill>
                  <a:srgbClr val="152A43"/>
                </a:solidFill>
                <a:latin typeface="Arial"/>
                <a:ea typeface="Arial"/>
                <a:cs typeface="Arial"/>
              </a:defRPr>
            </a:lvl9pPr>
          </a:lstStyle>
          <a:p xmlns:a="http://schemas.openxmlformats.org/drawingml/2006/main">
            <a:pPr>
              <a:buNone/>
              <a:defRPr sz="2250" b="1">
                <a:solidFill>
                  <a:srgbClr val="152A43"/>
                </a:solidFill>
                <a:latin typeface="Arial"/>
                <a:ea typeface="Arial"/>
                <a:cs typeface="Arial"/>
              </a:defRPr>
            </a:pPr>
            <a:r>
              <a:rPr sz="2250" b="1">
                <a:solidFill>
                  <a:srgbClr val="152A43"/>
                </a:solidFill>
                <a:latin typeface="Arial"/>
                <a:ea typeface="Arial"/>
                <a:cs typeface="Arial"/>
              </a:rPr>
              <a:t>Interpretation</a:t>
            </a:r>
          </a:p>
        </p:txBody>
      </p:sp>
      <p:sp>
        <p:nvSpPr>
          <p:cNvPr id="8" name="">
            <a:extLst xmlns:a="http://schemas.openxmlformats.org/drawingml/2006/main">
              <a:ext uri="{FF2B5EF4-FFF2-40B4-BE49-F238E27FC236}">
                <a16:creationId xmlns:a16="http://schemas.microsoft.com/office/drawing/2014/main" id="{B588CD48-CB06-41EB-9976-3AEF5B08A817}"/>
              </a:ext>
            </a:extLst>
          </p:cNvPr>
          <p:cNvSpPr>
            <a:spLocks xmlns:a="http://schemas.openxmlformats.org/drawingml/2006/main" noGrp="1"/>
          </p:cNvSpPr>
          <p:nvPr/>
        </p:nvSpPr>
        <p:spPr>
          <a:xfrm xmlns:a="http://schemas.openxmlformats.org/drawingml/2006/main">
            <a:off x="6477000" y="4457700"/>
            <a:ext cx="51054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2A43"/>
                </a:solidFill>
                <a:latin typeface="Arial"/>
                <a:ea typeface="Arial"/>
                <a:cs typeface="Arial"/>
              </a:defRPr>
            </a:defPPr>
            <a:lvl1pPr>
              <a:buNone/>
              <a:defRPr sz="2025" b="0">
                <a:solidFill>
                  <a:srgbClr val="152A43"/>
                </a:solidFill>
                <a:latin typeface="Arial"/>
                <a:ea typeface="Arial"/>
                <a:cs typeface="Arial"/>
              </a:defRPr>
            </a:lvl1pPr>
            <a:lvl2pPr>
              <a:buNone/>
              <a:defRPr sz="2025" b="0">
                <a:solidFill>
                  <a:srgbClr val="152A43"/>
                </a:solidFill>
                <a:latin typeface="Arial"/>
                <a:ea typeface="Arial"/>
                <a:cs typeface="Arial"/>
              </a:defRPr>
            </a:lvl2pPr>
            <a:lvl3pPr>
              <a:buNone/>
              <a:defRPr sz="2025" b="0">
                <a:solidFill>
                  <a:srgbClr val="152A43"/>
                </a:solidFill>
                <a:latin typeface="Arial"/>
                <a:ea typeface="Arial"/>
                <a:cs typeface="Arial"/>
              </a:defRPr>
            </a:lvl3pPr>
            <a:lvl4pPr>
              <a:buNone/>
              <a:defRPr sz="2025" b="0">
                <a:solidFill>
                  <a:srgbClr val="152A43"/>
                </a:solidFill>
                <a:latin typeface="Arial"/>
                <a:ea typeface="Arial"/>
                <a:cs typeface="Arial"/>
              </a:defRPr>
            </a:lvl4pPr>
            <a:lvl5pPr>
              <a:buNone/>
              <a:defRPr sz="2025" b="0">
                <a:solidFill>
                  <a:srgbClr val="152A43"/>
                </a:solidFill>
                <a:latin typeface="Arial"/>
                <a:ea typeface="Arial"/>
                <a:cs typeface="Arial"/>
              </a:defRPr>
            </a:lvl5pPr>
            <a:lvl6pPr>
              <a:buNone/>
              <a:defRPr sz="2025" b="0">
                <a:solidFill>
                  <a:srgbClr val="152A43"/>
                </a:solidFill>
                <a:latin typeface="Arial"/>
                <a:ea typeface="Arial"/>
                <a:cs typeface="Arial"/>
              </a:defRPr>
            </a:lvl6pPr>
            <a:lvl7pPr>
              <a:buNone/>
              <a:defRPr sz="2025" b="0">
                <a:solidFill>
                  <a:srgbClr val="152A43"/>
                </a:solidFill>
                <a:latin typeface="Arial"/>
                <a:ea typeface="Arial"/>
                <a:cs typeface="Arial"/>
              </a:defRPr>
            </a:lvl7pPr>
            <a:lvl8pPr>
              <a:buNone/>
              <a:defRPr sz="2025" b="0">
                <a:solidFill>
                  <a:srgbClr val="152A43"/>
                </a:solidFill>
                <a:latin typeface="Arial"/>
                <a:ea typeface="Arial"/>
                <a:cs typeface="Arial"/>
              </a:defRPr>
            </a:lvl8pPr>
            <a:lvl9pPr>
              <a:buNone/>
              <a:defRPr sz="2025" b="0">
                <a:solidFill>
                  <a:srgbClr val="152A43"/>
                </a:solidFill>
                <a:latin typeface="Arial"/>
                <a:ea typeface="Arial"/>
                <a:cs typeface="Arial"/>
              </a:defRPr>
            </a:lvl9pPr>
          </a:lstStyle>
          <a:p xmlns:a="http://schemas.openxmlformats.org/drawingml/2006/main">
            <a:pPr>
              <a:buNone/>
              <a:defRPr sz="2025" b="0">
                <a:solidFill>
                  <a:srgbClr val="152A43"/>
                </a:solidFill>
                <a:latin typeface="Arial"/>
                <a:ea typeface="Arial"/>
                <a:cs typeface="Arial"/>
              </a:defRPr>
            </a:pPr>
            <a:r>
              <a:rPr sz="2025" b="0">
                <a:solidFill>
                  <a:srgbClr val="152A43"/>
                </a:solidFill>
                <a:latin typeface="Arial"/>
                <a:ea typeface="Arial"/>
                <a:cs typeface="Arial"/>
              </a:rPr>
              <a:t>No benefit in this pair</a:t>
            </a:r>
          </a:p>
          <a:p xmlns:a="http://schemas.openxmlformats.org/drawingml/2006/main">
            <a:pPr>
              <a:buNone/>
              <a:defRPr sz="2025" b="0">
                <a:solidFill>
                  <a:srgbClr val="152A43"/>
                </a:solidFill>
                <a:latin typeface="Arial"/>
                <a:ea typeface="Arial"/>
                <a:cs typeface="Arial"/>
              </a:defRPr>
            </a:pPr>
            <a:r>
              <a:rPr sz="2025" b="0">
                <a:solidFill>
                  <a:srgbClr val="152A43"/>
                </a:solidFill>
                <a:latin typeface="Arial"/>
                <a:ea typeface="Arial"/>
                <a:cs typeface="Arial"/>
              </a:rPr>
              <a:t>ON stayed in the Sn-Sr region</a:t>
            </a:r>
          </a:p>
          <a:p xmlns:a="http://schemas.openxmlformats.org/drawingml/2006/main">
            <a:pPr>
              <a:buNone/>
              <a:defRPr sz="2025" b="0">
                <a:solidFill>
                  <a:srgbClr val="152A43"/>
                </a:solidFill>
                <a:latin typeface="Arial"/>
                <a:ea typeface="Arial"/>
                <a:cs typeface="Arial"/>
              </a:defRPr>
            </a:pPr>
            <a:r>
              <a:rPr sz="2025" b="0">
                <a:solidFill>
                  <a:srgbClr val="152A43"/>
                </a:solidFill>
                <a:latin typeface="Arial"/>
                <a:ea typeface="Arial"/>
                <a:cs typeface="Arial"/>
              </a:rPr>
              <a:t>Full-agent ablation after freeze</a:t>
            </a:r>
          </a:p>
        </p:txBody>
      </p:sp>
      <p:sp>
        <p:nvSpPr>
          <p:cNvPr id="9" name="">
            <a:extLst xmlns:a="http://schemas.openxmlformats.org/drawingml/2006/main">
              <a:ext uri="{FF2B5EF4-FFF2-40B4-BE49-F238E27FC236}">
                <a16:creationId xmlns:a16="http://schemas.microsoft.com/office/drawing/2014/main" id="{A98D30F2-BADD-4938-8E4F-F0796B91EF85}"/>
              </a:ext>
            </a:extLst>
          </p:cNvPr>
          <p:cNvSpPr>
            <a:spLocks xmlns:a="http://schemas.openxmlformats.org/drawingml/2006/main" noGrp="1"/>
          </p:cNvSpPr>
          <p:nvPr/>
        </p:nvSpPr>
        <p:spPr>
          <a:xfrm xmlns:a="http://schemas.openxmlformats.org/drawingml/2006/main">
            <a:off x="6477000" y="6067425"/>
            <a:ext cx="5105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7C4614"/>
                </a:solidFill>
                <a:latin typeface="Arial"/>
                <a:ea typeface="Arial"/>
                <a:cs typeface="Arial"/>
              </a:defRPr>
            </a:defPPr>
            <a:lvl1pPr>
              <a:buNone/>
              <a:defRPr sz="1875" b="1">
                <a:solidFill>
                  <a:srgbClr val="7C4614"/>
                </a:solidFill>
                <a:latin typeface="Arial"/>
                <a:ea typeface="Arial"/>
                <a:cs typeface="Arial"/>
              </a:defRPr>
            </a:lvl1pPr>
            <a:lvl2pPr>
              <a:buNone/>
              <a:defRPr sz="1875" b="1">
                <a:solidFill>
                  <a:srgbClr val="7C4614"/>
                </a:solidFill>
                <a:latin typeface="Arial"/>
                <a:ea typeface="Arial"/>
                <a:cs typeface="Arial"/>
              </a:defRPr>
            </a:lvl2pPr>
            <a:lvl3pPr>
              <a:buNone/>
              <a:defRPr sz="1875" b="1">
                <a:solidFill>
                  <a:srgbClr val="7C4614"/>
                </a:solidFill>
                <a:latin typeface="Arial"/>
                <a:ea typeface="Arial"/>
                <a:cs typeface="Arial"/>
              </a:defRPr>
            </a:lvl3pPr>
            <a:lvl4pPr>
              <a:buNone/>
              <a:defRPr sz="1875" b="1">
                <a:solidFill>
                  <a:srgbClr val="7C4614"/>
                </a:solidFill>
                <a:latin typeface="Arial"/>
                <a:ea typeface="Arial"/>
                <a:cs typeface="Arial"/>
              </a:defRPr>
            </a:lvl4pPr>
            <a:lvl5pPr>
              <a:buNone/>
              <a:defRPr sz="1875" b="1">
                <a:solidFill>
                  <a:srgbClr val="7C4614"/>
                </a:solidFill>
                <a:latin typeface="Arial"/>
                <a:ea typeface="Arial"/>
                <a:cs typeface="Arial"/>
              </a:defRPr>
            </a:lvl5pPr>
            <a:lvl6pPr>
              <a:buNone/>
              <a:defRPr sz="1875" b="1">
                <a:solidFill>
                  <a:srgbClr val="7C4614"/>
                </a:solidFill>
                <a:latin typeface="Arial"/>
                <a:ea typeface="Arial"/>
                <a:cs typeface="Arial"/>
              </a:defRPr>
            </a:lvl6pPr>
            <a:lvl7pPr>
              <a:buNone/>
              <a:defRPr sz="1875" b="1">
                <a:solidFill>
                  <a:srgbClr val="7C4614"/>
                </a:solidFill>
                <a:latin typeface="Arial"/>
                <a:ea typeface="Arial"/>
                <a:cs typeface="Arial"/>
              </a:defRPr>
            </a:lvl7pPr>
            <a:lvl8pPr>
              <a:buNone/>
              <a:defRPr sz="1875" b="1">
                <a:solidFill>
                  <a:srgbClr val="7C4614"/>
                </a:solidFill>
                <a:latin typeface="Arial"/>
                <a:ea typeface="Arial"/>
                <a:cs typeface="Arial"/>
              </a:defRPr>
            </a:lvl8pPr>
            <a:lvl9pPr>
              <a:buNone/>
              <a:defRPr sz="1875" b="1">
                <a:solidFill>
                  <a:srgbClr val="7C4614"/>
                </a:solidFill>
                <a:latin typeface="Arial"/>
                <a:ea typeface="Arial"/>
                <a:cs typeface="Arial"/>
              </a:defRPr>
            </a:lvl9pPr>
          </a:lstStyle>
          <a:p xmlns:a="http://schemas.openxmlformats.org/drawingml/2006/main">
            <a:pPr>
              <a:buNone/>
              <a:defRPr sz="1875" b="1">
                <a:solidFill>
                  <a:srgbClr val="7C4614"/>
                </a:solidFill>
                <a:latin typeface="Arial"/>
                <a:ea typeface="Arial"/>
                <a:cs typeface="Arial"/>
              </a:defRPr>
            </a:pPr>
            <a:r>
              <a:rPr sz="1875" b="1">
                <a:solidFill>
                  <a:srgbClr val="7C4614"/>
                </a:solidFill>
                <a:latin typeface="Arial"/>
                <a:ea typeface="Arial"/>
                <a:cs typeface="Arial"/>
              </a:rPr>
              <a:t>Draft results. Final comparison pending.</a:t>
            </a:r>
          </a:p>
        </p:txBody>
      </p:sp>
      <p:graphicFrame>
        <p:nvGraphicFramePr>
          <p:cNvPr id="11" name="">
            <a:extLst xmlns:a="http://schemas.openxmlformats.org/drawingml/2006/main">
              <a:ext uri="{FF2B5EF4-FFF2-40B4-BE49-F238E27FC236}">
                <a16:creationId xmlns:a16="http://schemas.microsoft.com/office/drawing/2014/main" id="{15EC0710-1BA5-415D-914A-242574B3D030}"/>
              </a:ext>
            </a:extLst>
          </p:cNvPr>
          <p:cNvGraphicFramePr/>
          <p:nvPr/>
        </p:nvGraphicFramePr>
        <p:xfrm>
          <a:off xmlns:a="http://schemas.openxmlformats.org/drawingml/2006/main" x="6477000" y="2047875"/>
          <a:ext xmlns:a="http://schemas.openxmlformats.org/drawingml/2006/main" cx="5105400" cy="1562100"/>
        </p:xfrm>
        <a:graphic xmlns:a="http://schemas.openxmlformats.org/drawingml/2006/main">
          <a:graphicData uri="http://schemas.openxmlformats.org/drawingml/2006/table">
            <a:tbl>
              <a:tblPr/>
              <a:tblGrid>
                <a:gridCol w="2190750"/>
                <a:gridCol w="1457325"/>
                <a:gridCol w="1457325"/>
              </a:tblGrid>
              <a:tr h="520700">
                <a:tc>
                  <a:txBody>
                    <a:bodyPr/>
                    <a:lstStyle/>
                    <a:p>
                      <a:r>
                        <a:rPr sz="1950" b="1">
                          <a:solidFill>
                            <a:srgbClr val="FFFFFF"/>
                          </a:solidFill>
                          <a:latin typeface="Arial"/>
                          <a:ea typeface="Arial"/>
                          <a:cs typeface="Arial"/>
                        </a:rPr>
                        <a:t>Metric</a:t>
                      </a:r>
                    </a:p>
                  </a:txBody>
                  <a:tcPr marL="91440" marR="91440" marT="45720" marB="45720">
                    <a:lnL w="9525">
                      <a:solidFill>
                        <a:srgbClr val="D6DEE6"/>
                      </a:solidFill>
                      <a:prstDash val="solid"/>
                    </a:lnL>
                    <a:lnR w="9525">
                      <a:solidFill>
                        <a:srgbClr val="D6DEE6"/>
                      </a:solidFill>
                      <a:prstDash val="solid"/>
                    </a:lnR>
                    <a:lnT w="9525">
                      <a:solidFill>
                        <a:srgbClr val="D6DEE6"/>
                      </a:solidFill>
                      <a:prstDash val="solid"/>
                    </a:lnT>
                    <a:lnB w="9525">
                      <a:solidFill>
                        <a:srgbClr val="D6DEE6"/>
                      </a:solidFill>
                      <a:prstDash val="solid"/>
                    </a:lnB>
                    <a:solidFill>
                      <a:srgbClr val="152A43"/>
                    </a:solidFill>
                  </a:tcPr>
                </a:tc>
                <a:tc>
                  <a:txBody>
                    <a:bodyPr/>
                    <a:lstStyle/>
                    <a:p>
                      <a:r>
                        <a:rPr sz="1950" b="1">
                          <a:solidFill>
                            <a:srgbClr val="FFFFFF"/>
                          </a:solidFill>
                          <a:latin typeface="Arial"/>
                          <a:ea typeface="Arial"/>
                          <a:cs typeface="Arial"/>
                        </a:rPr>
                        <a:t>ON</a:t>
                      </a:r>
                    </a:p>
                  </a:txBody>
                  <a:tcPr marL="91440" marR="91440" marT="45720" marB="45720">
                    <a:lnR w="9525">
                      <a:solidFill>
                        <a:srgbClr val="D6DEE6"/>
                      </a:solidFill>
                      <a:prstDash val="solid"/>
                    </a:lnR>
                    <a:lnT w="9525">
                      <a:solidFill>
                        <a:srgbClr val="D6DEE6"/>
                      </a:solidFill>
                      <a:prstDash val="solid"/>
                    </a:lnT>
                    <a:lnB w="9525">
                      <a:solidFill>
                        <a:srgbClr val="D6DEE6"/>
                      </a:solidFill>
                      <a:prstDash val="solid"/>
                    </a:lnB>
                    <a:solidFill>
                      <a:srgbClr val="152A43"/>
                    </a:solidFill>
                  </a:tcPr>
                </a:tc>
                <a:tc>
                  <a:txBody>
                    <a:bodyPr/>
                    <a:lstStyle/>
                    <a:p>
                      <a:r>
                        <a:rPr sz="1950" b="1">
                          <a:solidFill>
                            <a:srgbClr val="FFFFFF"/>
                          </a:solidFill>
                          <a:latin typeface="Arial"/>
                          <a:ea typeface="Arial"/>
                          <a:cs typeface="Arial"/>
                        </a:rPr>
                        <a:t>OFF</a:t>
                      </a:r>
                    </a:p>
                  </a:txBody>
                  <a:tcPr marL="91440" marR="91440" marT="45720" marB="45720">
                    <a:lnR w="9525">
                      <a:solidFill>
                        <a:srgbClr val="D6DEE6"/>
                      </a:solidFill>
                      <a:prstDash val="solid"/>
                    </a:lnR>
                    <a:lnT w="9525">
                      <a:solidFill>
                        <a:srgbClr val="D6DEE6"/>
                      </a:solidFill>
                      <a:prstDash val="solid"/>
                    </a:lnT>
                    <a:lnB w="9525">
                      <a:solidFill>
                        <a:srgbClr val="D6DEE6"/>
                      </a:solidFill>
                      <a:prstDash val="solid"/>
                    </a:lnB>
                    <a:solidFill>
                      <a:srgbClr val="152A43"/>
                    </a:solidFill>
                  </a:tcPr>
                </a:tc>
              </a:tr>
              <a:tr h="520700">
                <a:tc>
                  <a:txBody>
                    <a:bodyPr/>
                    <a:lstStyle/>
                    <a:p>
                      <a:r>
                        <a:rPr sz="1950" b="0">
                          <a:solidFill>
                            <a:srgbClr val="152A43"/>
                          </a:solidFill>
                          <a:latin typeface="Arial"/>
                          <a:ea typeface="Arial"/>
                          <a:cs typeface="Arial"/>
                        </a:rPr>
                        <a:t>mSUN@20</a:t>
                      </a:r>
                    </a:p>
                  </a:txBody>
                  <a:tcPr marL="91440" marR="91440" marT="45720" marB="45720">
                    <a:lnL w="9525">
                      <a:solidFill>
                        <a:srgbClr val="D6DEE6"/>
                      </a:solidFill>
                      <a:prstDash val="solid"/>
                    </a:lnL>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7</a:t>
                      </a:r>
                    </a:p>
                  </a:txBody>
                  <a:tcPr marL="91440" marR="91440" marT="45720" marB="45720">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8</a:t>
                      </a:r>
                    </a:p>
                  </a:txBody>
                  <a:tcPr marL="91440" marR="91440" marT="45720" marB="45720">
                    <a:lnR w="9525">
                      <a:solidFill>
                        <a:srgbClr val="D6DEE6"/>
                      </a:solidFill>
                      <a:prstDash val="solid"/>
                    </a:lnR>
                    <a:lnB w="9525">
                      <a:solidFill>
                        <a:srgbClr val="D6DEE6"/>
                      </a:solidFill>
                      <a:prstDash val="solid"/>
                    </a:lnB>
                    <a:solidFill>
                      <a:srgbClr val="FFFFFF"/>
                    </a:solidFill>
                  </a:tcPr>
                </a:tc>
              </a:tr>
              <a:tr h="520700">
                <a:tc>
                  <a:txBody>
                    <a:bodyPr/>
                    <a:lstStyle/>
                    <a:p>
                      <a:r>
                        <a:rPr sz="1950" b="0">
                          <a:solidFill>
                            <a:srgbClr val="152A43"/>
                          </a:solidFill>
                          <a:latin typeface="Arial"/>
                          <a:ea typeface="Arial"/>
                          <a:cs typeface="Arial"/>
                        </a:rPr>
                        <a:t>AUDC</a:t>
                      </a:r>
                    </a:p>
                  </a:txBody>
                  <a:tcPr marL="91440" marR="91440" marT="45720" marB="45720">
                    <a:lnL w="9525">
                      <a:solidFill>
                        <a:srgbClr val="D6DEE6"/>
                      </a:solidFill>
                      <a:prstDash val="solid"/>
                    </a:lnL>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68.5</a:t>
                      </a:r>
                    </a:p>
                  </a:txBody>
                  <a:tcPr marL="91440" marR="91440" marT="45720" marB="45720">
                    <a:lnR w="9525">
                      <a:solidFill>
                        <a:srgbClr val="D6DEE6"/>
                      </a:solidFill>
                      <a:prstDash val="solid"/>
                    </a:lnR>
                    <a:lnB w="9525">
                      <a:solidFill>
                        <a:srgbClr val="D6DEE6"/>
                      </a:solidFill>
                      <a:prstDash val="solid"/>
                    </a:lnB>
                    <a:solidFill>
                      <a:srgbClr val="FFFFFF"/>
                    </a:solidFill>
                  </a:tcPr>
                </a:tc>
                <a:tc>
                  <a:txBody>
                    <a:bodyPr/>
                    <a:lstStyle/>
                    <a:p>
                      <a:r>
                        <a:rPr sz="1950" b="0">
                          <a:solidFill>
                            <a:srgbClr val="152A43"/>
                          </a:solidFill>
                          <a:latin typeface="Arial"/>
                          <a:ea typeface="Arial"/>
                          <a:cs typeface="Arial"/>
                        </a:rPr>
                        <a:t>76.0</a:t>
                      </a:r>
                    </a:p>
                  </a:txBody>
                  <a:tcPr marL="91440" marR="91440" marT="45720" marB="45720">
                    <a:lnR w="9525">
                      <a:solidFill>
                        <a:srgbClr val="D6DEE6"/>
                      </a:solidFill>
                      <a:prstDash val="solid"/>
                    </a:lnR>
                    <a:lnB w="9525">
                      <a:solidFill>
                        <a:srgbClr val="D6DEE6"/>
                      </a:solidFill>
                      <a:prstDash val="solid"/>
                    </a:lnB>
                    <a:solidFill>
                      <a:srgbClr val="FFFFFF"/>
                    </a:solidFill>
                  </a:tcPr>
                </a:tc>
              </a:tr>
            </a:tbl>
          </a:graphicData>
        </a:graphic>
      </p:graphicFrame>
    </p:spTree>
    <p:extLst>
      <p:ext uri="{BB962C8B-B14F-4D97-AF65-F5344CB8AC3E}">
        <p14:creationId xmlns:p14="http://schemas.microsoft.com/office/powerpoint/2010/main" val="9365150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2026-10-21T10:26:02.0310000Z</dcterms:created>
  <dcterms:modified xsi:type="dcterms:W3CDTF">2026-10-21T10:26:02.0310000Z</dcterms:modified>
</coreProperties>
</file>