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a8c5a657a8f4061" /><Relationship Type="http://schemas.openxmlformats.org/officeDocument/2006/relationships/extended-properties" Target="/docProps/app.xml" Id="R0b0e2f23d6ca4929" /><Relationship Type="http://schemas.openxmlformats.org/officeDocument/2006/relationships/officeDocument" Target="/ppt/presentation.xml" Id="Rd14bdb1837a14368" /></Relationships>
</file>

<file path=ppt/presentation.xml><?xml version="1.0" encoding="utf-8"?>
<p:presentation xmlns:p="http://schemas.openxmlformats.org/presentationml/2006/main">
  <p:sldMasterIdLst>
    <p:sldMasterId xmlns:r="http://schemas.openxmlformats.org/officeDocument/2006/relationships" id="2147483648" r:id="R2365408596864eb3"/>
  </p:sldMasterIdLst>
  <p:notesMasterIdLst>
    <p:notesMasterId xmlns:r="http://schemas.openxmlformats.org/officeDocument/2006/relationships" r:id="R66fb8d4fd33246aa"/>
  </p:notesMasterIdLst>
  <p:sldIdLst>
    <p:sldId xmlns:r="http://schemas.openxmlformats.org/officeDocument/2006/relationships" id="256" r:id="R997adab88b0e4619"/>
    <p:sldId xmlns:r="http://schemas.openxmlformats.org/officeDocument/2006/relationships" id="257" r:id="R8860ace72db94e00"/>
    <p:sldId xmlns:r="http://schemas.openxmlformats.org/officeDocument/2006/relationships" id="258" r:id="Rb63e8f6fcd7c4a3d"/>
    <p:sldId xmlns:r="http://schemas.openxmlformats.org/officeDocument/2006/relationships" id="259" r:id="R903002555774490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b5581f228b242dd" /><Relationship Type="http://schemas.openxmlformats.org/officeDocument/2006/relationships/slideMaster" Target="/ppt/slideMasters/slideMaster1.xml" Id="R2365408596864eb3" /><Relationship Type="http://schemas.openxmlformats.org/officeDocument/2006/relationships/notesMaster" Target="/ppt/notesMasters/notesMaster1.xml" Id="R66fb8d4fd33246aa" /><Relationship Type="http://schemas.openxmlformats.org/officeDocument/2006/relationships/presProps" Target="/ppt/presProps.xml" Id="R495584f4aaea4b29" /><Relationship Type="http://schemas.openxmlformats.org/officeDocument/2006/relationships/tableStyles" Target="/ppt/tableStyles.xml" Id="R06df3f13bbd14ec8" /><Relationship Type="http://schemas.openxmlformats.org/officeDocument/2006/relationships/slide" Target="/ppt/slides/slide1.xml" Id="R997adab88b0e4619" /><Relationship Type="http://schemas.openxmlformats.org/officeDocument/2006/relationships/slide" Target="/ppt/slides/slide2.xml" Id="R8860ace72db94e00" /><Relationship Type="http://schemas.openxmlformats.org/officeDocument/2006/relationships/slide" Target="/ppt/slides/slide3.xml" Id="Rb63e8f6fcd7c4a3d" /><Relationship Type="http://schemas.openxmlformats.org/officeDocument/2006/relationships/slide" Target="/ppt/slides/slide4.xml" Id="R903002555774490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0f62f2b80ea48c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dc005ab04804230" /><Relationship Type="http://schemas.openxmlformats.org/officeDocument/2006/relationships/notesMaster" Target="/ppt/notesMasters/notesMaster1.xml" Id="Rcbbc6ae57d804743" /></Relationships>
</file>

<file path=ppt/notesSlides/_rels/notesSlide2.xml.rels>&#65279;<?xml version="1.0" encoding="utf-8"?><Relationships xmlns="http://schemas.openxmlformats.org/package/2006/relationships"><Relationship Type="http://schemas.openxmlformats.org/officeDocument/2006/relationships/slide" Target="/ppt/slides/slide2.xml" Id="R3f27a4b3e5904a35" /><Relationship Type="http://schemas.openxmlformats.org/officeDocument/2006/relationships/notesMaster" Target="/ppt/notesMasters/notesMaster1.xml" Id="R099059e97e8b4a4d" /></Relationships>
</file>

<file path=ppt/notesSlides/_rels/notesSlide3.xml.rels>&#65279;<?xml version="1.0" encoding="utf-8"?><Relationships xmlns="http://schemas.openxmlformats.org/package/2006/relationships"><Relationship Type="http://schemas.openxmlformats.org/officeDocument/2006/relationships/slide" Target="/ppt/slides/slide3.xml" Id="R1e4ba6cdcaed4128" /><Relationship Type="http://schemas.openxmlformats.org/officeDocument/2006/relationships/notesMaster" Target="/ppt/notesMasters/notesMaster1.xml" Id="R3b9deea771eb44a2" /></Relationships>
</file>

<file path=ppt/notesSlides/_rels/notesSlide4.xml.rels>&#65279;<?xml version="1.0" encoding="utf-8"?><Relationships xmlns="http://schemas.openxmlformats.org/package/2006/relationships"><Relationship Type="http://schemas.openxmlformats.org/officeDocument/2006/relationships/slide" Target="/ppt/slides/slide4.xml" Id="Rd43394d1fb0540cf" /><Relationship Type="http://schemas.openxmlformats.org/officeDocument/2006/relationships/notesMaster" Target="/ppt/notesMasters/notesMaster1.xml" Id="R7da79aa909e042a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We add a router in M1’s existing tool-selection slot. It tries Random and Chemeleon once, then uses public query feedback with an upper-confidence bonus. Stable and new observations earn one, stable-only observations earn a quarter. These rewards are proxies, distinct from mSUN. The final two queries use only the smoothed reward. Seeded ties and JSON checkpoints support reproduction. Routing makes no oracle call. M1 retains all five independent switches. M1 must supply a frozen full-system reference before the routing-off ablation. Source: M2/integration/m2_tool_routing.py and M1/PLUGIN_INTERFACE.md. This slide makes no measured routing-benefit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Random has completed all 18 development units, across six systems and seeds 17, 29 and 43. Chemeleon has one of 18 verified units. These example curves deliberately retain the common Mg-Sn-Sr, seed 17 pair at B=20. Random reaches mSUN 7 and AUDC 55.5, and Chemeleon reaches 16 and 161. Both charts show all official query positions. The complete Random sweep has mSUN mean 4.055555555555555, sample SD 0.6309898162000303, and AUDC mean 40.583333333333336, sample SD 9.458608659722517. These are equal-weight system means within each seed, followed by mean and sample SD over three seeds. No overall Chemeleon score, full-method ranking or measured routing effect is available. Sources: M2/verification/20261020-handoff-audit/report/per_method_summary.csv and the original pair histories. Dev coverage excludes M6 check and hidden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M6 owns public-check and hidden-test evaluation. M2 owns development baselines and offline scoring. Fixed ORB model orb-v3-conservative-inf-omat, FIRE, fmax 0.02, up to 500 steps, cell relaxation enabled. Both official baselines retain the initial candidate pool of 1024 and their scientific inference settings. One env.step is one query. AF/EF are paired by system, seed, budget and compatible scientific configuration. The final system and routing-off variant must use M1’s same frozen version, changing only enable_tool_routing. Sources: M1/protocol/protocol_v1.yaml, M6/PROTOCOL_ADOPTION.md.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The Random row covers the complete 18-unit development sweep. mSUN 4.06 and AUDC 40.58 are rounded equal-weight system means per seed followed by the three-seed mean. Corresponding sample SDs are 0.6309898162000303 and 9.458608659722517. Mean driver time is 959.3567777777778 seconds, or 15.98927962962963 minutes, with SD 36.46789608467416 seconds across seed-level system means. The Chemeleon row is only Mg-Sn-Sr, seed 17: mSUN 16, AUDC 161 and driver time 15767.025 seconds, or 262.78375 minutes. The different coverage prevents an overall method comparison. Known recorded inference fees are USD 0. Compute/electricity, failed attempts and unreported token fields remain unpriced. Dev results do not replace M6 check results. Source: M2/verification/20261020-handoff-audit/report/per_method_summary.csv, per_run.csv and checksum-pinned originals.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116ea13f143438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5d0444a2efe48c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8bf8761c9a8410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a634e4a34cd4cd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f99ec57a60a438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4b31b978fe44d0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D9836D8-5239-42F4-9C49-270CAF96B27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9795288-7B91-428A-BFB8-7BC0668B7E6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78A591C-37C3-4E6B-874F-D3D3FDE6A7A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F748D7A-A391-427C-8B71-EDAF71437DB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628BFDF-3953-4BB3-AE1C-553756C1EAA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F572ED2-70AA-4E8A-A7A6-D20E05C6500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F1199CF-303B-4136-8A92-CD13F01D33D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9A1AC9C-3ED8-4FE2-86E0-C250D5FB005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140D42D-5EED-45B9-97C3-B4A43ED8200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118E51B-93DF-44C6-8B07-263374FE245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9b0f22f22b14b42" /><Relationship Type="http://schemas.openxmlformats.org/officeDocument/2006/relationships/slideLayout" Target="/ppt/slideLayouts/slideLayout1.xml" Id="Rd9d5d99cf19e426f" /><Relationship Type="http://schemas.openxmlformats.org/officeDocument/2006/relationships/slideLayout" Target="/ppt/slideLayouts/slideLayout2.xml" Id="Ref6ab38843b546da" /><Relationship Type="http://schemas.openxmlformats.org/officeDocument/2006/relationships/slideLayout" Target="/ppt/slideLayouts/slideLayout3.xml" Id="Re4131df1fcf14095" /><Relationship Type="http://schemas.openxmlformats.org/officeDocument/2006/relationships/slideLayout" Target="/ppt/slideLayouts/slideLayout4.xml" Id="R9839a571bb0045e4" /><Relationship Type="http://schemas.openxmlformats.org/officeDocument/2006/relationships/slideLayout" Target="/ppt/slideLayouts/slideLayout5.xml" Id="R85f7ecd472b0403f" /><Relationship Type="http://schemas.openxmlformats.org/officeDocument/2006/relationships/slideLayout" Target="/ppt/slideLayouts/slideLayout6.xml" Id="R894b4ee3e49f47b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9d5d99cf19e426f"/>
    <p:sldLayoutId xmlns:r="http://schemas.openxmlformats.org/officeDocument/2006/relationships" id="2147483650" r:id="Ref6ab38843b546da"/>
    <p:sldLayoutId xmlns:r="http://schemas.openxmlformats.org/officeDocument/2006/relationships" id="2147483651" r:id="Re4131df1fcf14095"/>
    <p:sldLayoutId xmlns:r="http://schemas.openxmlformats.org/officeDocument/2006/relationships" id="2147483652" r:id="R9839a571bb0045e4"/>
    <p:sldLayoutId xmlns:r="http://schemas.openxmlformats.org/officeDocument/2006/relationships" id="2147483653" r:id="R85f7ecd472b0403f"/>
    <p:sldLayoutId xmlns:r="http://schemas.openxmlformats.org/officeDocument/2006/relationships" id="2147483654" r:id="R894b4ee3e49f47b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5fee4af6e41459c" /><Relationship Type="http://schemas.openxmlformats.org/officeDocument/2006/relationships/notesSlide" Target="/ppt/notesSlides/notesSlide1.xml" Id="Rd49d170a44124e6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cde1ccf0704403e" /><Relationship Type="http://schemas.openxmlformats.org/officeDocument/2006/relationships/chart" Target="/ppt/slides/charts/chart1.xml" Id="R90c7774a3ad647d2" /><Relationship Type="http://schemas.openxmlformats.org/officeDocument/2006/relationships/chart" Target="/ppt/slides/charts/chart2.xml" Id="R04145b6d63644943" /><Relationship Type="http://schemas.openxmlformats.org/officeDocument/2006/relationships/notesSlide" Target="/ppt/notesSlides/notesSlide2.xml" Id="R969de3f0b512466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2109dda2cc8445c" /><Relationship Type="http://schemas.openxmlformats.org/officeDocument/2006/relationships/notesSlide" Target="/ppt/notesSlides/notesSlide3.xml" Id="R330a0a62b810408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db0b024e601469f" /><Relationship Type="http://schemas.openxmlformats.org/officeDocument/2006/relationships/notesSlide" Target="/ppt/notesSlides/notesSlide4.xml" Id="Rcafe87cf43d341c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a:latin typeface="Bitstream Charter"/>
                <a:ea typeface="Bitstream Charter"/>
                <a:cs typeface="Bitstream Charter"/>
              </a:rPr>
              <a:t>mSUN</a:t>
            </a:r>
          </a:p>
        </c:rich>
      </c:tx>
      <c:overlay val="0"/>
      <c:txPr>
        <a:bodyPr xmlns:a="http://schemas.openxmlformats.org/drawingml/2006/main" anchorCtr="1"/>
        <a:lstStyle xmlns:a="http://schemas.openxmlformats.org/drawingml/2006/main"/>
        <a:p xmlns:a="http://schemas.openxmlformats.org/drawingml/2006/main">
          <a:pPr>
            <a:defRPr sz="1950">
              <a:latin typeface="Bitstream Charter"/>
              <a:ea typeface="Bitstream Charter"/>
              <a:cs typeface="Bitstream Charter"/>
            </a:defRPr>
          </a:pPr>
        </a:p>
      </c:txPr>
    </c:title>
    <c:plotArea>
      <c:lineChart>
        <c:grouping val="standard"/>
        <c:varyColors val="0"/>
        <c:ser>
          <c:idx val="0"/>
          <c:order val="0"/>
          <c:tx>
            <c:v>Chemeleon</c:v>
          </c:tx>
          <c:spPr>
            <a:ln xmlns:a="http://schemas.openxmlformats.org/drawingml/2006/main" w="28575">
              <a:solidFill>
                <a:srgbClr val="087F8C"/>
              </a:solidFill>
              <a:prstDash val="solid"/>
            </a:ln>
          </c:spPr>
          <c:marker>
            <c:symbol val="none"/>
          </c:marker>
          <c:cat>
            <c:numRef>
              <c:f>'Chart Data'!$A$2:$A$22</c:f>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cat>
          <c:val>
            <c:numRef>
              <c:f>'Chart Data'!$B$2:$B$22</c:f>
              <c:numCache>
                <c:formatCode>General</c:formatCode>
                <c:ptCount val="21"/>
                <c:pt idx="0">
                  <c:v>0</c:v>
                </c:pt>
                <c:pt idx="1">
                  <c:v>1</c:v>
                </c:pt>
                <c:pt idx="2">
                  <c:v>2</c:v>
                </c:pt>
                <c:pt idx="3">
                  <c:v>3</c:v>
                </c:pt>
                <c:pt idx="4">
                  <c:v>4</c:v>
                </c:pt>
                <c:pt idx="5">
                  <c:v>4</c:v>
                </c:pt>
                <c:pt idx="6">
                  <c:v>5</c:v>
                </c:pt>
                <c:pt idx="7">
                  <c:v>6</c:v>
                </c:pt>
                <c:pt idx="8">
                  <c:v>7</c:v>
                </c:pt>
                <c:pt idx="9">
                  <c:v>8</c:v>
                </c:pt>
                <c:pt idx="10">
                  <c:v>9</c:v>
                </c:pt>
                <c:pt idx="11">
                  <c:v>9</c:v>
                </c:pt>
                <c:pt idx="12">
                  <c:v>9</c:v>
                </c:pt>
                <c:pt idx="13">
                  <c:v>10</c:v>
                </c:pt>
                <c:pt idx="14">
                  <c:v>11</c:v>
                </c:pt>
                <c:pt idx="15">
                  <c:v>11</c:v>
                </c:pt>
                <c:pt idx="16">
                  <c:v>12</c:v>
                </c:pt>
                <c:pt idx="17">
                  <c:v>13</c:v>
                </c:pt>
                <c:pt idx="18">
                  <c:v>14</c:v>
                </c:pt>
                <c:pt idx="19">
                  <c:v>15</c:v>
                </c:pt>
                <c:pt idx="20">
                  <c:v>16</c:v>
                </c:pt>
              </c:numCache>
            </c:numRef>
          </c:val>
          <c:smooth val="0"/>
        </c:ser>
        <c:ser>
          <c:idx val="1"/>
          <c:order val="1"/>
          <c:tx>
            <c:v>Random</c:v>
          </c:tx>
          <c:spPr>
            <a:ln xmlns:a="http://schemas.openxmlformats.org/drawingml/2006/main" w="28575">
              <a:solidFill>
                <a:srgbClr val="266BCC"/>
              </a:solidFill>
              <a:prstDash val="solid"/>
            </a:ln>
          </c:spPr>
          <c:marker>
            <c:symbol val="none"/>
          </c:marker>
          <c:cat>
            <c:numRef>
              <c:f>'Chart Data'!$C$2:$C$22</c:f>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cat>
          <c:val>
            <c:numRef>
              <c:f>'Chart Data'!$D$2:$D$22</c:f>
              <c:numCache>
                <c:formatCode>General</c:formatCode>
                <c:ptCount val="21"/>
                <c:pt idx="0">
                  <c:v>0</c:v>
                </c:pt>
                <c:pt idx="1">
                  <c:v>0</c:v>
                </c:pt>
                <c:pt idx="2">
                  <c:v>1</c:v>
                </c:pt>
                <c:pt idx="3">
                  <c:v>1</c:v>
                </c:pt>
                <c:pt idx="4">
                  <c:v>1</c:v>
                </c:pt>
                <c:pt idx="5">
                  <c:v>1</c:v>
                </c:pt>
                <c:pt idx="6">
                  <c:v>1</c:v>
                </c:pt>
                <c:pt idx="7">
                  <c:v>1</c:v>
                </c:pt>
                <c:pt idx="8">
                  <c:v>1</c:v>
                </c:pt>
                <c:pt idx="9">
                  <c:v>1</c:v>
                </c:pt>
                <c:pt idx="10">
                  <c:v>1</c:v>
                </c:pt>
                <c:pt idx="11">
                  <c:v>2</c:v>
                </c:pt>
                <c:pt idx="12">
                  <c:v>3</c:v>
                </c:pt>
                <c:pt idx="13">
                  <c:v>4</c:v>
                </c:pt>
                <c:pt idx="14">
                  <c:v>5</c:v>
                </c:pt>
                <c:pt idx="15">
                  <c:v>5</c:v>
                </c:pt>
                <c:pt idx="16">
                  <c:v>5</c:v>
                </c:pt>
                <c:pt idx="17">
                  <c:v>6</c:v>
                </c:pt>
                <c:pt idx="18">
                  <c:v>6</c:v>
                </c:pt>
                <c:pt idx="19">
                  <c:v>7</c:v>
                </c:pt>
                <c:pt idx="20">
                  <c:v>7</c:v>
                </c:pt>
              </c:numCache>
            </c:numRef>
          </c:val>
          <c:smooth val="0"/>
        </c:ser>
        <c:dLbls>
          <c:txPr>
            <a:bodyPr xmlns:a="http://schemas.openxmlformats.org/drawingml/2006/main" anchorCtr="1"/>
            <a:lstStyle xmlns:a="http://schemas.openxmlformats.org/drawingml/2006/main"/>
            <a:p xmlns:a="http://schemas.openxmlformats.org/drawingml/2006/main">
              <a:pPr>
                <a:defRPr>
                  <a:latin typeface="Bitstream Charter"/>
                  <a:ea typeface="Bitstream Charter"/>
                  <a:cs typeface="Bitstream Charter"/>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Bitstream Charter"/>
                    <a:ea typeface="Bitstream Charter"/>
                    <a:cs typeface="Bitstream Charter"/>
                  </a:rPr>
                  <a:t>Oracle queries</a:t>
                </a:r>
              </a:p>
            </c:rich>
          </c:tx>
          <c:overlay val="0"/>
          <c:txPr>
            <a:bodyPr xmlns:a="http://schemas.openxmlformats.org/drawingml/2006/main" anchorCtr="1"/>
            <a:lstStyle xmlns:a="http://schemas.openxmlformats.org/drawingml/2006/main"/>
            <a:p xmlns:a="http://schemas.openxmlformats.org/drawingml/2006/main">
              <a:pPr>
                <a:defRPr>
                  <a:latin typeface="Bitstream Charter"/>
                  <a:ea typeface="Bitstream Charter"/>
                  <a:cs typeface="Bitstream Charter"/>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Bitstream Charter"/>
                <a:ea typeface="Bitstream Charter"/>
                <a:cs typeface="Bitstream Charter"/>
              </a:defRPr>
            </a:pPr>
          </a:p>
        </c:txPr>
        <c:crossAx val="48672768"/>
      </c:catAx>
      <c:valAx>
        <c:axId val="48672768"/>
        <c:scaling>
          <c:orientation val="minMax"/>
          <c:max val="20"/>
          <c:min val="0"/>
        </c:scaling>
        <c:delete val="0"/>
        <c:axPos val="l"/>
        <c:majorGridlines>
          <c:spPr>
            <a:ln xmlns:a="http://schemas.openxmlformats.org/drawingml/2006/main" w="9525">
              <a:solidFill>
                <a:srgbClr val="DFE6EE"/>
              </a:solidFill>
              <a:prstDash val="solid"/>
            </a:ln>
          </c:spPr>
        </c:majorGridlines>
        <c:title>
          <c:tx>
            <c:rich>
              <a:bodyPr xmlns:a="http://schemas.openxmlformats.org/drawingml/2006/main"/>
              <a:lstStyle xmlns:a="http://schemas.openxmlformats.org/drawingml/2006/main"/>
              <a:p xmlns:a="http://schemas.openxmlformats.org/drawingml/2006/main">
                <a:r>
                  <a:rPr>
                    <a:latin typeface="Bitstream Charter"/>
                    <a:ea typeface="Bitstream Charter"/>
                    <a:cs typeface="Bitstream Charter"/>
                  </a:rPr>
                  <a:t>Discovery count</a:t>
                </a:r>
              </a:p>
            </c:rich>
          </c:tx>
          <c:overlay val="0"/>
          <c:txPr>
            <a:bodyPr xmlns:a="http://schemas.openxmlformats.org/drawingml/2006/main" anchorCtr="1"/>
            <a:lstStyle xmlns:a="http://schemas.openxmlformats.org/drawingml/2006/main"/>
            <a:p xmlns:a="http://schemas.openxmlformats.org/drawingml/2006/main">
              <a:pPr>
                <a:defRPr>
                  <a:latin typeface="Bitstream Charter"/>
                  <a:ea typeface="Bitstream Charter"/>
                  <a:cs typeface="Bitstream Charter"/>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Bitstream Charter"/>
                <a:ea typeface="Bitstream Charter"/>
                <a:cs typeface="Bitstream Charter"/>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500">
              <a:latin typeface="Bitstream Charter"/>
              <a:ea typeface="Bitstream Charter"/>
              <a:cs typeface="Bitstream Charter"/>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a:latin typeface="Bitstream Charter"/>
                <a:ea typeface="Bitstream Charter"/>
                <a:cs typeface="Bitstream Charter"/>
              </a:rPr>
              <a:t>Official AUDC source curve</a:t>
            </a:r>
          </a:p>
        </c:rich>
      </c:tx>
      <c:overlay val="0"/>
      <c:txPr>
        <a:bodyPr xmlns:a="http://schemas.openxmlformats.org/drawingml/2006/main" anchorCtr="1"/>
        <a:lstStyle xmlns:a="http://schemas.openxmlformats.org/drawingml/2006/main"/>
        <a:p xmlns:a="http://schemas.openxmlformats.org/drawingml/2006/main">
          <a:pPr>
            <a:defRPr sz="1950">
              <a:latin typeface="Bitstream Charter"/>
              <a:ea typeface="Bitstream Charter"/>
              <a:cs typeface="Bitstream Charter"/>
            </a:defRPr>
          </a:pPr>
        </a:p>
      </c:txPr>
    </c:title>
    <c:plotArea>
      <c:lineChart>
        <c:grouping val="standard"/>
        <c:varyColors val="0"/>
        <c:ser>
          <c:idx val="0"/>
          <c:order val="0"/>
          <c:tx>
            <c:v>Chemeleon</c:v>
          </c:tx>
          <c:spPr>
            <a:ln xmlns:a="http://schemas.openxmlformats.org/drawingml/2006/main" w="28575">
              <a:solidFill>
                <a:srgbClr val="087F8C"/>
              </a:solidFill>
              <a:prstDash val="solid"/>
            </a:ln>
          </c:spPr>
          <c:marker>
            <c:symbol val="none"/>
          </c:marker>
          <c:cat>
            <c:numRef>
              <c:f>'Chart Data'!$A$2:$A$22</c:f>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cat>
          <c:val>
            <c:numRef>
              <c:f>'Chart Data'!$B$2:$B$22</c:f>
              <c:numCache>
                <c:formatCode>General</c:formatCode>
                <c:ptCount val="21"/>
                <c:pt idx="0">
                  <c:v>0</c:v>
                </c:pt>
                <c:pt idx="1">
                  <c:v>1</c:v>
                </c:pt>
                <c:pt idx="2">
                  <c:v>2</c:v>
                </c:pt>
                <c:pt idx="3">
                  <c:v>3</c:v>
                </c:pt>
                <c:pt idx="4">
                  <c:v>4</c:v>
                </c:pt>
                <c:pt idx="5">
                  <c:v>4</c:v>
                </c:pt>
                <c:pt idx="6">
                  <c:v>5</c:v>
                </c:pt>
                <c:pt idx="7">
                  <c:v>6</c:v>
                </c:pt>
                <c:pt idx="8">
                  <c:v>7</c:v>
                </c:pt>
                <c:pt idx="9">
                  <c:v>8</c:v>
                </c:pt>
                <c:pt idx="10">
                  <c:v>9</c:v>
                </c:pt>
                <c:pt idx="11">
                  <c:v>9</c:v>
                </c:pt>
                <c:pt idx="12">
                  <c:v>9</c:v>
                </c:pt>
                <c:pt idx="13">
                  <c:v>10</c:v>
                </c:pt>
                <c:pt idx="14">
                  <c:v>11</c:v>
                </c:pt>
                <c:pt idx="15">
                  <c:v>11</c:v>
                </c:pt>
                <c:pt idx="16">
                  <c:v>12</c:v>
                </c:pt>
                <c:pt idx="17">
                  <c:v>13</c:v>
                </c:pt>
                <c:pt idx="18">
                  <c:v>14</c:v>
                </c:pt>
                <c:pt idx="19">
                  <c:v>15</c:v>
                </c:pt>
                <c:pt idx="20">
                  <c:v>16</c:v>
                </c:pt>
              </c:numCache>
            </c:numRef>
          </c:val>
          <c:smooth val="0"/>
        </c:ser>
        <c:ser>
          <c:idx val="1"/>
          <c:order val="1"/>
          <c:tx>
            <c:v>Random</c:v>
          </c:tx>
          <c:spPr>
            <a:ln xmlns:a="http://schemas.openxmlformats.org/drawingml/2006/main" w="28575">
              <a:solidFill>
                <a:srgbClr val="266BCC"/>
              </a:solidFill>
              <a:prstDash val="solid"/>
            </a:ln>
          </c:spPr>
          <c:marker>
            <c:symbol val="none"/>
          </c:marker>
          <c:cat>
            <c:numRef>
              <c:f>'Chart Data'!$C$2:$C$22</c:f>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cat>
          <c:val>
            <c:numRef>
              <c:f>'Chart Data'!$D$2:$D$22</c:f>
              <c:numCache>
                <c:formatCode>General</c:formatCode>
                <c:ptCount val="21"/>
                <c:pt idx="0">
                  <c:v>0</c:v>
                </c:pt>
                <c:pt idx="1">
                  <c:v>0</c:v>
                </c:pt>
                <c:pt idx="2">
                  <c:v>1</c:v>
                </c:pt>
                <c:pt idx="3">
                  <c:v>1</c:v>
                </c:pt>
                <c:pt idx="4">
                  <c:v>1</c:v>
                </c:pt>
                <c:pt idx="5">
                  <c:v>1</c:v>
                </c:pt>
                <c:pt idx="6">
                  <c:v>1</c:v>
                </c:pt>
                <c:pt idx="7">
                  <c:v>1</c:v>
                </c:pt>
                <c:pt idx="8">
                  <c:v>1</c:v>
                </c:pt>
                <c:pt idx="9">
                  <c:v>1</c:v>
                </c:pt>
                <c:pt idx="10">
                  <c:v>1</c:v>
                </c:pt>
                <c:pt idx="11">
                  <c:v>2</c:v>
                </c:pt>
                <c:pt idx="12">
                  <c:v>3</c:v>
                </c:pt>
                <c:pt idx="13">
                  <c:v>4</c:v>
                </c:pt>
                <c:pt idx="14">
                  <c:v>5</c:v>
                </c:pt>
                <c:pt idx="15">
                  <c:v>5</c:v>
                </c:pt>
                <c:pt idx="16">
                  <c:v>5</c:v>
                </c:pt>
                <c:pt idx="17">
                  <c:v>6</c:v>
                </c:pt>
                <c:pt idx="18">
                  <c:v>6</c:v>
                </c:pt>
                <c:pt idx="19">
                  <c:v>7</c:v>
                </c:pt>
                <c:pt idx="20">
                  <c:v>7</c:v>
                </c:pt>
              </c:numCache>
            </c:numRef>
          </c:val>
          <c:smooth val="0"/>
        </c:ser>
        <c:dLbls>
          <c:txPr>
            <a:bodyPr xmlns:a="http://schemas.openxmlformats.org/drawingml/2006/main" anchorCtr="1"/>
            <a:lstStyle xmlns:a="http://schemas.openxmlformats.org/drawingml/2006/main"/>
            <a:p xmlns:a="http://schemas.openxmlformats.org/drawingml/2006/main">
              <a:pPr>
                <a:defRPr>
                  <a:latin typeface="Bitstream Charter"/>
                  <a:ea typeface="Bitstream Charter"/>
                  <a:cs typeface="Bitstream Charter"/>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Bitstream Charter"/>
                    <a:ea typeface="Bitstream Charter"/>
                    <a:cs typeface="Bitstream Charter"/>
                  </a:rPr>
                  <a:t>Oracle queries</a:t>
                </a:r>
              </a:p>
            </c:rich>
          </c:tx>
          <c:overlay val="0"/>
          <c:txPr>
            <a:bodyPr xmlns:a="http://schemas.openxmlformats.org/drawingml/2006/main" anchorCtr="1"/>
            <a:lstStyle xmlns:a="http://schemas.openxmlformats.org/drawingml/2006/main"/>
            <a:p xmlns:a="http://schemas.openxmlformats.org/drawingml/2006/main">
              <a:pPr>
                <a:defRPr>
                  <a:latin typeface="Bitstream Charter"/>
                  <a:ea typeface="Bitstream Charter"/>
                  <a:cs typeface="Bitstream Charter"/>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Bitstream Charter"/>
                <a:ea typeface="Bitstream Charter"/>
                <a:cs typeface="Bitstream Charter"/>
              </a:defRPr>
            </a:pPr>
          </a:p>
        </c:txPr>
        <c:crossAx val="48672768"/>
      </c:catAx>
      <c:valAx>
        <c:axId val="48672768"/>
        <c:scaling>
          <c:orientation val="minMax"/>
          <c:max val="20"/>
          <c:min val="0"/>
        </c:scaling>
        <c:delete val="0"/>
        <c:axPos val="l"/>
        <c:majorGridlines>
          <c:spPr>
            <a:ln xmlns:a="http://schemas.openxmlformats.org/drawingml/2006/main" w="9525">
              <a:solidFill>
                <a:srgbClr val="DFE6EE"/>
              </a:solidFill>
              <a:prstDash val="solid"/>
            </a:ln>
          </c:spPr>
        </c:majorGridlines>
        <c:title>
          <c:tx>
            <c:rich>
              <a:bodyPr xmlns:a="http://schemas.openxmlformats.org/drawingml/2006/main"/>
              <a:lstStyle xmlns:a="http://schemas.openxmlformats.org/drawingml/2006/main"/>
              <a:p xmlns:a="http://schemas.openxmlformats.org/drawingml/2006/main">
                <a:r>
                  <a:rPr>
                    <a:latin typeface="Bitstream Charter"/>
                    <a:ea typeface="Bitstream Charter"/>
                    <a:cs typeface="Bitstream Charter"/>
                  </a:rPr>
                  <a:t>Discovery count</a:t>
                </a:r>
              </a:p>
            </c:rich>
          </c:tx>
          <c:overlay val="0"/>
          <c:txPr>
            <a:bodyPr xmlns:a="http://schemas.openxmlformats.org/drawingml/2006/main" anchorCtr="1"/>
            <a:lstStyle xmlns:a="http://schemas.openxmlformats.org/drawingml/2006/main"/>
            <a:p xmlns:a="http://schemas.openxmlformats.org/drawingml/2006/main">
              <a:pPr>
                <a:defRPr>
                  <a:latin typeface="Bitstream Charter"/>
                  <a:ea typeface="Bitstream Charter"/>
                  <a:cs typeface="Bitstream Charter"/>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Bitstream Charter"/>
                <a:ea typeface="Bitstream Charter"/>
                <a:cs typeface="Bitstream Charter"/>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500">
              <a:latin typeface="Bitstream Charter"/>
              <a:ea typeface="Bitstream Charter"/>
              <a:cs typeface="Bitstream Charter"/>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2877B87-33E8-4D10-82FB-CAD9D3D151B4}"/>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300" b="1">
                <a:solidFill>
                  <a:srgbClr val="102B46"/>
                </a:solidFill>
                <a:latin typeface="Bitstream Charter"/>
                <a:ea typeface="Bitstream Charter"/>
                <a:cs typeface="Bitstream Charter"/>
              </a:defRPr>
            </a:defPPr>
            <a:lvl1pPr>
              <a:buNone/>
              <a:defRPr sz="3300" b="1">
                <a:solidFill>
                  <a:srgbClr val="102B46"/>
                </a:solidFill>
                <a:latin typeface="Bitstream Charter"/>
                <a:ea typeface="Bitstream Charter"/>
                <a:cs typeface="Bitstream Charter"/>
              </a:defRPr>
            </a:lvl1pPr>
            <a:lvl2pPr>
              <a:buNone/>
              <a:defRPr sz="3300" b="1">
                <a:solidFill>
                  <a:srgbClr val="102B46"/>
                </a:solidFill>
                <a:latin typeface="Bitstream Charter"/>
                <a:ea typeface="Bitstream Charter"/>
                <a:cs typeface="Bitstream Charter"/>
              </a:defRPr>
            </a:lvl2pPr>
            <a:lvl3pPr>
              <a:buNone/>
              <a:defRPr sz="3300" b="1">
                <a:solidFill>
                  <a:srgbClr val="102B46"/>
                </a:solidFill>
                <a:latin typeface="Bitstream Charter"/>
                <a:ea typeface="Bitstream Charter"/>
                <a:cs typeface="Bitstream Charter"/>
              </a:defRPr>
            </a:lvl3pPr>
            <a:lvl4pPr>
              <a:buNone/>
              <a:defRPr sz="3300" b="1">
                <a:solidFill>
                  <a:srgbClr val="102B46"/>
                </a:solidFill>
                <a:latin typeface="Bitstream Charter"/>
                <a:ea typeface="Bitstream Charter"/>
                <a:cs typeface="Bitstream Charter"/>
              </a:defRPr>
            </a:lvl4pPr>
            <a:lvl5pPr>
              <a:buNone/>
              <a:defRPr sz="3300" b="1">
                <a:solidFill>
                  <a:srgbClr val="102B46"/>
                </a:solidFill>
                <a:latin typeface="Bitstream Charter"/>
                <a:ea typeface="Bitstream Charter"/>
                <a:cs typeface="Bitstream Charter"/>
              </a:defRPr>
            </a:lvl5pPr>
            <a:lvl6pPr>
              <a:buNone/>
              <a:defRPr sz="3300" b="1">
                <a:solidFill>
                  <a:srgbClr val="102B46"/>
                </a:solidFill>
                <a:latin typeface="Bitstream Charter"/>
                <a:ea typeface="Bitstream Charter"/>
                <a:cs typeface="Bitstream Charter"/>
              </a:defRPr>
            </a:lvl6pPr>
            <a:lvl7pPr>
              <a:buNone/>
              <a:defRPr sz="3300" b="1">
                <a:solidFill>
                  <a:srgbClr val="102B46"/>
                </a:solidFill>
                <a:latin typeface="Bitstream Charter"/>
                <a:ea typeface="Bitstream Charter"/>
                <a:cs typeface="Bitstream Charter"/>
              </a:defRPr>
            </a:lvl7pPr>
            <a:lvl8pPr>
              <a:buNone/>
              <a:defRPr sz="3300" b="1">
                <a:solidFill>
                  <a:srgbClr val="102B46"/>
                </a:solidFill>
                <a:latin typeface="Bitstream Charter"/>
                <a:ea typeface="Bitstream Charter"/>
                <a:cs typeface="Bitstream Charter"/>
              </a:defRPr>
            </a:lvl8pPr>
            <a:lvl9pPr>
              <a:buNone/>
              <a:defRPr sz="3300" b="1">
                <a:solidFill>
                  <a:srgbClr val="102B46"/>
                </a:solidFill>
                <a:latin typeface="Bitstream Charter"/>
                <a:ea typeface="Bitstream Charter"/>
                <a:cs typeface="Bitstream Charter"/>
              </a:defRPr>
            </a:lvl9pPr>
          </a:lstStyle>
          <a:p xmlns:a="http://schemas.openxmlformats.org/drawingml/2006/main">
            <a:pPr>
              <a:buNone/>
              <a:defRPr sz="3300" b="1">
                <a:solidFill>
                  <a:srgbClr val="102B46"/>
                </a:solidFill>
                <a:latin typeface="Bitstream Charter"/>
                <a:ea typeface="Bitstream Charter"/>
                <a:cs typeface="Bitstream Charter"/>
              </a:defRPr>
            </a:pPr>
            <a:r>
              <a:rPr sz="3300" b="1">
                <a:solidFill>
                  <a:srgbClr val="102B46"/>
                </a:solidFill>
                <a:latin typeface="Bitstream Charter"/>
                <a:ea typeface="Bitstream Charter"/>
                <a:cs typeface="Bitstream Charter"/>
              </a:rPr>
              <a:t>The router chooses tools from observed feedback</a:t>
            </a:r>
          </a:p>
        </p:txBody>
      </p:sp>
      <p:sp>
        <p:nvSpPr>
          <p:cNvPr id="2" name="">
            <a:extLst xmlns:a="http://schemas.openxmlformats.org/drawingml/2006/main">
              <a:ext uri="{FF2B5EF4-FFF2-40B4-BE49-F238E27FC236}">
                <a16:creationId xmlns:a16="http://schemas.microsoft.com/office/drawing/2014/main" id="{B32F6847-8E46-4960-881A-5AA651374214}"/>
              </a:ext>
            </a:extLst>
          </p:cNvPr>
          <p:cNvSpPr>
            <a:spLocks xmlns:a="http://schemas.openxmlformats.org/drawingml/2006/main" noGrp="1"/>
          </p:cNvSpPr>
          <p:nvPr/>
        </p:nvSpPr>
        <p:spPr>
          <a:xfrm xmlns:a="http://schemas.openxmlformats.org/drawingml/2006/main">
            <a:off x="609600" y="6229350"/>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b="0">
                <a:solidFill>
                  <a:srgbClr val="52657A"/>
                </a:solidFill>
                <a:latin typeface="Bitstream Charter"/>
                <a:ea typeface="Bitstream Charter"/>
                <a:cs typeface="Bitstream Charter"/>
              </a:defRPr>
            </a:defPPr>
            <a:lvl1pPr>
              <a:buNone/>
              <a:defRPr sz="1500" b="0">
                <a:solidFill>
                  <a:srgbClr val="52657A"/>
                </a:solidFill>
                <a:latin typeface="Bitstream Charter"/>
                <a:ea typeface="Bitstream Charter"/>
                <a:cs typeface="Bitstream Charter"/>
              </a:defRPr>
            </a:lvl1pPr>
            <a:lvl2pPr>
              <a:buNone/>
              <a:defRPr sz="1500" b="0">
                <a:solidFill>
                  <a:srgbClr val="52657A"/>
                </a:solidFill>
                <a:latin typeface="Bitstream Charter"/>
                <a:ea typeface="Bitstream Charter"/>
                <a:cs typeface="Bitstream Charter"/>
              </a:defRPr>
            </a:lvl2pPr>
            <a:lvl3pPr>
              <a:buNone/>
              <a:defRPr sz="1500" b="0">
                <a:solidFill>
                  <a:srgbClr val="52657A"/>
                </a:solidFill>
                <a:latin typeface="Bitstream Charter"/>
                <a:ea typeface="Bitstream Charter"/>
                <a:cs typeface="Bitstream Charter"/>
              </a:defRPr>
            </a:lvl3pPr>
            <a:lvl4pPr>
              <a:buNone/>
              <a:defRPr sz="1500" b="0">
                <a:solidFill>
                  <a:srgbClr val="52657A"/>
                </a:solidFill>
                <a:latin typeface="Bitstream Charter"/>
                <a:ea typeface="Bitstream Charter"/>
                <a:cs typeface="Bitstream Charter"/>
              </a:defRPr>
            </a:lvl4pPr>
            <a:lvl5pPr>
              <a:buNone/>
              <a:defRPr sz="1500" b="0">
                <a:solidFill>
                  <a:srgbClr val="52657A"/>
                </a:solidFill>
                <a:latin typeface="Bitstream Charter"/>
                <a:ea typeface="Bitstream Charter"/>
                <a:cs typeface="Bitstream Charter"/>
              </a:defRPr>
            </a:lvl5pPr>
            <a:lvl6pPr>
              <a:buNone/>
              <a:defRPr sz="1500" b="0">
                <a:solidFill>
                  <a:srgbClr val="52657A"/>
                </a:solidFill>
                <a:latin typeface="Bitstream Charter"/>
                <a:ea typeface="Bitstream Charter"/>
                <a:cs typeface="Bitstream Charter"/>
              </a:defRPr>
            </a:lvl6pPr>
            <a:lvl7pPr>
              <a:buNone/>
              <a:defRPr sz="1500" b="0">
                <a:solidFill>
                  <a:srgbClr val="52657A"/>
                </a:solidFill>
                <a:latin typeface="Bitstream Charter"/>
                <a:ea typeface="Bitstream Charter"/>
                <a:cs typeface="Bitstream Charter"/>
              </a:defRPr>
            </a:lvl7pPr>
            <a:lvl8pPr>
              <a:buNone/>
              <a:defRPr sz="1500" b="0">
                <a:solidFill>
                  <a:srgbClr val="52657A"/>
                </a:solidFill>
                <a:latin typeface="Bitstream Charter"/>
                <a:ea typeface="Bitstream Charter"/>
                <a:cs typeface="Bitstream Charter"/>
              </a:defRPr>
            </a:lvl8pPr>
            <a:lvl9pPr>
              <a:buNone/>
              <a:defRPr sz="1500" b="0">
                <a:solidFill>
                  <a:srgbClr val="52657A"/>
                </a:solidFill>
                <a:latin typeface="Bitstream Charter"/>
                <a:ea typeface="Bitstream Charter"/>
                <a:cs typeface="Bitstream Charter"/>
              </a:defRPr>
            </a:lvl9pPr>
          </a:lstStyle>
          <a:p xmlns:a="http://schemas.openxmlformats.org/drawingml/2006/main">
            <a:pPr>
              <a:buNone/>
              <a:defRPr sz="1500" b="0">
                <a:solidFill>
                  <a:srgbClr val="52657A"/>
                </a:solidFill>
                <a:latin typeface="Bitstream Charter"/>
                <a:ea typeface="Bitstream Charter"/>
                <a:cs typeface="Bitstream Charter"/>
              </a:defRPr>
            </a:pPr>
            <a:r>
              <a:rPr sz="1500" b="0">
                <a:solidFill>
                  <a:srgbClr val="52657A"/>
                </a:solidFill>
                <a:latin typeface="Bitstream Charter"/>
                <a:ea typeface="Bitstream Charter"/>
                <a:cs typeface="Bitstream Charter"/>
              </a:rPr>
              <a:t>M2 method draft for M6 slide 7, 40 seconds</a:t>
            </a:r>
          </a:p>
        </p:txBody>
      </p:sp>
      <p:sp>
        <p:nvSpPr>
          <p:cNvPr id="3" name="">
            <a:extLst xmlns:a="http://schemas.openxmlformats.org/drawingml/2006/main">
              <a:ext uri="{FF2B5EF4-FFF2-40B4-BE49-F238E27FC236}">
                <a16:creationId xmlns:a16="http://schemas.microsoft.com/office/drawing/2014/main" id="{93662D09-6C87-438B-AD8C-E8152F99D60A}"/>
              </a:ext>
            </a:extLst>
          </p:cNvPr>
          <p:cNvSpPr>
            <a:spLocks xmlns:a="http://schemas.openxmlformats.org/drawingml/2006/main" noGrp="1"/>
          </p:cNvSpPr>
          <p:nvPr/>
        </p:nvSpPr>
        <p:spPr>
          <a:xfrm xmlns:a="http://schemas.openxmlformats.org/drawingml/2006/main">
            <a:off x="609600" y="2047875"/>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600" b="1">
                <a:solidFill>
                  <a:srgbClr val="266BCC"/>
                </a:solidFill>
                <a:latin typeface="Bitstream Charter"/>
                <a:ea typeface="Bitstream Charter"/>
                <a:cs typeface="Bitstream Charter"/>
              </a:defRPr>
            </a:defPPr>
            <a:lvl1pPr>
              <a:buNone/>
              <a:defRPr sz="3600" b="1">
                <a:solidFill>
                  <a:srgbClr val="266BCC"/>
                </a:solidFill>
                <a:latin typeface="Bitstream Charter"/>
                <a:ea typeface="Bitstream Charter"/>
                <a:cs typeface="Bitstream Charter"/>
              </a:defRPr>
            </a:lvl1pPr>
            <a:lvl2pPr>
              <a:buNone/>
              <a:defRPr sz="3600" b="1">
                <a:solidFill>
                  <a:srgbClr val="266BCC"/>
                </a:solidFill>
                <a:latin typeface="Bitstream Charter"/>
                <a:ea typeface="Bitstream Charter"/>
                <a:cs typeface="Bitstream Charter"/>
              </a:defRPr>
            </a:lvl2pPr>
            <a:lvl3pPr>
              <a:buNone/>
              <a:defRPr sz="3600" b="1">
                <a:solidFill>
                  <a:srgbClr val="266BCC"/>
                </a:solidFill>
                <a:latin typeface="Bitstream Charter"/>
                <a:ea typeface="Bitstream Charter"/>
                <a:cs typeface="Bitstream Charter"/>
              </a:defRPr>
            </a:lvl3pPr>
            <a:lvl4pPr>
              <a:buNone/>
              <a:defRPr sz="3600" b="1">
                <a:solidFill>
                  <a:srgbClr val="266BCC"/>
                </a:solidFill>
                <a:latin typeface="Bitstream Charter"/>
                <a:ea typeface="Bitstream Charter"/>
                <a:cs typeface="Bitstream Charter"/>
              </a:defRPr>
            </a:lvl4pPr>
            <a:lvl5pPr>
              <a:buNone/>
              <a:defRPr sz="3600" b="1">
                <a:solidFill>
                  <a:srgbClr val="266BCC"/>
                </a:solidFill>
                <a:latin typeface="Bitstream Charter"/>
                <a:ea typeface="Bitstream Charter"/>
                <a:cs typeface="Bitstream Charter"/>
              </a:defRPr>
            </a:lvl5pPr>
            <a:lvl6pPr>
              <a:buNone/>
              <a:defRPr sz="3600" b="1">
                <a:solidFill>
                  <a:srgbClr val="266BCC"/>
                </a:solidFill>
                <a:latin typeface="Bitstream Charter"/>
                <a:ea typeface="Bitstream Charter"/>
                <a:cs typeface="Bitstream Charter"/>
              </a:defRPr>
            </a:lvl6pPr>
            <a:lvl7pPr>
              <a:buNone/>
              <a:defRPr sz="3600" b="1">
                <a:solidFill>
                  <a:srgbClr val="266BCC"/>
                </a:solidFill>
                <a:latin typeface="Bitstream Charter"/>
                <a:ea typeface="Bitstream Charter"/>
                <a:cs typeface="Bitstream Charter"/>
              </a:defRPr>
            </a:lvl7pPr>
            <a:lvl8pPr>
              <a:buNone/>
              <a:defRPr sz="3600" b="1">
                <a:solidFill>
                  <a:srgbClr val="266BCC"/>
                </a:solidFill>
                <a:latin typeface="Bitstream Charter"/>
                <a:ea typeface="Bitstream Charter"/>
                <a:cs typeface="Bitstream Charter"/>
              </a:defRPr>
            </a:lvl8pPr>
            <a:lvl9pPr>
              <a:buNone/>
              <a:defRPr sz="3600" b="1">
                <a:solidFill>
                  <a:srgbClr val="266BCC"/>
                </a:solidFill>
                <a:latin typeface="Bitstream Charter"/>
                <a:ea typeface="Bitstream Charter"/>
                <a:cs typeface="Bitstream Charter"/>
              </a:defRPr>
            </a:lvl9pPr>
          </a:lstStyle>
          <a:p xmlns:a="http://schemas.openxmlformats.org/drawingml/2006/main">
            <a:pPr>
              <a:buNone/>
              <a:defRPr sz="3600" b="1">
                <a:solidFill>
                  <a:srgbClr val="266BCC"/>
                </a:solidFill>
                <a:latin typeface="Bitstream Charter"/>
                <a:ea typeface="Bitstream Charter"/>
                <a:cs typeface="Bitstream Charter"/>
              </a:defRPr>
            </a:pPr>
            <a:r>
              <a:rPr sz="3600" b="1">
                <a:solidFill>
                  <a:srgbClr val="266BCC"/>
                </a:solidFill>
                <a:latin typeface="Bitstream Charter"/>
                <a:ea typeface="Bitstream Charter"/>
                <a:cs typeface="Bitstream Charter"/>
              </a:rPr>
              <a:t>Random or Chemeleon</a:t>
            </a:r>
          </a:p>
        </p:txBody>
      </p:sp>
      <p:sp>
        <p:nvSpPr>
          <p:cNvPr id="4" name="">
            <a:extLst xmlns:a="http://schemas.openxmlformats.org/drawingml/2006/main">
              <a:ext uri="{FF2B5EF4-FFF2-40B4-BE49-F238E27FC236}">
                <a16:creationId xmlns:a16="http://schemas.microsoft.com/office/drawing/2014/main" id="{21EFADEE-4C6C-4160-82C5-9F9129291252}"/>
              </a:ext>
            </a:extLst>
          </p:cNvPr>
          <p:cNvSpPr>
            <a:spLocks xmlns:a="http://schemas.openxmlformats.org/drawingml/2006/main" noGrp="1"/>
          </p:cNvSpPr>
          <p:nvPr/>
        </p:nvSpPr>
        <p:spPr>
          <a:xfrm xmlns:a="http://schemas.openxmlformats.org/drawingml/2006/main">
            <a:off x="609600" y="3095625"/>
            <a:ext cx="109728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700" b="0">
                <a:solidFill>
                  <a:srgbClr val="102B46"/>
                </a:solidFill>
                <a:latin typeface="Bitstream Charter"/>
                <a:ea typeface="Bitstream Charter"/>
                <a:cs typeface="Bitstream Charter"/>
              </a:defRPr>
            </a:defPPr>
            <a:lvl1pPr>
              <a:buNone/>
              <a:defRPr sz="2700" b="0">
                <a:solidFill>
                  <a:srgbClr val="102B46"/>
                </a:solidFill>
                <a:latin typeface="Bitstream Charter"/>
                <a:ea typeface="Bitstream Charter"/>
                <a:cs typeface="Bitstream Charter"/>
              </a:defRPr>
            </a:lvl1pPr>
            <a:lvl2pPr>
              <a:buNone/>
              <a:defRPr sz="2700" b="0">
                <a:solidFill>
                  <a:srgbClr val="102B46"/>
                </a:solidFill>
                <a:latin typeface="Bitstream Charter"/>
                <a:ea typeface="Bitstream Charter"/>
                <a:cs typeface="Bitstream Charter"/>
              </a:defRPr>
            </a:lvl2pPr>
            <a:lvl3pPr>
              <a:buNone/>
              <a:defRPr sz="2700" b="0">
                <a:solidFill>
                  <a:srgbClr val="102B46"/>
                </a:solidFill>
                <a:latin typeface="Bitstream Charter"/>
                <a:ea typeface="Bitstream Charter"/>
                <a:cs typeface="Bitstream Charter"/>
              </a:defRPr>
            </a:lvl3pPr>
            <a:lvl4pPr>
              <a:buNone/>
              <a:defRPr sz="2700" b="0">
                <a:solidFill>
                  <a:srgbClr val="102B46"/>
                </a:solidFill>
                <a:latin typeface="Bitstream Charter"/>
                <a:ea typeface="Bitstream Charter"/>
                <a:cs typeface="Bitstream Charter"/>
              </a:defRPr>
            </a:lvl4pPr>
            <a:lvl5pPr>
              <a:buNone/>
              <a:defRPr sz="2700" b="0">
                <a:solidFill>
                  <a:srgbClr val="102B46"/>
                </a:solidFill>
                <a:latin typeface="Bitstream Charter"/>
                <a:ea typeface="Bitstream Charter"/>
                <a:cs typeface="Bitstream Charter"/>
              </a:defRPr>
            </a:lvl5pPr>
            <a:lvl6pPr>
              <a:buNone/>
              <a:defRPr sz="2700" b="0">
                <a:solidFill>
                  <a:srgbClr val="102B46"/>
                </a:solidFill>
                <a:latin typeface="Bitstream Charter"/>
                <a:ea typeface="Bitstream Charter"/>
                <a:cs typeface="Bitstream Charter"/>
              </a:defRPr>
            </a:lvl6pPr>
            <a:lvl7pPr>
              <a:buNone/>
              <a:defRPr sz="2700" b="0">
                <a:solidFill>
                  <a:srgbClr val="102B46"/>
                </a:solidFill>
                <a:latin typeface="Bitstream Charter"/>
                <a:ea typeface="Bitstream Charter"/>
                <a:cs typeface="Bitstream Charter"/>
              </a:defRPr>
            </a:lvl7pPr>
            <a:lvl8pPr>
              <a:buNone/>
              <a:defRPr sz="2700" b="0">
                <a:solidFill>
                  <a:srgbClr val="102B46"/>
                </a:solidFill>
                <a:latin typeface="Bitstream Charter"/>
                <a:ea typeface="Bitstream Charter"/>
                <a:cs typeface="Bitstream Charter"/>
              </a:defRPr>
            </a:lvl8pPr>
            <a:lvl9pPr>
              <a:buNone/>
              <a:defRPr sz="2700" b="0">
                <a:solidFill>
                  <a:srgbClr val="102B46"/>
                </a:solidFill>
                <a:latin typeface="Bitstream Charter"/>
                <a:ea typeface="Bitstream Charter"/>
                <a:cs typeface="Bitstream Charter"/>
              </a:defRPr>
            </a:lvl9pPr>
          </a:lstStyle>
          <a:p xmlns:a="http://schemas.openxmlformats.org/drawingml/2006/main">
            <a:pPr>
              <a:buNone/>
              <a:defRPr sz="2700" b="0">
                <a:solidFill>
                  <a:srgbClr val="102B46"/>
                </a:solidFill>
                <a:latin typeface="Bitstream Charter"/>
                <a:ea typeface="Bitstream Charter"/>
                <a:cs typeface="Bitstream Charter"/>
              </a:defRPr>
            </a:pPr>
            <a:r>
              <a:rPr sz="2700" b="0">
                <a:solidFill>
                  <a:srgbClr val="102B46"/>
                </a:solidFill>
                <a:latin typeface="Bitstream Charter"/>
                <a:ea typeface="Bitstream Charter"/>
                <a:cs typeface="Bitstream Charter"/>
              </a:rPr>
              <a:t>Probe each tool once</a:t>
            </a:r>
          </a:p>
          <a:p xmlns:a="http://schemas.openxmlformats.org/drawingml/2006/main">
            <a:pPr>
              <a:buNone/>
              <a:defRPr sz="2700" b="0">
                <a:solidFill>
                  <a:srgbClr val="102B46"/>
                </a:solidFill>
                <a:latin typeface="Bitstream Charter"/>
                <a:ea typeface="Bitstream Charter"/>
                <a:cs typeface="Bitstream Charter"/>
              </a:defRPr>
            </a:pPr>
            <a:r>
              <a:rPr sz="2700" b="0">
                <a:solidFill>
                  <a:srgbClr val="102B46"/>
                </a:solidFill>
                <a:latin typeface="Bitstream Charter"/>
                <a:ea typeface="Bitstream Charter"/>
                <a:cs typeface="Bitstream Charter"/>
              </a:rPr>
              <a:t>Use observed reward with UCB</a:t>
            </a:r>
          </a:p>
          <a:p xmlns:a="http://schemas.openxmlformats.org/drawingml/2006/main">
            <a:pPr>
              <a:buNone/>
              <a:defRPr sz="2700" b="0">
                <a:solidFill>
                  <a:srgbClr val="102B46"/>
                </a:solidFill>
                <a:latin typeface="Bitstream Charter"/>
                <a:ea typeface="Bitstream Charter"/>
                <a:cs typeface="Bitstream Charter"/>
              </a:defRPr>
            </a:pPr>
            <a:r>
              <a:rPr sz="2700" b="0">
                <a:solidFill>
                  <a:srgbClr val="102B46"/>
                </a:solidFill>
                <a:latin typeface="Bitstream Charter"/>
                <a:ea typeface="Bitstream Charter"/>
                <a:cs typeface="Bitstream Charter"/>
              </a:rPr>
              <a:t>Use greedy reward for the final two queries</a:t>
            </a:r>
          </a:p>
        </p:txBody>
      </p:sp>
    </p:spTree>
    <p:extLst>
      <p:ext uri="{BB962C8B-B14F-4D97-AF65-F5344CB8AC3E}">
        <p14:creationId xmlns:p14="http://schemas.microsoft.com/office/powerpoint/2010/main" val="31853253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C4014F0-2883-4ED1-8D8F-F46DCA180D55}"/>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300" b="1">
                <a:solidFill>
                  <a:srgbClr val="102B46"/>
                </a:solidFill>
                <a:latin typeface="Bitstream Charter"/>
                <a:ea typeface="Bitstream Charter"/>
                <a:cs typeface="Bitstream Charter"/>
              </a:defRPr>
            </a:defPPr>
            <a:lvl1pPr>
              <a:buNone/>
              <a:defRPr sz="3300" b="1">
                <a:solidFill>
                  <a:srgbClr val="102B46"/>
                </a:solidFill>
                <a:latin typeface="Bitstream Charter"/>
                <a:ea typeface="Bitstream Charter"/>
                <a:cs typeface="Bitstream Charter"/>
              </a:defRPr>
            </a:lvl1pPr>
            <a:lvl2pPr>
              <a:buNone/>
              <a:defRPr sz="3300" b="1">
                <a:solidFill>
                  <a:srgbClr val="102B46"/>
                </a:solidFill>
                <a:latin typeface="Bitstream Charter"/>
                <a:ea typeface="Bitstream Charter"/>
                <a:cs typeface="Bitstream Charter"/>
              </a:defRPr>
            </a:lvl2pPr>
            <a:lvl3pPr>
              <a:buNone/>
              <a:defRPr sz="3300" b="1">
                <a:solidFill>
                  <a:srgbClr val="102B46"/>
                </a:solidFill>
                <a:latin typeface="Bitstream Charter"/>
                <a:ea typeface="Bitstream Charter"/>
                <a:cs typeface="Bitstream Charter"/>
              </a:defRPr>
            </a:lvl3pPr>
            <a:lvl4pPr>
              <a:buNone/>
              <a:defRPr sz="3300" b="1">
                <a:solidFill>
                  <a:srgbClr val="102B46"/>
                </a:solidFill>
                <a:latin typeface="Bitstream Charter"/>
                <a:ea typeface="Bitstream Charter"/>
                <a:cs typeface="Bitstream Charter"/>
              </a:defRPr>
            </a:lvl4pPr>
            <a:lvl5pPr>
              <a:buNone/>
              <a:defRPr sz="3300" b="1">
                <a:solidFill>
                  <a:srgbClr val="102B46"/>
                </a:solidFill>
                <a:latin typeface="Bitstream Charter"/>
                <a:ea typeface="Bitstream Charter"/>
                <a:cs typeface="Bitstream Charter"/>
              </a:defRPr>
            </a:lvl5pPr>
            <a:lvl6pPr>
              <a:buNone/>
              <a:defRPr sz="3300" b="1">
                <a:solidFill>
                  <a:srgbClr val="102B46"/>
                </a:solidFill>
                <a:latin typeface="Bitstream Charter"/>
                <a:ea typeface="Bitstream Charter"/>
                <a:cs typeface="Bitstream Charter"/>
              </a:defRPr>
            </a:lvl6pPr>
            <a:lvl7pPr>
              <a:buNone/>
              <a:defRPr sz="3300" b="1">
                <a:solidFill>
                  <a:srgbClr val="102B46"/>
                </a:solidFill>
                <a:latin typeface="Bitstream Charter"/>
                <a:ea typeface="Bitstream Charter"/>
                <a:cs typeface="Bitstream Charter"/>
              </a:defRPr>
            </a:lvl7pPr>
            <a:lvl8pPr>
              <a:buNone/>
              <a:defRPr sz="3300" b="1">
                <a:solidFill>
                  <a:srgbClr val="102B46"/>
                </a:solidFill>
                <a:latin typeface="Bitstream Charter"/>
                <a:ea typeface="Bitstream Charter"/>
                <a:cs typeface="Bitstream Charter"/>
              </a:defRPr>
            </a:lvl8pPr>
            <a:lvl9pPr>
              <a:buNone/>
              <a:defRPr sz="3300" b="1">
                <a:solidFill>
                  <a:srgbClr val="102B46"/>
                </a:solidFill>
                <a:latin typeface="Bitstream Charter"/>
                <a:ea typeface="Bitstream Charter"/>
                <a:cs typeface="Bitstream Charter"/>
              </a:defRPr>
            </a:lvl9pPr>
          </a:lstStyle>
          <a:p xmlns:a="http://schemas.openxmlformats.org/drawingml/2006/main">
            <a:pPr>
              <a:buNone/>
              <a:defRPr sz="3300" b="1">
                <a:solidFill>
                  <a:srgbClr val="102B46"/>
                </a:solidFill>
                <a:latin typeface="Bitstream Charter"/>
                <a:ea typeface="Bitstream Charter"/>
                <a:cs typeface="Bitstream Charter"/>
              </a:defRPr>
            </a:pPr>
            <a:r>
              <a:rPr sz="3300" b="1">
                <a:solidFill>
                  <a:srgbClr val="102B46"/>
                </a:solidFill>
                <a:latin typeface="Bitstream Charter"/>
                <a:ea typeface="Bitstream Charter"/>
                <a:cs typeface="Bitstream Charter"/>
              </a:rPr>
              <a:t>Random is complete on the development split</a:t>
            </a:r>
          </a:p>
        </p:txBody>
      </p:sp>
      <p:sp>
        <p:nvSpPr>
          <p:cNvPr id="2" name="">
            <a:extLst xmlns:a="http://schemas.openxmlformats.org/drawingml/2006/main">
              <a:ext uri="{FF2B5EF4-FFF2-40B4-BE49-F238E27FC236}">
                <a16:creationId xmlns:a16="http://schemas.microsoft.com/office/drawing/2014/main" id="{FD18B144-4061-4F5B-BC2A-8B5610E5C21B}"/>
              </a:ext>
            </a:extLst>
          </p:cNvPr>
          <p:cNvSpPr>
            <a:spLocks xmlns:a="http://schemas.openxmlformats.org/drawingml/2006/main" noGrp="1"/>
          </p:cNvSpPr>
          <p:nvPr/>
        </p:nvSpPr>
        <p:spPr>
          <a:xfrm xmlns:a="http://schemas.openxmlformats.org/drawingml/2006/main">
            <a:off x="609600" y="6229350"/>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b="0">
                <a:solidFill>
                  <a:srgbClr val="52657A"/>
                </a:solidFill>
                <a:latin typeface="Bitstream Charter"/>
                <a:ea typeface="Bitstream Charter"/>
                <a:cs typeface="Bitstream Charter"/>
              </a:defRPr>
            </a:defPPr>
            <a:lvl1pPr>
              <a:buNone/>
              <a:defRPr sz="1500" b="0">
                <a:solidFill>
                  <a:srgbClr val="52657A"/>
                </a:solidFill>
                <a:latin typeface="Bitstream Charter"/>
                <a:ea typeface="Bitstream Charter"/>
                <a:cs typeface="Bitstream Charter"/>
              </a:defRPr>
            </a:lvl1pPr>
            <a:lvl2pPr>
              <a:buNone/>
              <a:defRPr sz="1500" b="0">
                <a:solidFill>
                  <a:srgbClr val="52657A"/>
                </a:solidFill>
                <a:latin typeface="Bitstream Charter"/>
                <a:ea typeface="Bitstream Charter"/>
                <a:cs typeface="Bitstream Charter"/>
              </a:defRPr>
            </a:lvl2pPr>
            <a:lvl3pPr>
              <a:buNone/>
              <a:defRPr sz="1500" b="0">
                <a:solidFill>
                  <a:srgbClr val="52657A"/>
                </a:solidFill>
                <a:latin typeface="Bitstream Charter"/>
                <a:ea typeface="Bitstream Charter"/>
                <a:cs typeface="Bitstream Charter"/>
              </a:defRPr>
            </a:lvl3pPr>
            <a:lvl4pPr>
              <a:buNone/>
              <a:defRPr sz="1500" b="0">
                <a:solidFill>
                  <a:srgbClr val="52657A"/>
                </a:solidFill>
                <a:latin typeface="Bitstream Charter"/>
                <a:ea typeface="Bitstream Charter"/>
                <a:cs typeface="Bitstream Charter"/>
              </a:defRPr>
            </a:lvl4pPr>
            <a:lvl5pPr>
              <a:buNone/>
              <a:defRPr sz="1500" b="0">
                <a:solidFill>
                  <a:srgbClr val="52657A"/>
                </a:solidFill>
                <a:latin typeface="Bitstream Charter"/>
                <a:ea typeface="Bitstream Charter"/>
                <a:cs typeface="Bitstream Charter"/>
              </a:defRPr>
            </a:lvl5pPr>
            <a:lvl6pPr>
              <a:buNone/>
              <a:defRPr sz="1500" b="0">
                <a:solidFill>
                  <a:srgbClr val="52657A"/>
                </a:solidFill>
                <a:latin typeface="Bitstream Charter"/>
                <a:ea typeface="Bitstream Charter"/>
                <a:cs typeface="Bitstream Charter"/>
              </a:defRPr>
            </a:lvl6pPr>
            <a:lvl7pPr>
              <a:buNone/>
              <a:defRPr sz="1500" b="0">
                <a:solidFill>
                  <a:srgbClr val="52657A"/>
                </a:solidFill>
                <a:latin typeface="Bitstream Charter"/>
                <a:ea typeface="Bitstream Charter"/>
                <a:cs typeface="Bitstream Charter"/>
              </a:defRPr>
            </a:lvl7pPr>
            <a:lvl8pPr>
              <a:buNone/>
              <a:defRPr sz="1500" b="0">
                <a:solidFill>
                  <a:srgbClr val="52657A"/>
                </a:solidFill>
                <a:latin typeface="Bitstream Charter"/>
                <a:ea typeface="Bitstream Charter"/>
                <a:cs typeface="Bitstream Charter"/>
              </a:defRPr>
            </a:lvl8pPr>
            <a:lvl9pPr>
              <a:buNone/>
              <a:defRPr sz="1500" b="0">
                <a:solidFill>
                  <a:srgbClr val="52657A"/>
                </a:solidFill>
                <a:latin typeface="Bitstream Charter"/>
                <a:ea typeface="Bitstream Charter"/>
                <a:cs typeface="Bitstream Charter"/>
              </a:defRPr>
            </a:lvl9pPr>
          </a:lstStyle>
          <a:p xmlns:a="http://schemas.openxmlformats.org/drawingml/2006/main">
            <a:pPr>
              <a:buNone/>
              <a:defRPr sz="1500" b="0">
                <a:solidFill>
                  <a:srgbClr val="52657A"/>
                </a:solidFill>
                <a:latin typeface="Bitstream Charter"/>
                <a:ea typeface="Bitstream Charter"/>
                <a:cs typeface="Bitstream Charter"/>
              </a:defRPr>
            </a:pPr>
            <a:r>
              <a:rPr sz="1500" b="0">
                <a:solidFill>
                  <a:srgbClr val="52657A"/>
                </a:solidFill>
                <a:latin typeface="Bitstream Charter"/>
                <a:ea typeface="Bitstream Charter"/>
                <a:cs typeface="Bitstream Charter"/>
              </a:rPr>
              <a:t>19/36 dev units verified. Example curves: Mg-Sn-Sr, seed 17, B=20. Chemeleon: 1/18.</a:t>
            </a:r>
          </a:p>
        </p:txBody>
      </p:sp>
      <p:graphicFrame>
        <p:nvGraphicFramePr>
          <p:cNvPr id="3" name="Chart">
            <a:extLst xmlns:a="http://schemas.openxmlformats.org/drawingml/2006/main">
              <a:ext uri="{FF2B5EF4-FFF2-40B4-BE49-F238E27FC236}">
                <a16:creationId xmlns:a16="http://schemas.microsoft.com/office/drawing/2014/main" id="{169B84BA-8FD0-476C-B7EA-D0E18D85AE3E}"/>
              </a:ext>
            </a:extLst>
          </p:cNvPr>
          <p:cNvGraphicFramePr/>
          <p:nvPr/>
        </p:nvGraphicFramePr>
        <p:xfrm>
          <a:off xmlns:a="http://schemas.openxmlformats.org/drawingml/2006/main" x="533400" y="1771650"/>
          <a:ext xmlns:a="http://schemas.openxmlformats.org/drawingml/2006/main" cx="5657850" cy="4048125"/>
        </p:xfrm>
        <a:graphic xmlns:a="http://schemas.openxmlformats.org/drawingml/2006/main">
          <a:graphicData uri="http://schemas.openxmlformats.org/drawingml/2006/chart">
            <c:chart xmlns:r="http://schemas.openxmlformats.org/officeDocument/2006/relationships" xmlns:c="http://schemas.openxmlformats.org/drawingml/2006/chart" r:id="R90c7774a3ad647d2"/>
          </a:graphicData>
        </a:graphic>
      </p:graphicFrame>
      <p:graphicFrame>
        <p:nvGraphicFramePr>
          <p:cNvPr id="4" name="Chart">
            <a:extLst xmlns:a="http://schemas.openxmlformats.org/drawingml/2006/main">
              <a:ext uri="{FF2B5EF4-FFF2-40B4-BE49-F238E27FC236}">
                <a16:creationId xmlns:a16="http://schemas.microsoft.com/office/drawing/2014/main" id="{5AD2CA70-2BF4-4360-B5C5-314893CFDD3A}"/>
              </a:ext>
            </a:extLst>
          </p:cNvPr>
          <p:cNvGraphicFramePr/>
          <p:nvPr/>
        </p:nvGraphicFramePr>
        <p:xfrm>
          <a:off xmlns:a="http://schemas.openxmlformats.org/drawingml/2006/main" x="6343650" y="1771650"/>
          <a:ext xmlns:a="http://schemas.openxmlformats.org/drawingml/2006/main" cx="5657850" cy="4048125"/>
        </p:xfrm>
        <a:graphic xmlns:a="http://schemas.openxmlformats.org/drawingml/2006/main">
          <a:graphicData uri="http://schemas.openxmlformats.org/drawingml/2006/chart">
            <c:chart xmlns:r="http://schemas.openxmlformats.org/officeDocument/2006/relationships" xmlns:c="http://schemas.openxmlformats.org/drawingml/2006/chart" r:id="R04145b6d63644943"/>
          </a:graphicData>
        </a:graphic>
      </p:graphicFrame>
    </p:spTree>
    <p:extLst>
      <p:ext uri="{BB962C8B-B14F-4D97-AF65-F5344CB8AC3E}">
        <p14:creationId xmlns:p14="http://schemas.microsoft.com/office/powerpoint/2010/main" val="176929251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A82049A-3CFD-4E46-ACA1-71C8DCD2AC8F}"/>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300" b="1">
                <a:solidFill>
                  <a:srgbClr val="102B46"/>
                </a:solidFill>
                <a:latin typeface="Bitstream Charter"/>
                <a:ea typeface="Bitstream Charter"/>
                <a:cs typeface="Bitstream Charter"/>
              </a:defRPr>
            </a:defPPr>
            <a:lvl1pPr>
              <a:buNone/>
              <a:defRPr sz="3300" b="1">
                <a:solidFill>
                  <a:srgbClr val="102B46"/>
                </a:solidFill>
                <a:latin typeface="Bitstream Charter"/>
                <a:ea typeface="Bitstream Charter"/>
                <a:cs typeface="Bitstream Charter"/>
              </a:defRPr>
            </a:lvl1pPr>
            <a:lvl2pPr>
              <a:buNone/>
              <a:defRPr sz="3300" b="1">
                <a:solidFill>
                  <a:srgbClr val="102B46"/>
                </a:solidFill>
                <a:latin typeface="Bitstream Charter"/>
                <a:ea typeface="Bitstream Charter"/>
                <a:cs typeface="Bitstream Charter"/>
              </a:defRPr>
            </a:lvl2pPr>
            <a:lvl3pPr>
              <a:buNone/>
              <a:defRPr sz="3300" b="1">
                <a:solidFill>
                  <a:srgbClr val="102B46"/>
                </a:solidFill>
                <a:latin typeface="Bitstream Charter"/>
                <a:ea typeface="Bitstream Charter"/>
                <a:cs typeface="Bitstream Charter"/>
              </a:defRPr>
            </a:lvl3pPr>
            <a:lvl4pPr>
              <a:buNone/>
              <a:defRPr sz="3300" b="1">
                <a:solidFill>
                  <a:srgbClr val="102B46"/>
                </a:solidFill>
                <a:latin typeface="Bitstream Charter"/>
                <a:ea typeface="Bitstream Charter"/>
                <a:cs typeface="Bitstream Charter"/>
              </a:defRPr>
            </a:lvl4pPr>
            <a:lvl5pPr>
              <a:buNone/>
              <a:defRPr sz="3300" b="1">
                <a:solidFill>
                  <a:srgbClr val="102B46"/>
                </a:solidFill>
                <a:latin typeface="Bitstream Charter"/>
                <a:ea typeface="Bitstream Charter"/>
                <a:cs typeface="Bitstream Charter"/>
              </a:defRPr>
            </a:lvl5pPr>
            <a:lvl6pPr>
              <a:buNone/>
              <a:defRPr sz="3300" b="1">
                <a:solidFill>
                  <a:srgbClr val="102B46"/>
                </a:solidFill>
                <a:latin typeface="Bitstream Charter"/>
                <a:ea typeface="Bitstream Charter"/>
                <a:cs typeface="Bitstream Charter"/>
              </a:defRPr>
            </a:lvl6pPr>
            <a:lvl7pPr>
              <a:buNone/>
              <a:defRPr sz="3300" b="1">
                <a:solidFill>
                  <a:srgbClr val="102B46"/>
                </a:solidFill>
                <a:latin typeface="Bitstream Charter"/>
                <a:ea typeface="Bitstream Charter"/>
                <a:cs typeface="Bitstream Charter"/>
              </a:defRPr>
            </a:lvl7pPr>
            <a:lvl8pPr>
              <a:buNone/>
              <a:defRPr sz="3300" b="1">
                <a:solidFill>
                  <a:srgbClr val="102B46"/>
                </a:solidFill>
                <a:latin typeface="Bitstream Charter"/>
                <a:ea typeface="Bitstream Charter"/>
                <a:cs typeface="Bitstream Charter"/>
              </a:defRPr>
            </a:lvl8pPr>
            <a:lvl9pPr>
              <a:buNone/>
              <a:defRPr sz="3300" b="1">
                <a:solidFill>
                  <a:srgbClr val="102B46"/>
                </a:solidFill>
                <a:latin typeface="Bitstream Charter"/>
                <a:ea typeface="Bitstream Charter"/>
                <a:cs typeface="Bitstream Charter"/>
              </a:defRPr>
            </a:lvl9pPr>
          </a:lstStyle>
          <a:p xmlns:a="http://schemas.openxmlformats.org/drawingml/2006/main">
            <a:pPr>
              <a:buNone/>
              <a:defRPr sz="3300" b="1">
                <a:solidFill>
                  <a:srgbClr val="102B46"/>
                </a:solidFill>
                <a:latin typeface="Bitstream Charter"/>
                <a:ea typeface="Bitstream Charter"/>
                <a:cs typeface="Bitstream Charter"/>
              </a:defRPr>
            </a:pPr>
            <a:r>
              <a:rPr sz="3300" b="1">
                <a:solidFill>
                  <a:srgbClr val="102B46"/>
                </a:solidFill>
                <a:latin typeface="Bitstream Charter"/>
                <a:ea typeface="Bitstream Charter"/>
                <a:cs typeface="Bitstream Charter"/>
              </a:rPr>
              <a:t>Every method uses the same scientific protocol</a:t>
            </a:r>
          </a:p>
        </p:txBody>
      </p:sp>
      <p:sp>
        <p:nvSpPr>
          <p:cNvPr id="2" name="">
            <a:extLst xmlns:a="http://schemas.openxmlformats.org/drawingml/2006/main">
              <a:ext uri="{FF2B5EF4-FFF2-40B4-BE49-F238E27FC236}">
                <a16:creationId xmlns:a16="http://schemas.microsoft.com/office/drawing/2014/main" id="{ABF6501A-6832-4798-8F91-FAA8269FFF12}"/>
              </a:ext>
            </a:extLst>
          </p:cNvPr>
          <p:cNvSpPr>
            <a:spLocks xmlns:a="http://schemas.openxmlformats.org/drawingml/2006/main" noGrp="1"/>
          </p:cNvSpPr>
          <p:nvPr/>
        </p:nvSpPr>
        <p:spPr>
          <a:xfrm xmlns:a="http://schemas.openxmlformats.org/drawingml/2006/main">
            <a:off x="609600" y="6229350"/>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b="0">
                <a:solidFill>
                  <a:srgbClr val="52657A"/>
                </a:solidFill>
                <a:latin typeface="Bitstream Charter"/>
                <a:ea typeface="Bitstream Charter"/>
                <a:cs typeface="Bitstream Charter"/>
              </a:defRPr>
            </a:defPPr>
            <a:lvl1pPr>
              <a:buNone/>
              <a:defRPr sz="1500" b="0">
                <a:solidFill>
                  <a:srgbClr val="52657A"/>
                </a:solidFill>
                <a:latin typeface="Bitstream Charter"/>
                <a:ea typeface="Bitstream Charter"/>
                <a:cs typeface="Bitstream Charter"/>
              </a:defRPr>
            </a:lvl1pPr>
            <a:lvl2pPr>
              <a:buNone/>
              <a:defRPr sz="1500" b="0">
                <a:solidFill>
                  <a:srgbClr val="52657A"/>
                </a:solidFill>
                <a:latin typeface="Bitstream Charter"/>
                <a:ea typeface="Bitstream Charter"/>
                <a:cs typeface="Bitstream Charter"/>
              </a:defRPr>
            </a:lvl2pPr>
            <a:lvl3pPr>
              <a:buNone/>
              <a:defRPr sz="1500" b="0">
                <a:solidFill>
                  <a:srgbClr val="52657A"/>
                </a:solidFill>
                <a:latin typeface="Bitstream Charter"/>
                <a:ea typeface="Bitstream Charter"/>
                <a:cs typeface="Bitstream Charter"/>
              </a:defRPr>
            </a:lvl3pPr>
            <a:lvl4pPr>
              <a:buNone/>
              <a:defRPr sz="1500" b="0">
                <a:solidFill>
                  <a:srgbClr val="52657A"/>
                </a:solidFill>
                <a:latin typeface="Bitstream Charter"/>
                <a:ea typeface="Bitstream Charter"/>
                <a:cs typeface="Bitstream Charter"/>
              </a:defRPr>
            </a:lvl4pPr>
            <a:lvl5pPr>
              <a:buNone/>
              <a:defRPr sz="1500" b="0">
                <a:solidFill>
                  <a:srgbClr val="52657A"/>
                </a:solidFill>
                <a:latin typeface="Bitstream Charter"/>
                <a:ea typeface="Bitstream Charter"/>
                <a:cs typeface="Bitstream Charter"/>
              </a:defRPr>
            </a:lvl5pPr>
            <a:lvl6pPr>
              <a:buNone/>
              <a:defRPr sz="1500" b="0">
                <a:solidFill>
                  <a:srgbClr val="52657A"/>
                </a:solidFill>
                <a:latin typeface="Bitstream Charter"/>
                <a:ea typeface="Bitstream Charter"/>
                <a:cs typeface="Bitstream Charter"/>
              </a:defRPr>
            </a:lvl6pPr>
            <a:lvl7pPr>
              <a:buNone/>
              <a:defRPr sz="1500" b="0">
                <a:solidFill>
                  <a:srgbClr val="52657A"/>
                </a:solidFill>
                <a:latin typeface="Bitstream Charter"/>
                <a:ea typeface="Bitstream Charter"/>
                <a:cs typeface="Bitstream Charter"/>
              </a:defRPr>
            </a:lvl7pPr>
            <a:lvl8pPr>
              <a:buNone/>
              <a:defRPr sz="1500" b="0">
                <a:solidFill>
                  <a:srgbClr val="52657A"/>
                </a:solidFill>
                <a:latin typeface="Bitstream Charter"/>
                <a:ea typeface="Bitstream Charter"/>
                <a:cs typeface="Bitstream Charter"/>
              </a:defRPr>
            </a:lvl8pPr>
            <a:lvl9pPr>
              <a:buNone/>
              <a:defRPr sz="1500" b="0">
                <a:solidFill>
                  <a:srgbClr val="52657A"/>
                </a:solidFill>
                <a:latin typeface="Bitstream Charter"/>
                <a:ea typeface="Bitstream Charter"/>
                <a:cs typeface="Bitstream Charter"/>
              </a:defRPr>
            </a:lvl9pPr>
          </a:lstStyle>
          <a:p xmlns:a="http://schemas.openxmlformats.org/drawingml/2006/main">
            <a:pPr>
              <a:buNone/>
              <a:defRPr sz="1500" b="0">
                <a:solidFill>
                  <a:srgbClr val="52657A"/>
                </a:solidFill>
                <a:latin typeface="Bitstream Charter"/>
                <a:ea typeface="Bitstream Charter"/>
                <a:cs typeface="Bitstream Charter"/>
              </a:defRPr>
            </a:pPr>
            <a:r>
              <a:rPr sz="1500" b="0">
                <a:solidFill>
                  <a:srgbClr val="52657A"/>
                </a:solidFill>
                <a:latin typeface="Bitstream Charter"/>
                <a:ea typeface="Bitstream Charter"/>
                <a:cs typeface="Bitstream Charter"/>
              </a:rPr>
              <a:t>Backup material for M6 slide 8. Source: M1/protocol/protocol_v1.yaml</a:t>
            </a:r>
          </a:p>
        </p:txBody>
      </p:sp>
      <p:sp>
        <p:nvSpPr>
          <p:cNvPr id="3" name="">
            <a:extLst xmlns:a="http://schemas.openxmlformats.org/drawingml/2006/main">
              <a:ext uri="{FF2B5EF4-FFF2-40B4-BE49-F238E27FC236}">
                <a16:creationId xmlns:a16="http://schemas.microsoft.com/office/drawing/2014/main" id="{E3203898-A5EC-4B7B-8610-71CB58C8C0F1}"/>
              </a:ext>
            </a:extLst>
          </p:cNvPr>
          <p:cNvSpPr>
            <a:spLocks xmlns:a="http://schemas.openxmlformats.org/drawingml/2006/main" noGrp="1"/>
          </p:cNvSpPr>
          <p:nvPr/>
        </p:nvSpPr>
        <p:spPr>
          <a:xfrm xmlns:a="http://schemas.openxmlformats.org/drawingml/2006/main">
            <a:off x="609600" y="203835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700" b="0">
                <a:solidFill>
                  <a:srgbClr val="102B46"/>
                </a:solidFill>
                <a:latin typeface="Bitstream Charter"/>
                <a:ea typeface="Bitstream Charter"/>
                <a:cs typeface="Bitstream Charter"/>
              </a:defRPr>
            </a:defPPr>
            <a:lvl1pPr>
              <a:buNone/>
              <a:defRPr sz="2700" b="0">
                <a:solidFill>
                  <a:srgbClr val="102B46"/>
                </a:solidFill>
                <a:latin typeface="Bitstream Charter"/>
                <a:ea typeface="Bitstream Charter"/>
                <a:cs typeface="Bitstream Charter"/>
              </a:defRPr>
            </a:lvl1pPr>
            <a:lvl2pPr>
              <a:buNone/>
              <a:defRPr sz="2700" b="0">
                <a:solidFill>
                  <a:srgbClr val="102B46"/>
                </a:solidFill>
                <a:latin typeface="Bitstream Charter"/>
                <a:ea typeface="Bitstream Charter"/>
                <a:cs typeface="Bitstream Charter"/>
              </a:defRPr>
            </a:lvl2pPr>
            <a:lvl3pPr>
              <a:buNone/>
              <a:defRPr sz="2700" b="0">
                <a:solidFill>
                  <a:srgbClr val="102B46"/>
                </a:solidFill>
                <a:latin typeface="Bitstream Charter"/>
                <a:ea typeface="Bitstream Charter"/>
                <a:cs typeface="Bitstream Charter"/>
              </a:defRPr>
            </a:lvl3pPr>
            <a:lvl4pPr>
              <a:buNone/>
              <a:defRPr sz="2700" b="0">
                <a:solidFill>
                  <a:srgbClr val="102B46"/>
                </a:solidFill>
                <a:latin typeface="Bitstream Charter"/>
                <a:ea typeface="Bitstream Charter"/>
                <a:cs typeface="Bitstream Charter"/>
              </a:defRPr>
            </a:lvl4pPr>
            <a:lvl5pPr>
              <a:buNone/>
              <a:defRPr sz="2700" b="0">
                <a:solidFill>
                  <a:srgbClr val="102B46"/>
                </a:solidFill>
                <a:latin typeface="Bitstream Charter"/>
                <a:ea typeface="Bitstream Charter"/>
                <a:cs typeface="Bitstream Charter"/>
              </a:defRPr>
            </a:lvl5pPr>
            <a:lvl6pPr>
              <a:buNone/>
              <a:defRPr sz="2700" b="0">
                <a:solidFill>
                  <a:srgbClr val="102B46"/>
                </a:solidFill>
                <a:latin typeface="Bitstream Charter"/>
                <a:ea typeface="Bitstream Charter"/>
                <a:cs typeface="Bitstream Charter"/>
              </a:defRPr>
            </a:lvl6pPr>
            <a:lvl7pPr>
              <a:buNone/>
              <a:defRPr sz="2700" b="0">
                <a:solidFill>
                  <a:srgbClr val="102B46"/>
                </a:solidFill>
                <a:latin typeface="Bitstream Charter"/>
                <a:ea typeface="Bitstream Charter"/>
                <a:cs typeface="Bitstream Charter"/>
              </a:defRPr>
            </a:lvl7pPr>
            <a:lvl8pPr>
              <a:buNone/>
              <a:defRPr sz="2700" b="0">
                <a:solidFill>
                  <a:srgbClr val="102B46"/>
                </a:solidFill>
                <a:latin typeface="Bitstream Charter"/>
                <a:ea typeface="Bitstream Charter"/>
                <a:cs typeface="Bitstream Charter"/>
              </a:defRPr>
            </a:lvl8pPr>
            <a:lvl9pPr>
              <a:buNone/>
              <a:defRPr sz="2700" b="0">
                <a:solidFill>
                  <a:srgbClr val="102B46"/>
                </a:solidFill>
                <a:latin typeface="Bitstream Charter"/>
                <a:ea typeface="Bitstream Charter"/>
                <a:cs typeface="Bitstream Charter"/>
              </a:defRPr>
            </a:lvl9pPr>
          </a:lstStyle>
          <a:p xmlns:a="http://schemas.openxmlformats.org/drawingml/2006/main">
            <a:pPr>
              <a:buNone/>
              <a:defRPr sz="2700" b="0">
                <a:solidFill>
                  <a:srgbClr val="102B46"/>
                </a:solidFill>
                <a:latin typeface="Bitstream Charter"/>
                <a:ea typeface="Bitstream Charter"/>
                <a:cs typeface="Bitstream Charter"/>
              </a:defRPr>
            </a:pPr>
            <a:r>
              <a:rPr sz="2700" b="0">
                <a:solidFill>
                  <a:srgbClr val="102B46"/>
                </a:solidFill>
                <a:latin typeface="Bitstream Charter"/>
                <a:ea typeface="Bitstream Charter"/>
                <a:cs typeface="Bitstream Charter"/>
              </a:rPr>
              <a:t>Six development systems, seeds 17 / 29 / 43</a:t>
            </a:r>
          </a:p>
        </p:txBody>
      </p:sp>
      <p:sp>
        <p:nvSpPr>
          <p:cNvPr id="4" name="">
            <a:extLst xmlns:a="http://schemas.openxmlformats.org/drawingml/2006/main">
              <a:ext uri="{FF2B5EF4-FFF2-40B4-BE49-F238E27FC236}">
                <a16:creationId xmlns:a16="http://schemas.microsoft.com/office/drawing/2014/main" id="{CA65CA27-5FA8-4E88-9DCF-C595E3C214A8}"/>
              </a:ext>
            </a:extLst>
          </p:cNvPr>
          <p:cNvSpPr>
            <a:spLocks xmlns:a="http://schemas.openxmlformats.org/drawingml/2006/main" noGrp="1"/>
          </p:cNvSpPr>
          <p:nvPr/>
        </p:nvSpPr>
        <p:spPr>
          <a:xfrm xmlns:a="http://schemas.openxmlformats.org/drawingml/2006/main">
            <a:off x="609600" y="28956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700" b="1">
                <a:solidFill>
                  <a:srgbClr val="266BCC"/>
                </a:solidFill>
                <a:latin typeface="Bitstream Charter"/>
                <a:ea typeface="Bitstream Charter"/>
                <a:cs typeface="Bitstream Charter"/>
              </a:defRPr>
            </a:defPPr>
            <a:lvl1pPr>
              <a:buNone/>
              <a:defRPr sz="2700" b="1">
                <a:solidFill>
                  <a:srgbClr val="266BCC"/>
                </a:solidFill>
                <a:latin typeface="Bitstream Charter"/>
                <a:ea typeface="Bitstream Charter"/>
                <a:cs typeface="Bitstream Charter"/>
              </a:defRPr>
            </a:lvl1pPr>
            <a:lvl2pPr>
              <a:buNone/>
              <a:defRPr sz="2700" b="1">
                <a:solidFill>
                  <a:srgbClr val="266BCC"/>
                </a:solidFill>
                <a:latin typeface="Bitstream Charter"/>
                <a:ea typeface="Bitstream Charter"/>
                <a:cs typeface="Bitstream Charter"/>
              </a:defRPr>
            </a:lvl2pPr>
            <a:lvl3pPr>
              <a:buNone/>
              <a:defRPr sz="2700" b="1">
                <a:solidFill>
                  <a:srgbClr val="266BCC"/>
                </a:solidFill>
                <a:latin typeface="Bitstream Charter"/>
                <a:ea typeface="Bitstream Charter"/>
                <a:cs typeface="Bitstream Charter"/>
              </a:defRPr>
            </a:lvl3pPr>
            <a:lvl4pPr>
              <a:buNone/>
              <a:defRPr sz="2700" b="1">
                <a:solidFill>
                  <a:srgbClr val="266BCC"/>
                </a:solidFill>
                <a:latin typeface="Bitstream Charter"/>
                <a:ea typeface="Bitstream Charter"/>
                <a:cs typeface="Bitstream Charter"/>
              </a:defRPr>
            </a:lvl4pPr>
            <a:lvl5pPr>
              <a:buNone/>
              <a:defRPr sz="2700" b="1">
                <a:solidFill>
                  <a:srgbClr val="266BCC"/>
                </a:solidFill>
                <a:latin typeface="Bitstream Charter"/>
                <a:ea typeface="Bitstream Charter"/>
                <a:cs typeface="Bitstream Charter"/>
              </a:defRPr>
            </a:lvl5pPr>
            <a:lvl6pPr>
              <a:buNone/>
              <a:defRPr sz="2700" b="1">
                <a:solidFill>
                  <a:srgbClr val="266BCC"/>
                </a:solidFill>
                <a:latin typeface="Bitstream Charter"/>
                <a:ea typeface="Bitstream Charter"/>
                <a:cs typeface="Bitstream Charter"/>
              </a:defRPr>
            </a:lvl6pPr>
            <a:lvl7pPr>
              <a:buNone/>
              <a:defRPr sz="2700" b="1">
                <a:solidFill>
                  <a:srgbClr val="266BCC"/>
                </a:solidFill>
                <a:latin typeface="Bitstream Charter"/>
                <a:ea typeface="Bitstream Charter"/>
                <a:cs typeface="Bitstream Charter"/>
              </a:defRPr>
            </a:lvl7pPr>
            <a:lvl8pPr>
              <a:buNone/>
              <a:defRPr sz="2700" b="1">
                <a:solidFill>
                  <a:srgbClr val="266BCC"/>
                </a:solidFill>
                <a:latin typeface="Bitstream Charter"/>
                <a:ea typeface="Bitstream Charter"/>
                <a:cs typeface="Bitstream Charter"/>
              </a:defRPr>
            </a:lvl8pPr>
            <a:lvl9pPr>
              <a:buNone/>
              <a:defRPr sz="2700" b="1">
                <a:solidFill>
                  <a:srgbClr val="266BCC"/>
                </a:solidFill>
                <a:latin typeface="Bitstream Charter"/>
                <a:ea typeface="Bitstream Charter"/>
                <a:cs typeface="Bitstream Charter"/>
              </a:defRPr>
            </a:lvl9pPr>
          </a:lstStyle>
          <a:p xmlns:a="http://schemas.openxmlformats.org/drawingml/2006/main">
            <a:pPr>
              <a:buNone/>
              <a:defRPr sz="2700" b="1">
                <a:solidFill>
                  <a:srgbClr val="266BCC"/>
                </a:solidFill>
                <a:latin typeface="Bitstream Charter"/>
                <a:ea typeface="Bitstream Charter"/>
                <a:cs typeface="Bitstream Charter"/>
              </a:defRPr>
            </a:pPr>
            <a:r>
              <a:rPr sz="2700" b="1">
                <a:solidFill>
                  <a:srgbClr val="266BCC"/>
                </a:solidFill>
                <a:latin typeface="Bitstream Charter"/>
                <a:ea typeface="Bitstream Charter"/>
                <a:cs typeface="Bitstream Charter"/>
              </a:rPr>
              <a:t>Twenty oracle queries per unit</a:t>
            </a:r>
          </a:p>
        </p:txBody>
      </p:sp>
      <p:sp>
        <p:nvSpPr>
          <p:cNvPr id="5" name="">
            <a:extLst xmlns:a="http://schemas.openxmlformats.org/drawingml/2006/main">
              <a:ext uri="{FF2B5EF4-FFF2-40B4-BE49-F238E27FC236}">
                <a16:creationId xmlns:a16="http://schemas.microsoft.com/office/drawing/2014/main" id="{77093A6A-BC3B-4CCA-AED5-343EC1BDFE69}"/>
              </a:ext>
            </a:extLst>
          </p:cNvPr>
          <p:cNvSpPr>
            <a:spLocks xmlns:a="http://schemas.openxmlformats.org/drawingml/2006/main" noGrp="1"/>
          </p:cNvSpPr>
          <p:nvPr/>
        </p:nvSpPr>
        <p:spPr>
          <a:xfrm xmlns:a="http://schemas.openxmlformats.org/drawingml/2006/main">
            <a:off x="609600" y="375285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700" b="0">
                <a:solidFill>
                  <a:srgbClr val="102B46"/>
                </a:solidFill>
                <a:latin typeface="Bitstream Charter"/>
                <a:ea typeface="Bitstream Charter"/>
                <a:cs typeface="Bitstream Charter"/>
              </a:defRPr>
            </a:defPPr>
            <a:lvl1pPr>
              <a:buNone/>
              <a:defRPr sz="2700" b="0">
                <a:solidFill>
                  <a:srgbClr val="102B46"/>
                </a:solidFill>
                <a:latin typeface="Bitstream Charter"/>
                <a:ea typeface="Bitstream Charter"/>
                <a:cs typeface="Bitstream Charter"/>
              </a:defRPr>
            </a:lvl1pPr>
            <a:lvl2pPr>
              <a:buNone/>
              <a:defRPr sz="2700" b="0">
                <a:solidFill>
                  <a:srgbClr val="102B46"/>
                </a:solidFill>
                <a:latin typeface="Bitstream Charter"/>
                <a:ea typeface="Bitstream Charter"/>
                <a:cs typeface="Bitstream Charter"/>
              </a:defRPr>
            </a:lvl2pPr>
            <a:lvl3pPr>
              <a:buNone/>
              <a:defRPr sz="2700" b="0">
                <a:solidFill>
                  <a:srgbClr val="102B46"/>
                </a:solidFill>
                <a:latin typeface="Bitstream Charter"/>
                <a:ea typeface="Bitstream Charter"/>
                <a:cs typeface="Bitstream Charter"/>
              </a:defRPr>
            </a:lvl3pPr>
            <a:lvl4pPr>
              <a:buNone/>
              <a:defRPr sz="2700" b="0">
                <a:solidFill>
                  <a:srgbClr val="102B46"/>
                </a:solidFill>
                <a:latin typeface="Bitstream Charter"/>
                <a:ea typeface="Bitstream Charter"/>
                <a:cs typeface="Bitstream Charter"/>
              </a:defRPr>
            </a:lvl4pPr>
            <a:lvl5pPr>
              <a:buNone/>
              <a:defRPr sz="2700" b="0">
                <a:solidFill>
                  <a:srgbClr val="102B46"/>
                </a:solidFill>
                <a:latin typeface="Bitstream Charter"/>
                <a:ea typeface="Bitstream Charter"/>
                <a:cs typeface="Bitstream Charter"/>
              </a:defRPr>
            </a:lvl5pPr>
            <a:lvl6pPr>
              <a:buNone/>
              <a:defRPr sz="2700" b="0">
                <a:solidFill>
                  <a:srgbClr val="102B46"/>
                </a:solidFill>
                <a:latin typeface="Bitstream Charter"/>
                <a:ea typeface="Bitstream Charter"/>
                <a:cs typeface="Bitstream Charter"/>
              </a:defRPr>
            </a:lvl6pPr>
            <a:lvl7pPr>
              <a:buNone/>
              <a:defRPr sz="2700" b="0">
                <a:solidFill>
                  <a:srgbClr val="102B46"/>
                </a:solidFill>
                <a:latin typeface="Bitstream Charter"/>
                <a:ea typeface="Bitstream Charter"/>
                <a:cs typeface="Bitstream Charter"/>
              </a:defRPr>
            </a:lvl7pPr>
            <a:lvl8pPr>
              <a:buNone/>
              <a:defRPr sz="2700" b="0">
                <a:solidFill>
                  <a:srgbClr val="102B46"/>
                </a:solidFill>
                <a:latin typeface="Bitstream Charter"/>
                <a:ea typeface="Bitstream Charter"/>
                <a:cs typeface="Bitstream Charter"/>
              </a:defRPr>
            </a:lvl8pPr>
            <a:lvl9pPr>
              <a:buNone/>
              <a:defRPr sz="2700" b="0">
                <a:solidFill>
                  <a:srgbClr val="102B46"/>
                </a:solidFill>
                <a:latin typeface="Bitstream Charter"/>
                <a:ea typeface="Bitstream Charter"/>
                <a:cs typeface="Bitstream Charter"/>
              </a:defRPr>
            </a:lvl9pPr>
          </a:lstStyle>
          <a:p xmlns:a="http://schemas.openxmlformats.org/drawingml/2006/main">
            <a:pPr>
              <a:buNone/>
              <a:defRPr sz="2700" b="0">
                <a:solidFill>
                  <a:srgbClr val="102B46"/>
                </a:solidFill>
                <a:latin typeface="Bitstream Charter"/>
                <a:ea typeface="Bitstream Charter"/>
                <a:cs typeface="Bitstream Charter"/>
              </a:defRPr>
            </a:pPr>
            <a:r>
              <a:rPr sz="2700" b="0">
                <a:solidFill>
                  <a:srgbClr val="102B46"/>
                </a:solidFill>
                <a:latin typeface="Bitstream Charter"/>
                <a:ea typeface="Bitstream Charter"/>
                <a:cs typeface="Bitstream Charter"/>
              </a:rPr>
              <a:t>Official Random and Chemeleon baselines</a:t>
            </a:r>
          </a:p>
        </p:txBody>
      </p:sp>
      <p:sp>
        <p:nvSpPr>
          <p:cNvPr id="6" name="">
            <a:extLst xmlns:a="http://schemas.openxmlformats.org/drawingml/2006/main">
              <a:ext uri="{FF2B5EF4-FFF2-40B4-BE49-F238E27FC236}">
                <a16:creationId xmlns:a16="http://schemas.microsoft.com/office/drawing/2014/main" id="{1A92E140-C541-4211-BE81-793483885365}"/>
              </a:ext>
            </a:extLst>
          </p:cNvPr>
          <p:cNvSpPr>
            <a:spLocks xmlns:a="http://schemas.openxmlformats.org/drawingml/2006/main" noGrp="1"/>
          </p:cNvSpPr>
          <p:nvPr/>
        </p:nvSpPr>
        <p:spPr>
          <a:xfrm xmlns:a="http://schemas.openxmlformats.org/drawingml/2006/main">
            <a:off x="609600" y="46101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700" b="0">
                <a:solidFill>
                  <a:srgbClr val="102B46"/>
                </a:solidFill>
                <a:latin typeface="Bitstream Charter"/>
                <a:ea typeface="Bitstream Charter"/>
                <a:cs typeface="Bitstream Charter"/>
              </a:defRPr>
            </a:defPPr>
            <a:lvl1pPr>
              <a:buNone/>
              <a:defRPr sz="2700" b="0">
                <a:solidFill>
                  <a:srgbClr val="102B46"/>
                </a:solidFill>
                <a:latin typeface="Bitstream Charter"/>
                <a:ea typeface="Bitstream Charter"/>
                <a:cs typeface="Bitstream Charter"/>
              </a:defRPr>
            </a:lvl1pPr>
            <a:lvl2pPr>
              <a:buNone/>
              <a:defRPr sz="2700" b="0">
                <a:solidFill>
                  <a:srgbClr val="102B46"/>
                </a:solidFill>
                <a:latin typeface="Bitstream Charter"/>
                <a:ea typeface="Bitstream Charter"/>
                <a:cs typeface="Bitstream Charter"/>
              </a:defRPr>
            </a:lvl2pPr>
            <a:lvl3pPr>
              <a:buNone/>
              <a:defRPr sz="2700" b="0">
                <a:solidFill>
                  <a:srgbClr val="102B46"/>
                </a:solidFill>
                <a:latin typeface="Bitstream Charter"/>
                <a:ea typeface="Bitstream Charter"/>
                <a:cs typeface="Bitstream Charter"/>
              </a:defRPr>
            </a:lvl3pPr>
            <a:lvl4pPr>
              <a:buNone/>
              <a:defRPr sz="2700" b="0">
                <a:solidFill>
                  <a:srgbClr val="102B46"/>
                </a:solidFill>
                <a:latin typeface="Bitstream Charter"/>
                <a:ea typeface="Bitstream Charter"/>
                <a:cs typeface="Bitstream Charter"/>
              </a:defRPr>
            </a:lvl4pPr>
            <a:lvl5pPr>
              <a:buNone/>
              <a:defRPr sz="2700" b="0">
                <a:solidFill>
                  <a:srgbClr val="102B46"/>
                </a:solidFill>
                <a:latin typeface="Bitstream Charter"/>
                <a:ea typeface="Bitstream Charter"/>
                <a:cs typeface="Bitstream Charter"/>
              </a:defRPr>
            </a:lvl5pPr>
            <a:lvl6pPr>
              <a:buNone/>
              <a:defRPr sz="2700" b="0">
                <a:solidFill>
                  <a:srgbClr val="102B46"/>
                </a:solidFill>
                <a:latin typeface="Bitstream Charter"/>
                <a:ea typeface="Bitstream Charter"/>
                <a:cs typeface="Bitstream Charter"/>
              </a:defRPr>
            </a:lvl6pPr>
            <a:lvl7pPr>
              <a:buNone/>
              <a:defRPr sz="2700" b="0">
                <a:solidFill>
                  <a:srgbClr val="102B46"/>
                </a:solidFill>
                <a:latin typeface="Bitstream Charter"/>
                <a:ea typeface="Bitstream Charter"/>
                <a:cs typeface="Bitstream Charter"/>
              </a:defRPr>
            </a:lvl7pPr>
            <a:lvl8pPr>
              <a:buNone/>
              <a:defRPr sz="2700" b="0">
                <a:solidFill>
                  <a:srgbClr val="102B46"/>
                </a:solidFill>
                <a:latin typeface="Bitstream Charter"/>
                <a:ea typeface="Bitstream Charter"/>
                <a:cs typeface="Bitstream Charter"/>
              </a:defRPr>
            </a:lvl8pPr>
            <a:lvl9pPr>
              <a:buNone/>
              <a:defRPr sz="2700" b="0">
                <a:solidFill>
                  <a:srgbClr val="102B46"/>
                </a:solidFill>
                <a:latin typeface="Bitstream Charter"/>
                <a:ea typeface="Bitstream Charter"/>
                <a:cs typeface="Bitstream Charter"/>
              </a:defRPr>
            </a:lvl9pPr>
          </a:lstStyle>
          <a:p xmlns:a="http://schemas.openxmlformats.org/drawingml/2006/main">
            <a:pPr>
              <a:buNone/>
              <a:defRPr sz="2700" b="0">
                <a:solidFill>
                  <a:srgbClr val="102B46"/>
                </a:solidFill>
                <a:latin typeface="Bitstream Charter"/>
                <a:ea typeface="Bitstream Charter"/>
                <a:cs typeface="Bitstream Charter"/>
              </a:defRPr>
            </a:pPr>
            <a:r>
              <a:rPr sz="2700" b="0">
                <a:solidFill>
                  <a:srgbClr val="102B46"/>
                </a:solidFill>
                <a:latin typeface="Bitstream Charter"/>
                <a:ea typeface="Bitstream Charter"/>
                <a:cs typeface="Bitstream Charter"/>
              </a:rPr>
              <a:t>ORB on CPU with unchanged relaxation settings</a:t>
            </a:r>
          </a:p>
        </p:txBody>
      </p:sp>
    </p:spTree>
    <p:extLst>
      <p:ext uri="{BB962C8B-B14F-4D97-AF65-F5344CB8AC3E}">
        <p14:creationId xmlns:p14="http://schemas.microsoft.com/office/powerpoint/2010/main" val="68763946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7EDE31D-3D00-461A-B0C2-3009EB1B3047}"/>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300" b="1">
                <a:solidFill>
                  <a:srgbClr val="102B46"/>
                </a:solidFill>
                <a:latin typeface="Bitstream Charter"/>
                <a:ea typeface="Bitstream Charter"/>
                <a:cs typeface="Bitstream Charter"/>
              </a:defRPr>
            </a:defPPr>
            <a:lvl1pPr>
              <a:buNone/>
              <a:defRPr sz="3300" b="1">
                <a:solidFill>
                  <a:srgbClr val="102B46"/>
                </a:solidFill>
                <a:latin typeface="Bitstream Charter"/>
                <a:ea typeface="Bitstream Charter"/>
                <a:cs typeface="Bitstream Charter"/>
              </a:defRPr>
            </a:lvl1pPr>
            <a:lvl2pPr>
              <a:buNone/>
              <a:defRPr sz="3300" b="1">
                <a:solidFill>
                  <a:srgbClr val="102B46"/>
                </a:solidFill>
                <a:latin typeface="Bitstream Charter"/>
                <a:ea typeface="Bitstream Charter"/>
                <a:cs typeface="Bitstream Charter"/>
              </a:defRPr>
            </a:lvl2pPr>
            <a:lvl3pPr>
              <a:buNone/>
              <a:defRPr sz="3300" b="1">
                <a:solidFill>
                  <a:srgbClr val="102B46"/>
                </a:solidFill>
                <a:latin typeface="Bitstream Charter"/>
                <a:ea typeface="Bitstream Charter"/>
                <a:cs typeface="Bitstream Charter"/>
              </a:defRPr>
            </a:lvl3pPr>
            <a:lvl4pPr>
              <a:buNone/>
              <a:defRPr sz="3300" b="1">
                <a:solidFill>
                  <a:srgbClr val="102B46"/>
                </a:solidFill>
                <a:latin typeface="Bitstream Charter"/>
                <a:ea typeface="Bitstream Charter"/>
                <a:cs typeface="Bitstream Charter"/>
              </a:defRPr>
            </a:lvl4pPr>
            <a:lvl5pPr>
              <a:buNone/>
              <a:defRPr sz="3300" b="1">
                <a:solidFill>
                  <a:srgbClr val="102B46"/>
                </a:solidFill>
                <a:latin typeface="Bitstream Charter"/>
                <a:ea typeface="Bitstream Charter"/>
                <a:cs typeface="Bitstream Charter"/>
              </a:defRPr>
            </a:lvl5pPr>
            <a:lvl6pPr>
              <a:buNone/>
              <a:defRPr sz="3300" b="1">
                <a:solidFill>
                  <a:srgbClr val="102B46"/>
                </a:solidFill>
                <a:latin typeface="Bitstream Charter"/>
                <a:ea typeface="Bitstream Charter"/>
                <a:cs typeface="Bitstream Charter"/>
              </a:defRPr>
            </a:lvl6pPr>
            <a:lvl7pPr>
              <a:buNone/>
              <a:defRPr sz="3300" b="1">
                <a:solidFill>
                  <a:srgbClr val="102B46"/>
                </a:solidFill>
                <a:latin typeface="Bitstream Charter"/>
                <a:ea typeface="Bitstream Charter"/>
                <a:cs typeface="Bitstream Charter"/>
              </a:defRPr>
            </a:lvl7pPr>
            <a:lvl8pPr>
              <a:buNone/>
              <a:defRPr sz="3300" b="1">
                <a:solidFill>
                  <a:srgbClr val="102B46"/>
                </a:solidFill>
                <a:latin typeface="Bitstream Charter"/>
                <a:ea typeface="Bitstream Charter"/>
                <a:cs typeface="Bitstream Charter"/>
              </a:defRPr>
            </a:lvl8pPr>
            <a:lvl9pPr>
              <a:buNone/>
              <a:defRPr sz="3300" b="1">
                <a:solidFill>
                  <a:srgbClr val="102B46"/>
                </a:solidFill>
                <a:latin typeface="Bitstream Charter"/>
                <a:ea typeface="Bitstream Charter"/>
                <a:cs typeface="Bitstream Charter"/>
              </a:defRPr>
            </a:lvl9pPr>
          </a:lstStyle>
          <a:p xmlns:a="http://schemas.openxmlformats.org/drawingml/2006/main">
            <a:pPr>
              <a:buNone/>
              <a:defRPr sz="3300" b="1">
                <a:solidFill>
                  <a:srgbClr val="102B46"/>
                </a:solidFill>
                <a:latin typeface="Bitstream Charter"/>
                <a:ea typeface="Bitstream Charter"/>
                <a:cs typeface="Bitstream Charter"/>
              </a:defRPr>
            </a:pPr>
            <a:r>
              <a:rPr sz="3300" b="1">
                <a:solidFill>
                  <a:srgbClr val="102B46"/>
                </a:solidFill>
                <a:latin typeface="Bitstream Charter"/>
                <a:ea typeface="Bitstream Charter"/>
                <a:cs typeface="Bitstream Charter"/>
              </a:rPr>
              <a:t>Verified baseline coverage and compute</a:t>
            </a:r>
          </a:p>
        </p:txBody>
      </p:sp>
      <p:sp>
        <p:nvSpPr>
          <p:cNvPr id="2" name="">
            <a:extLst xmlns:a="http://schemas.openxmlformats.org/drawingml/2006/main">
              <a:ext uri="{FF2B5EF4-FFF2-40B4-BE49-F238E27FC236}">
                <a16:creationId xmlns:a16="http://schemas.microsoft.com/office/drawing/2014/main" id="{E44D6F49-E211-4DFB-B56E-7B80165AA501}"/>
              </a:ext>
            </a:extLst>
          </p:cNvPr>
          <p:cNvSpPr>
            <a:spLocks xmlns:a="http://schemas.openxmlformats.org/drawingml/2006/main" noGrp="1"/>
          </p:cNvSpPr>
          <p:nvPr/>
        </p:nvSpPr>
        <p:spPr>
          <a:xfrm xmlns:a="http://schemas.openxmlformats.org/drawingml/2006/main">
            <a:off x="609600" y="6229350"/>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b="0">
                <a:solidFill>
                  <a:srgbClr val="52657A"/>
                </a:solidFill>
                <a:latin typeface="Bitstream Charter"/>
                <a:ea typeface="Bitstream Charter"/>
                <a:cs typeface="Bitstream Charter"/>
              </a:defRPr>
            </a:defPPr>
            <a:lvl1pPr>
              <a:buNone/>
              <a:defRPr sz="1500" b="0">
                <a:solidFill>
                  <a:srgbClr val="52657A"/>
                </a:solidFill>
                <a:latin typeface="Bitstream Charter"/>
                <a:ea typeface="Bitstream Charter"/>
                <a:cs typeface="Bitstream Charter"/>
              </a:defRPr>
            </a:lvl1pPr>
            <a:lvl2pPr>
              <a:buNone/>
              <a:defRPr sz="1500" b="0">
                <a:solidFill>
                  <a:srgbClr val="52657A"/>
                </a:solidFill>
                <a:latin typeface="Bitstream Charter"/>
                <a:ea typeface="Bitstream Charter"/>
                <a:cs typeface="Bitstream Charter"/>
              </a:defRPr>
            </a:lvl2pPr>
            <a:lvl3pPr>
              <a:buNone/>
              <a:defRPr sz="1500" b="0">
                <a:solidFill>
                  <a:srgbClr val="52657A"/>
                </a:solidFill>
                <a:latin typeface="Bitstream Charter"/>
                <a:ea typeface="Bitstream Charter"/>
                <a:cs typeface="Bitstream Charter"/>
              </a:defRPr>
            </a:lvl3pPr>
            <a:lvl4pPr>
              <a:buNone/>
              <a:defRPr sz="1500" b="0">
                <a:solidFill>
                  <a:srgbClr val="52657A"/>
                </a:solidFill>
                <a:latin typeface="Bitstream Charter"/>
                <a:ea typeface="Bitstream Charter"/>
                <a:cs typeface="Bitstream Charter"/>
              </a:defRPr>
            </a:lvl4pPr>
            <a:lvl5pPr>
              <a:buNone/>
              <a:defRPr sz="1500" b="0">
                <a:solidFill>
                  <a:srgbClr val="52657A"/>
                </a:solidFill>
                <a:latin typeface="Bitstream Charter"/>
                <a:ea typeface="Bitstream Charter"/>
                <a:cs typeface="Bitstream Charter"/>
              </a:defRPr>
            </a:lvl5pPr>
            <a:lvl6pPr>
              <a:buNone/>
              <a:defRPr sz="1500" b="0">
                <a:solidFill>
                  <a:srgbClr val="52657A"/>
                </a:solidFill>
                <a:latin typeface="Bitstream Charter"/>
                <a:ea typeface="Bitstream Charter"/>
                <a:cs typeface="Bitstream Charter"/>
              </a:defRPr>
            </a:lvl6pPr>
            <a:lvl7pPr>
              <a:buNone/>
              <a:defRPr sz="1500" b="0">
                <a:solidFill>
                  <a:srgbClr val="52657A"/>
                </a:solidFill>
                <a:latin typeface="Bitstream Charter"/>
                <a:ea typeface="Bitstream Charter"/>
                <a:cs typeface="Bitstream Charter"/>
              </a:defRPr>
            </a:lvl7pPr>
            <a:lvl8pPr>
              <a:buNone/>
              <a:defRPr sz="1500" b="0">
                <a:solidFill>
                  <a:srgbClr val="52657A"/>
                </a:solidFill>
                <a:latin typeface="Bitstream Charter"/>
                <a:ea typeface="Bitstream Charter"/>
                <a:cs typeface="Bitstream Charter"/>
              </a:defRPr>
            </a:lvl8pPr>
            <a:lvl9pPr>
              <a:buNone/>
              <a:defRPr sz="1500" b="0">
                <a:solidFill>
                  <a:srgbClr val="52657A"/>
                </a:solidFill>
                <a:latin typeface="Bitstream Charter"/>
                <a:ea typeface="Bitstream Charter"/>
                <a:cs typeface="Bitstream Charter"/>
              </a:defRPr>
            </a:lvl9pPr>
          </a:lstStyle>
          <a:p xmlns:a="http://schemas.openxmlformats.org/drawingml/2006/main">
            <a:pPr>
              <a:buNone/>
              <a:defRPr sz="1500" b="0">
                <a:solidFill>
                  <a:srgbClr val="52657A"/>
                </a:solidFill>
                <a:latin typeface="Bitstream Charter"/>
                <a:ea typeface="Bitstream Charter"/>
                <a:cs typeface="Bitstream Charter"/>
              </a:defRPr>
            </a:pPr>
            <a:r>
              <a:rPr sz="1500" b="0">
                <a:solidFill>
                  <a:srgbClr val="52657A"/>
                </a:solidFill>
                <a:latin typeface="Bitstream Charter"/>
                <a:ea typeface="Bitstream Charter"/>
                <a:cs typeface="Bitstream Charter"/>
              </a:rPr>
              <a:t>Random: six dev systems and three seeds. Chemeleon: Mg-Sn-Sr/17 only. Successful units only.</a:t>
            </a:r>
          </a:p>
        </p:txBody>
      </p:sp>
      <p:graphicFrame>
        <p:nvGraphicFramePr>
          <p:cNvPr id="3" name="">
            <a:extLst xmlns:a="http://schemas.openxmlformats.org/drawingml/2006/main">
              <a:ext uri="{FF2B5EF4-FFF2-40B4-BE49-F238E27FC236}">
                <a16:creationId xmlns:a16="http://schemas.microsoft.com/office/drawing/2014/main" id="{0D7A68E0-6587-4852-BBFE-BD81392F371B}"/>
              </a:ext>
            </a:extLst>
          </p:cNvPr>
          <p:cNvGraphicFramePr/>
          <p:nvPr/>
        </p:nvGraphicFramePr>
        <p:xfrm>
          <a:off xmlns:a="http://schemas.openxmlformats.org/drawingml/2006/main" x="609600" y="1952625"/>
          <a:ext xmlns:a="http://schemas.openxmlformats.org/drawingml/2006/main" cx="10972800" cy="2190750"/>
        </p:xfrm>
        <a:graphic xmlns:a="http://schemas.openxmlformats.org/drawingml/2006/main">
          <a:graphicData uri="http://schemas.openxmlformats.org/drawingml/2006/table">
            <a:tbl>
              <a:tblPr/>
              <a:tblGrid>
                <a:gridCol w="2552700"/>
                <a:gridCol w="1714500"/>
                <a:gridCol w="1714500"/>
                <a:gridCol w="2514600"/>
                <a:gridCol w="2476500"/>
              </a:tblGrid>
              <a:tr h="730250">
                <a:tc>
                  <a:txBody>
                    <a:bodyPr/>
                    <a:lstStyle/>
                    <a:p>
                      <a:r>
                        <a:rPr sz="2100" b="1">
                          <a:solidFill>
                            <a:srgbClr val="FFFFFF"/>
                          </a:solidFill>
                          <a:latin typeface="Bitstream Charter"/>
                          <a:ea typeface="Bitstream Charter"/>
                          <a:cs typeface="Bitstream Charter"/>
                        </a:rPr>
                        <a:t>Method / units</a:t>
                      </a:r>
                    </a:p>
                  </a:txBody>
                  <a:tcPr marL="91440" marR="91440" marT="45720" marB="45720">
                    <a:solidFill>
                      <a:srgbClr val="102B46"/>
                    </a:solidFill>
                  </a:tcPr>
                </a:tc>
                <a:tc>
                  <a:txBody>
                    <a:bodyPr/>
                    <a:lstStyle/>
                    <a:p>
                      <a:r>
                        <a:rPr sz="2100" b="1">
                          <a:solidFill>
                            <a:srgbClr val="FFFFFF"/>
                          </a:solidFill>
                          <a:latin typeface="Bitstream Charter"/>
                          <a:ea typeface="Bitstream Charter"/>
                          <a:cs typeface="Bitstream Charter"/>
                        </a:rPr>
                        <a:t>mSUN@20</a:t>
                      </a:r>
                    </a:p>
                  </a:txBody>
                  <a:tcPr marL="91440" marR="91440" marT="45720" marB="45720">
                    <a:solidFill>
                      <a:srgbClr val="102B46"/>
                    </a:solidFill>
                  </a:tcPr>
                </a:tc>
                <a:tc>
                  <a:txBody>
                    <a:bodyPr/>
                    <a:lstStyle/>
                    <a:p>
                      <a:r>
                        <a:rPr sz="2100" b="1">
                          <a:solidFill>
                            <a:srgbClr val="FFFFFF"/>
                          </a:solidFill>
                          <a:latin typeface="Bitstream Charter"/>
                          <a:ea typeface="Bitstream Charter"/>
                          <a:cs typeface="Bitstream Charter"/>
                        </a:rPr>
                        <a:t>AUDC</a:t>
                      </a:r>
                    </a:p>
                  </a:txBody>
                  <a:tcPr marL="91440" marR="91440" marT="45720" marB="45720">
                    <a:solidFill>
                      <a:srgbClr val="102B46"/>
                    </a:solidFill>
                  </a:tcPr>
                </a:tc>
                <a:tc>
                  <a:txBody>
                    <a:bodyPr/>
                    <a:lstStyle/>
                    <a:p>
                      <a:r>
                        <a:rPr sz="2100" b="1">
                          <a:solidFill>
                            <a:srgbClr val="FFFFFF"/>
                          </a:solidFill>
                          <a:latin typeface="Bitstream Charter"/>
                          <a:ea typeface="Bitstream Charter"/>
                          <a:cs typeface="Bitstream Charter"/>
                        </a:rPr>
                        <a:t>Driver minutes</a:t>
                      </a:r>
                    </a:p>
                  </a:txBody>
                  <a:tcPr marL="91440" marR="91440" marT="45720" marB="45720">
                    <a:solidFill>
                      <a:srgbClr val="102B46"/>
                    </a:solidFill>
                  </a:tcPr>
                </a:tc>
                <a:tc>
                  <a:txBody>
                    <a:bodyPr/>
                    <a:lstStyle/>
                    <a:p>
                      <a:r>
                        <a:rPr sz="2100" b="1">
                          <a:solidFill>
                            <a:srgbClr val="FFFFFF"/>
                          </a:solidFill>
                          <a:latin typeface="Bitstream Charter"/>
                          <a:ea typeface="Bitstream Charter"/>
                          <a:cs typeface="Bitstream Charter"/>
                        </a:rPr>
                        <a:t>Known fees</a:t>
                      </a:r>
                    </a:p>
                  </a:txBody>
                  <a:tcPr marL="91440" marR="91440" marT="45720" marB="45720">
                    <a:solidFill>
                      <a:srgbClr val="102B46"/>
                    </a:solidFill>
                  </a:tcPr>
                </a:tc>
              </a:tr>
              <a:tr h="730250">
                <a:tc>
                  <a:txBody>
                    <a:bodyPr/>
                    <a:lstStyle/>
                    <a:p>
                      <a:r>
                        <a:rPr sz="2100" b="0">
                          <a:solidFill>
                            <a:srgbClr val="102B46"/>
                          </a:solidFill>
                          <a:latin typeface="Bitstream Charter"/>
                          <a:ea typeface="Bitstream Charter"/>
                          <a:cs typeface="Bitstream Charter"/>
                        </a:rPr>
                        <a:t>Random 18/18</a:t>
                      </a:r>
                    </a:p>
                  </a:txBody>
                  <a:tcPr marL="91440" marR="91440" marT="45720" marB="45720">
                    <a:solidFill>
                      <a:srgbClr val="FFFFFF"/>
                    </a:solidFill>
                  </a:tcPr>
                </a:tc>
                <a:tc>
                  <a:txBody>
                    <a:bodyPr/>
                    <a:lstStyle/>
                    <a:p>
                      <a:r>
                        <a:rPr sz="2100" b="0">
                          <a:solidFill>
                            <a:srgbClr val="102B46"/>
                          </a:solidFill>
                          <a:latin typeface="Bitstream Charter"/>
                          <a:ea typeface="Bitstream Charter"/>
                          <a:cs typeface="Bitstream Charter"/>
                        </a:rPr>
                        <a:t>4.06</a:t>
                      </a:r>
                    </a:p>
                  </a:txBody>
                  <a:tcPr marL="91440" marR="91440" marT="45720" marB="45720">
                    <a:solidFill>
                      <a:srgbClr val="FFFFFF"/>
                    </a:solidFill>
                  </a:tcPr>
                </a:tc>
                <a:tc>
                  <a:txBody>
                    <a:bodyPr/>
                    <a:lstStyle/>
                    <a:p>
                      <a:r>
                        <a:rPr sz="2100" b="0">
                          <a:solidFill>
                            <a:srgbClr val="102B46"/>
                          </a:solidFill>
                          <a:latin typeface="Bitstream Charter"/>
                          <a:ea typeface="Bitstream Charter"/>
                          <a:cs typeface="Bitstream Charter"/>
                        </a:rPr>
                        <a:t>40.58</a:t>
                      </a:r>
                    </a:p>
                  </a:txBody>
                  <a:tcPr marL="91440" marR="91440" marT="45720" marB="45720">
                    <a:solidFill>
                      <a:srgbClr val="FFFFFF"/>
                    </a:solidFill>
                  </a:tcPr>
                </a:tc>
                <a:tc>
                  <a:txBody>
                    <a:bodyPr/>
                    <a:lstStyle/>
                    <a:p>
                      <a:r>
                        <a:rPr sz="2100" b="0">
                          <a:solidFill>
                            <a:srgbClr val="102B46"/>
                          </a:solidFill>
                          <a:latin typeface="Bitstream Charter"/>
                          <a:ea typeface="Bitstream Charter"/>
                          <a:cs typeface="Bitstream Charter"/>
                        </a:rPr>
                        <a:t>16.0</a:t>
                      </a:r>
                    </a:p>
                  </a:txBody>
                  <a:tcPr marL="91440" marR="91440" marT="45720" marB="45720">
                    <a:solidFill>
                      <a:srgbClr val="FFFFFF"/>
                    </a:solidFill>
                  </a:tcPr>
                </a:tc>
                <a:tc>
                  <a:txBody>
                    <a:bodyPr/>
                    <a:lstStyle/>
                    <a:p>
                      <a:r>
                        <a:rPr sz="2100" b="0">
                          <a:solidFill>
                            <a:srgbClr val="102B46"/>
                          </a:solidFill>
                          <a:latin typeface="Bitstream Charter"/>
                          <a:ea typeface="Bitstream Charter"/>
                          <a:cs typeface="Bitstream Charter"/>
                        </a:rPr>
                        <a:t>USD 0</a:t>
                      </a:r>
                    </a:p>
                  </a:txBody>
                  <a:tcPr marL="91440" marR="91440" marT="45720" marB="45720">
                    <a:solidFill>
                      <a:srgbClr val="FFFFFF"/>
                    </a:solidFill>
                  </a:tcPr>
                </a:tc>
              </a:tr>
              <a:tr h="730250">
                <a:tc>
                  <a:txBody>
                    <a:bodyPr/>
                    <a:lstStyle/>
                    <a:p>
                      <a:r>
                        <a:rPr sz="2100" b="0">
                          <a:solidFill>
                            <a:srgbClr val="102B46"/>
                          </a:solidFill>
                          <a:latin typeface="Bitstream Charter"/>
                          <a:ea typeface="Bitstream Charter"/>
                          <a:cs typeface="Bitstream Charter"/>
                        </a:rPr>
                        <a:t>Chemeleon 1/18</a:t>
                      </a:r>
                    </a:p>
                  </a:txBody>
                  <a:tcPr marL="91440" marR="91440" marT="45720" marB="45720">
                    <a:solidFill>
                      <a:srgbClr val="FFFFFF"/>
                    </a:solidFill>
                  </a:tcPr>
                </a:tc>
                <a:tc>
                  <a:txBody>
                    <a:bodyPr/>
                    <a:lstStyle/>
                    <a:p>
                      <a:r>
                        <a:rPr sz="2100" b="0">
                          <a:solidFill>
                            <a:srgbClr val="102B46"/>
                          </a:solidFill>
                          <a:latin typeface="Bitstream Charter"/>
                          <a:ea typeface="Bitstream Charter"/>
                          <a:cs typeface="Bitstream Charter"/>
                        </a:rPr>
                        <a:t>16</a:t>
                      </a:r>
                    </a:p>
                  </a:txBody>
                  <a:tcPr marL="91440" marR="91440" marT="45720" marB="45720">
                    <a:solidFill>
                      <a:srgbClr val="FFFFFF"/>
                    </a:solidFill>
                  </a:tcPr>
                </a:tc>
                <a:tc>
                  <a:txBody>
                    <a:bodyPr/>
                    <a:lstStyle/>
                    <a:p>
                      <a:r>
                        <a:rPr sz="2100" b="0">
                          <a:solidFill>
                            <a:srgbClr val="102B46"/>
                          </a:solidFill>
                          <a:latin typeface="Bitstream Charter"/>
                          <a:ea typeface="Bitstream Charter"/>
                          <a:cs typeface="Bitstream Charter"/>
                        </a:rPr>
                        <a:t>161</a:t>
                      </a:r>
                    </a:p>
                  </a:txBody>
                  <a:tcPr marL="91440" marR="91440" marT="45720" marB="45720">
                    <a:solidFill>
                      <a:srgbClr val="FFFFFF"/>
                    </a:solidFill>
                  </a:tcPr>
                </a:tc>
                <a:tc>
                  <a:txBody>
                    <a:bodyPr/>
                    <a:lstStyle/>
                    <a:p>
                      <a:r>
                        <a:rPr sz="2100" b="0">
                          <a:solidFill>
                            <a:srgbClr val="102B46"/>
                          </a:solidFill>
                          <a:latin typeface="Bitstream Charter"/>
                          <a:ea typeface="Bitstream Charter"/>
                          <a:cs typeface="Bitstream Charter"/>
                        </a:rPr>
                        <a:t>262.8</a:t>
                      </a:r>
                    </a:p>
                  </a:txBody>
                  <a:tcPr marL="91440" marR="91440" marT="45720" marB="45720">
                    <a:solidFill>
                      <a:srgbClr val="FFFFFF"/>
                    </a:solidFill>
                  </a:tcPr>
                </a:tc>
                <a:tc>
                  <a:txBody>
                    <a:bodyPr/>
                    <a:lstStyle/>
                    <a:p>
                      <a:r>
                        <a:rPr sz="2100" b="0">
                          <a:solidFill>
                            <a:srgbClr val="102B46"/>
                          </a:solidFill>
                          <a:latin typeface="Bitstream Charter"/>
                          <a:ea typeface="Bitstream Charter"/>
                          <a:cs typeface="Bitstream Charter"/>
                        </a:rPr>
                        <a:t>USD 0</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FBF1663-B0D2-4E6C-B9A2-004253B953F5}"/>
              </a:ext>
            </a:extLst>
          </p:cNvPr>
          <p:cNvSpPr>
            <a:spLocks xmlns:a="http://schemas.openxmlformats.org/drawingml/2006/main" noGrp="1"/>
          </p:cNvSpPr>
          <p:nvPr/>
        </p:nvSpPr>
        <p:spPr>
          <a:xfrm xmlns:a="http://schemas.openxmlformats.org/drawingml/2006/main">
            <a:off x="609600" y="4714875"/>
            <a:ext cx="109728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175" b="0">
                <a:solidFill>
                  <a:srgbClr val="52657A"/>
                </a:solidFill>
                <a:latin typeface="Bitstream Charter"/>
                <a:ea typeface="Bitstream Charter"/>
                <a:cs typeface="Bitstream Charter"/>
              </a:defRPr>
            </a:defPPr>
            <a:lvl1pPr>
              <a:buNone/>
              <a:defRPr sz="2175" b="0">
                <a:solidFill>
                  <a:srgbClr val="52657A"/>
                </a:solidFill>
                <a:latin typeface="Bitstream Charter"/>
                <a:ea typeface="Bitstream Charter"/>
                <a:cs typeface="Bitstream Charter"/>
              </a:defRPr>
            </a:lvl1pPr>
            <a:lvl2pPr>
              <a:buNone/>
              <a:defRPr sz="2175" b="0">
                <a:solidFill>
                  <a:srgbClr val="52657A"/>
                </a:solidFill>
                <a:latin typeface="Bitstream Charter"/>
                <a:ea typeface="Bitstream Charter"/>
                <a:cs typeface="Bitstream Charter"/>
              </a:defRPr>
            </a:lvl2pPr>
            <a:lvl3pPr>
              <a:buNone/>
              <a:defRPr sz="2175" b="0">
                <a:solidFill>
                  <a:srgbClr val="52657A"/>
                </a:solidFill>
                <a:latin typeface="Bitstream Charter"/>
                <a:ea typeface="Bitstream Charter"/>
                <a:cs typeface="Bitstream Charter"/>
              </a:defRPr>
            </a:lvl3pPr>
            <a:lvl4pPr>
              <a:buNone/>
              <a:defRPr sz="2175" b="0">
                <a:solidFill>
                  <a:srgbClr val="52657A"/>
                </a:solidFill>
                <a:latin typeface="Bitstream Charter"/>
                <a:ea typeface="Bitstream Charter"/>
                <a:cs typeface="Bitstream Charter"/>
              </a:defRPr>
            </a:lvl4pPr>
            <a:lvl5pPr>
              <a:buNone/>
              <a:defRPr sz="2175" b="0">
                <a:solidFill>
                  <a:srgbClr val="52657A"/>
                </a:solidFill>
                <a:latin typeface="Bitstream Charter"/>
                <a:ea typeface="Bitstream Charter"/>
                <a:cs typeface="Bitstream Charter"/>
              </a:defRPr>
            </a:lvl5pPr>
            <a:lvl6pPr>
              <a:buNone/>
              <a:defRPr sz="2175" b="0">
                <a:solidFill>
                  <a:srgbClr val="52657A"/>
                </a:solidFill>
                <a:latin typeface="Bitstream Charter"/>
                <a:ea typeface="Bitstream Charter"/>
                <a:cs typeface="Bitstream Charter"/>
              </a:defRPr>
            </a:lvl6pPr>
            <a:lvl7pPr>
              <a:buNone/>
              <a:defRPr sz="2175" b="0">
                <a:solidFill>
                  <a:srgbClr val="52657A"/>
                </a:solidFill>
                <a:latin typeface="Bitstream Charter"/>
                <a:ea typeface="Bitstream Charter"/>
                <a:cs typeface="Bitstream Charter"/>
              </a:defRPr>
            </a:lvl7pPr>
            <a:lvl8pPr>
              <a:buNone/>
              <a:defRPr sz="2175" b="0">
                <a:solidFill>
                  <a:srgbClr val="52657A"/>
                </a:solidFill>
                <a:latin typeface="Bitstream Charter"/>
                <a:ea typeface="Bitstream Charter"/>
                <a:cs typeface="Bitstream Charter"/>
              </a:defRPr>
            </a:lvl8pPr>
            <a:lvl9pPr>
              <a:buNone/>
              <a:defRPr sz="2175" b="0">
                <a:solidFill>
                  <a:srgbClr val="52657A"/>
                </a:solidFill>
                <a:latin typeface="Bitstream Charter"/>
                <a:ea typeface="Bitstream Charter"/>
                <a:cs typeface="Bitstream Charter"/>
              </a:defRPr>
            </a:lvl9pPr>
          </a:lstStyle>
          <a:p xmlns:a="http://schemas.openxmlformats.org/drawingml/2006/main">
            <a:pPr>
              <a:buNone/>
              <a:defRPr sz="2175" b="0">
                <a:solidFill>
                  <a:srgbClr val="52657A"/>
                </a:solidFill>
                <a:latin typeface="Bitstream Charter"/>
                <a:ea typeface="Bitstream Charter"/>
                <a:cs typeface="Bitstream Charter"/>
              </a:defRPr>
            </a:pPr>
            <a:r>
              <a:rPr sz="2175" b="0">
                <a:solidFill>
                  <a:srgbClr val="52657A"/>
                </a:solidFill>
                <a:latin typeface="Bitstream Charter"/>
                <a:ea typeface="Bitstream Charter"/>
                <a:cs typeface="Bitstream Charter"/>
              </a:rPr>
              <a:t>Different coverage. No overall method comparison yet.</a:t>
            </a:r>
          </a:p>
          <a:p xmlns:a="http://schemas.openxmlformats.org/drawingml/2006/main">
            <a:pPr>
              <a:buNone/>
              <a:defRPr sz="2175" b="0">
                <a:solidFill>
                  <a:srgbClr val="52657A"/>
                </a:solidFill>
                <a:latin typeface="Bitstream Charter"/>
                <a:ea typeface="Bitstream Charter"/>
                <a:cs typeface="Bitstream Charter"/>
              </a:defRPr>
            </a:pPr>
            <a:r>
              <a:rPr sz="2175" b="0">
                <a:solidFill>
                  <a:srgbClr val="52657A"/>
                </a:solidFill>
                <a:latin typeface="Bitstream Charter"/>
                <a:ea typeface="Bitstream Charter"/>
                <a:cs typeface="Bitstream Charter"/>
              </a:rPr>
              <a:t>Hardware, electricity and failed-attempt costs remain unpriced.</a:t>
            </a:r>
          </a:p>
        </p:txBody>
      </p:sp>
    </p:spTree>
    <p:extLst>
      <p:ext uri="{BB962C8B-B14F-4D97-AF65-F5344CB8AC3E}">
        <p14:creationId xmlns:p14="http://schemas.microsoft.com/office/powerpoint/2010/main" val="9370907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2026-10-19T20:04:39.8180000Z</dcterms:created>
  <dcterms:modified xsi:type="dcterms:W3CDTF">2026-10-19T20:04:39.8180000Z</dcterms:modified>
</coreProperties>
</file>