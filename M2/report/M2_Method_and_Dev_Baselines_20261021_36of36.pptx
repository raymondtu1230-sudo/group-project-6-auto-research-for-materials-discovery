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e8f49bf4f7e420f" /><Relationship Type="http://schemas.openxmlformats.org/officeDocument/2006/relationships/extended-properties" Target="/docProps/app.xml" Id="Rdee46798320b4f46" /><Relationship Type="http://schemas.openxmlformats.org/officeDocument/2006/relationships/officeDocument" Target="/ppt/presentation.xml" Id="R210d368492414caf" /></Relationships>
</file>

<file path=ppt/presentation.xml><?xml version="1.0" encoding="utf-8"?>
<p:presentation xmlns:p="http://schemas.openxmlformats.org/presentationml/2006/main">
  <p:sldMasterIdLst>
    <p:sldMasterId xmlns:r="http://schemas.openxmlformats.org/officeDocument/2006/relationships" id="2147483648" r:id="Rcd91fa1de6064ad4"/>
  </p:sldMasterIdLst>
  <p:notesMasterIdLst>
    <p:notesMasterId xmlns:r="http://schemas.openxmlformats.org/officeDocument/2006/relationships" r:id="Rf1b97b5652954f97"/>
  </p:notesMasterIdLst>
  <p:sldIdLst>
    <p:sldId xmlns:r="http://schemas.openxmlformats.org/officeDocument/2006/relationships" id="256" r:id="Rb427ba95e4b84649"/>
    <p:sldId xmlns:r="http://schemas.openxmlformats.org/officeDocument/2006/relationships" id="257" r:id="Rc4978d4c873f495c"/>
    <p:sldId xmlns:r="http://schemas.openxmlformats.org/officeDocument/2006/relationships" id="258" r:id="R34d8d2314e5f483f"/>
    <p:sldId xmlns:r="http://schemas.openxmlformats.org/officeDocument/2006/relationships" id="259" r:id="R0681b0ea2ca048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1c7d105f684630" /><Relationship Type="http://schemas.openxmlformats.org/officeDocument/2006/relationships/slideMaster" Target="/ppt/slideMasters/slideMaster1.xml" Id="Rcd91fa1de6064ad4" /><Relationship Type="http://schemas.openxmlformats.org/officeDocument/2006/relationships/notesMaster" Target="/ppt/notesMasters/notesMaster1.xml" Id="Rf1b97b5652954f97" /><Relationship Type="http://schemas.openxmlformats.org/officeDocument/2006/relationships/presProps" Target="/ppt/presProps.xml" Id="R5a17189b22584b7f" /><Relationship Type="http://schemas.openxmlformats.org/officeDocument/2006/relationships/tableStyles" Target="/ppt/tableStyles.xml" Id="R876b07b262274e49" /><Relationship Type="http://schemas.openxmlformats.org/officeDocument/2006/relationships/slide" Target="/ppt/slides/slide1.xml" Id="Rb427ba95e4b84649" /><Relationship Type="http://schemas.openxmlformats.org/officeDocument/2006/relationships/slide" Target="/ppt/slides/slide2.xml" Id="Rc4978d4c873f495c" /><Relationship Type="http://schemas.openxmlformats.org/officeDocument/2006/relationships/slide" Target="/ppt/slides/slide3.xml" Id="R34d8d2314e5f483f" /><Relationship Type="http://schemas.openxmlformats.org/officeDocument/2006/relationships/slide" Target="/ppt/slides/slide4.xml" Id="R0681b0ea2ca048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355b6ec7e04d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644c2770714788" /><Relationship Type="http://schemas.openxmlformats.org/officeDocument/2006/relationships/notesMaster" Target="/ppt/notesMasters/notesMaster1.xml" Id="Rd338afd4df964d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fc6bc20e674161" /><Relationship Type="http://schemas.openxmlformats.org/officeDocument/2006/relationships/notesMaster" Target="/ppt/notesMasters/notesMaster1.xml" Id="Rccc94188cfff44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b29e10fdea435b" /><Relationship Type="http://schemas.openxmlformats.org/officeDocument/2006/relationships/notesMaster" Target="/ppt/notesMasters/notesMaster1.xml" Id="R9027686f999f43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e7130c94ff4560" /><Relationship Type="http://schemas.openxmlformats.org/officeDocument/2006/relationships/notesMaster" Target="/ppt/notesMasters/notesMaster1.xml" Id="R15197d113ec540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We add a router in M1’s existing tool-selection slot. It tries Random and Chemeleon once, then uses public query feedback with an upper-confidence bonus. Stable and new observations earn one, stable-only observations earn a quarter. These rewards are proxies, distinct from mSUN. The final two queries use only the smoothed reward. Seeded ties and JSON checkpoints support reproduction. Routing makes no oracle call. M1 retains all five independent switches. M1 must supply a frozen full-system reference before the routing-off ablation. Source: M2/integration/m2_tool_routing.py and M1/PLUGIN_INTERFACE.md. This slide makes no measured routing-benefit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All 36 development baseline units have passed validation, with 18 Random and 18 Chemeleon units and 20 queries each. These editable curves show only the matched Mg-Sn-Sr, seed17 example: mSUN7/AUDC55.5 for Random and16/161 for Chemeleon. Across all six systems and three seeds, Random has mean mSUN4.055555555555555 and AUDC40.583333333333336. Chemeleon has mean mSUN6.944444444444445 and AUDC71.30555555555556. We average systems equally within seed, then take the three-seed mean. This establishes development baselines. Routing benefit remains unmeasured. Sources: M2/verification/direct-39432570527-1/final-report/per_run.csv, per_method_summary.csv, validation.json and M2/report/verified_pair_chart_data.json. This is M2 contribution material for M6.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M6 owns public-check and hidden-test evaluation. M2 owns development baselines and offline scoring. Fixed ORB model orb-v3-conservative-inf-omat, FIRE, fmax 0.02, up to 500 steps, cell relaxation enabled. Both official baselines retain the initial candidate pool of 1024 and their scientific inference settings. One env.step is one query. AF/EF are paired by system, seed, budget and compatible scientific configuration. The final system and routing-off variant must use M1’s same frozen version, changing only enable_tool_routing. Sources: M1/protocol/protocol_v1.yaml, M6/PROTOCOL_ADOPTION.md.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Both methods cover all six development systems and seeds17/29/43. Each unit uses B=20 and20 oracle queries, total720 queries. Random mSUN mean4.055555555555555 and sample SD0.6309898162000303; AUDC mean40.583333333333336 and SD9.458608659722517. Chemeleon mSUN mean6.944444444444445 and SD1.1097213530798984; AUDC mean71.30555555555556 and SD9.503776052667659. Aggregation is equal system weights within seed, followed by three-seed mean and sample SD. Mean driver seconds are959.3567777777778 and14058.559444444445, or15.98927962962963 and234.30932407407408 minutes. Known recorded model fees are USD0. Hardware, electricity, all failed attempts and missing token fields remain unpriced. AF/EF are official discovery metrics, not wall-clock acceleration. Preserve official zero-baseline conventions, including EF100 for Chemeleon Co-Dy-W/17 relative to zero Random. Sources: M2/verification/direct-39432570527-1/final-report/per_method_summary.csv, per_run.csv, M2/verification/stage-closeout-39432570527/cost-scope.json and terminal-validation.json. M1 full reference, routing-off and M6 check/hidden remain later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ff0c12a07a4a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0c4a1d6b8241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5d48b7b4dc4a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5afeef2bab4c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ed2916b10e47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396216e1594a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9836D8-5239-42F4-9C49-270CAF96B2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795288-7B91-428A-BFB8-7BC0668B7E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8A591C-37C3-4E6B-874F-D3D3FDE6A7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748D7A-A391-427C-8B71-EDAF71437D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28BFDF-3953-4BB3-AE1C-553756C1EA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572ED2-70AA-4E8A-A7A6-D20E05C650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1199CF-303B-4136-8A92-CD13F01D33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A1AC9C-3ED8-4FE2-86E0-C250D5FB00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40D42D-5EED-45B9-97C3-B4A43ED820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18E51B-93DF-44C6-8B07-263374FE24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01c00341d74188" /><Relationship Type="http://schemas.openxmlformats.org/officeDocument/2006/relationships/slideLayout" Target="/ppt/slideLayouts/slideLayout1.xml" Id="Rc608bdece4124bd8" /><Relationship Type="http://schemas.openxmlformats.org/officeDocument/2006/relationships/slideLayout" Target="/ppt/slideLayouts/slideLayout2.xml" Id="Rf38c4b34411a4d48" /><Relationship Type="http://schemas.openxmlformats.org/officeDocument/2006/relationships/slideLayout" Target="/ppt/slideLayouts/slideLayout3.xml" Id="R13cc3b9cf43f4fd7" /><Relationship Type="http://schemas.openxmlformats.org/officeDocument/2006/relationships/slideLayout" Target="/ppt/slideLayouts/slideLayout4.xml" Id="Rf516dee7c73340b6" /><Relationship Type="http://schemas.openxmlformats.org/officeDocument/2006/relationships/slideLayout" Target="/ppt/slideLayouts/slideLayout5.xml" Id="Rff3ae83f50af4ba2" /><Relationship Type="http://schemas.openxmlformats.org/officeDocument/2006/relationships/slideLayout" Target="/ppt/slideLayouts/slideLayout6.xml" Id="R5bb89540bf1942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08bdece4124bd8"/>
    <p:sldLayoutId xmlns:r="http://schemas.openxmlformats.org/officeDocument/2006/relationships" id="2147483650" r:id="Rf38c4b34411a4d48"/>
    <p:sldLayoutId xmlns:r="http://schemas.openxmlformats.org/officeDocument/2006/relationships" id="2147483651" r:id="R13cc3b9cf43f4fd7"/>
    <p:sldLayoutId xmlns:r="http://schemas.openxmlformats.org/officeDocument/2006/relationships" id="2147483652" r:id="Rf516dee7c73340b6"/>
    <p:sldLayoutId xmlns:r="http://schemas.openxmlformats.org/officeDocument/2006/relationships" id="2147483653" r:id="Rff3ae83f50af4ba2"/>
    <p:sldLayoutId xmlns:r="http://schemas.openxmlformats.org/officeDocument/2006/relationships" id="2147483654" r:id="R5bb89540bf1942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ea17100a2c4a99" /><Relationship Type="http://schemas.openxmlformats.org/officeDocument/2006/relationships/notesSlide" Target="/ppt/notesSlides/notesSlide1.xml" Id="R4bc2bc98014f49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dd44348e8a4c26" /><Relationship Type="http://schemas.openxmlformats.org/officeDocument/2006/relationships/chart" Target="/ppt/slides/charts/chart1.xml" Id="R80601078037f40d1" /><Relationship Type="http://schemas.openxmlformats.org/officeDocument/2006/relationships/chart" Target="/ppt/slides/charts/chart2.xml" Id="Rf94b76fb8ebf41c7" /><Relationship Type="http://schemas.openxmlformats.org/officeDocument/2006/relationships/notesSlide" Target="/ppt/notesSlides/notesSlide2.xml" Id="R442c694248b243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e5aadf72f6454e" /><Relationship Type="http://schemas.openxmlformats.org/officeDocument/2006/relationships/notesSlide" Target="/ppt/notesSlides/notesSlide3.xml" Id="R67d3c3c51b444f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2b695d03beb4e2d" /><Relationship Type="http://schemas.openxmlformats.org/officeDocument/2006/relationships/notesSlide" Target="/ppt/notesSlides/notesSlide4.xml" Id="R525836c5ae1b47b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latin typeface="Bitstream Charter"/>
                <a:ea typeface="Bitstream Charter"/>
                <a:cs typeface="Bitstream Charter"/>
              </a:rPr>
              <a:t>mSUN</a:t>
            </a:r>
          </a:p>
        </c:rich>
      </c:tx>
      <c:overlay val="0"/>
      <c:txPr>
        <a:bodyPr xmlns:a="http://schemas.openxmlformats.org/drawingml/2006/main" anchorCtr="1"/>
        <a:lstStyle xmlns:a="http://schemas.openxmlformats.org/drawingml/2006/main"/>
        <a:p xmlns:a="http://schemas.openxmlformats.org/drawingml/2006/main">
          <a:pPr>
            <a:defRPr sz="1950">
              <a:latin typeface="Bitstream Charter"/>
              <a:ea typeface="Bitstream Charter"/>
              <a:cs typeface="Bitstream Charter"/>
            </a:defRPr>
          </a:pPr>
        </a:p>
      </c:txPr>
    </c:title>
    <c:plotArea>
      <c:lineChart>
        <c:grouping val="standard"/>
        <c:varyColors val="0"/>
        <c:ser>
          <c:idx val="0"/>
          <c:order val="0"/>
          <c:tx>
            <c:v>Chemeleon</c:v>
          </c:tx>
          <c:spPr>
            <a:ln xmlns:a="http://schemas.openxmlformats.org/drawingml/2006/main" w="28575">
              <a:solidFill>
                <a:srgbClr val="087F8C"/>
              </a:solidFill>
              <a:prstDash val="solid"/>
            </a:ln>
          </c:spPr>
          <c:marker>
            <c:symbol val="none"/>
          </c:marker>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0</c:v>
                </c:pt>
                <c:pt idx="1">
                  <c:v>1</c:v>
                </c:pt>
                <c:pt idx="2">
                  <c:v>2</c:v>
                </c:pt>
                <c:pt idx="3">
                  <c:v>3</c:v>
                </c:pt>
                <c:pt idx="4">
                  <c:v>4</c:v>
                </c:pt>
                <c:pt idx="5">
                  <c:v>4</c:v>
                </c:pt>
                <c:pt idx="6">
                  <c:v>5</c:v>
                </c:pt>
                <c:pt idx="7">
                  <c:v>6</c:v>
                </c:pt>
                <c:pt idx="8">
                  <c:v>7</c:v>
                </c:pt>
                <c:pt idx="9">
                  <c:v>8</c:v>
                </c:pt>
                <c:pt idx="10">
                  <c:v>9</c:v>
                </c:pt>
                <c:pt idx="11">
                  <c:v>9</c:v>
                </c:pt>
                <c:pt idx="12">
                  <c:v>9</c:v>
                </c:pt>
                <c:pt idx="13">
                  <c:v>10</c:v>
                </c:pt>
                <c:pt idx="14">
                  <c:v>11</c:v>
                </c:pt>
                <c:pt idx="15">
                  <c:v>11</c:v>
                </c:pt>
                <c:pt idx="16">
                  <c:v>12</c:v>
                </c:pt>
                <c:pt idx="17">
                  <c:v>13</c:v>
                </c:pt>
                <c:pt idx="18">
                  <c:v>14</c:v>
                </c:pt>
                <c:pt idx="19">
                  <c:v>15</c:v>
                </c:pt>
                <c:pt idx="20">
                  <c:v>16</c:v>
                </c:pt>
              </c:numCache>
            </c:numRef>
          </c:val>
          <c:smooth val="0"/>
        </c:ser>
        <c:ser>
          <c:idx val="1"/>
          <c:order val="1"/>
          <c:tx>
            <c:v>Random</c:v>
          </c:tx>
          <c:spPr>
            <a:ln xmlns:a="http://schemas.openxmlformats.org/drawingml/2006/main" w="28575">
              <a:solidFill>
                <a:srgbClr val="266BCC"/>
              </a:solidFill>
              <a:prstDash val="solid"/>
            </a:ln>
          </c:spPr>
          <c:marker>
            <c:symbol val="none"/>
          </c:marker>
          <c:cat>
            <c:numRef>
              <c:f>'Chart Data'!$C$2:$C$22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Data'!$D$2:$D$22</c:f>
              <c:numCache>
                <c:formatCode>General</c:formatCode>
                <c:ptCount val="21"/>
                <c:pt idx="0">
                  <c:v>0</c:v>
                </c:pt>
                <c:pt idx="1">
                  <c:v>0</c:v>
                </c:pt>
                <c:pt idx="2">
                  <c:v>1</c:v>
                </c:pt>
                <c:pt idx="3">
                  <c:v>1</c:v>
                </c:pt>
                <c:pt idx="4">
                  <c:v>1</c:v>
                </c:pt>
                <c:pt idx="5">
                  <c:v>1</c:v>
                </c:pt>
                <c:pt idx="6">
                  <c:v>1</c:v>
                </c:pt>
                <c:pt idx="7">
                  <c:v>1</c:v>
                </c:pt>
                <c:pt idx="8">
                  <c:v>1</c:v>
                </c:pt>
                <c:pt idx="9">
                  <c:v>1</c:v>
                </c:pt>
                <c:pt idx="10">
                  <c:v>1</c:v>
                </c:pt>
                <c:pt idx="11">
                  <c:v>2</c:v>
                </c:pt>
                <c:pt idx="12">
                  <c:v>3</c:v>
                </c:pt>
                <c:pt idx="13">
                  <c:v>4</c:v>
                </c:pt>
                <c:pt idx="14">
                  <c:v>5</c:v>
                </c:pt>
                <c:pt idx="15">
                  <c:v>5</c:v>
                </c:pt>
                <c:pt idx="16">
                  <c:v>5</c:v>
                </c:pt>
                <c:pt idx="17">
                  <c:v>6</c:v>
                </c:pt>
                <c:pt idx="18">
                  <c:v>6</c:v>
                </c:pt>
                <c:pt idx="19">
                  <c:v>7</c:v>
                </c:pt>
                <c:pt idx="20">
                  <c:v>7</c:v>
                </c:pt>
              </c:numCache>
            </c:numRef>
          </c:val>
          <c:smooth val="0"/>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Oracle queries</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72768"/>
      </c:catAx>
      <c:valAx>
        <c:axId val="48672768"/>
        <c:scaling>
          <c:orientation val="minMax"/>
          <c:max val="20"/>
          <c:min val="0"/>
        </c:scaling>
        <c:delete val="0"/>
        <c:axPos val="l"/>
        <c:majorGridlines>
          <c:spPr>
            <a:ln xmlns:a="http://schemas.openxmlformats.org/drawingml/2006/main" w="9525">
              <a:solidFill>
                <a:srgbClr val="DFE6EE"/>
              </a:solidFill>
              <a:prstDash val="solid"/>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Discovery count</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Bitstream Charter"/>
              <a:ea typeface="Bitstream Charter"/>
              <a:cs typeface="Bitstream Charter"/>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latin typeface="Bitstream Charter"/>
                <a:ea typeface="Bitstream Charter"/>
                <a:cs typeface="Bitstream Charter"/>
              </a:rPr>
              <a:t>Official AUDC source curve</a:t>
            </a:r>
          </a:p>
        </c:rich>
      </c:tx>
      <c:overlay val="0"/>
      <c:txPr>
        <a:bodyPr xmlns:a="http://schemas.openxmlformats.org/drawingml/2006/main" anchorCtr="1"/>
        <a:lstStyle xmlns:a="http://schemas.openxmlformats.org/drawingml/2006/main"/>
        <a:p xmlns:a="http://schemas.openxmlformats.org/drawingml/2006/main">
          <a:pPr>
            <a:defRPr sz="1950">
              <a:latin typeface="Bitstream Charter"/>
              <a:ea typeface="Bitstream Charter"/>
              <a:cs typeface="Bitstream Charter"/>
            </a:defRPr>
          </a:pPr>
        </a:p>
      </c:txPr>
    </c:title>
    <c:plotArea>
      <c:lineChart>
        <c:grouping val="standard"/>
        <c:varyColors val="0"/>
        <c:ser>
          <c:idx val="0"/>
          <c:order val="0"/>
          <c:tx>
            <c:v>Chemeleon</c:v>
          </c:tx>
          <c:spPr>
            <a:ln xmlns:a="http://schemas.openxmlformats.org/drawingml/2006/main" w="28575">
              <a:solidFill>
                <a:srgbClr val="087F8C"/>
              </a:solidFill>
              <a:prstDash val="solid"/>
            </a:ln>
          </c:spPr>
          <c:marker>
            <c:symbol val="none"/>
          </c:marker>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0</c:v>
                </c:pt>
                <c:pt idx="1">
                  <c:v>1</c:v>
                </c:pt>
                <c:pt idx="2">
                  <c:v>2</c:v>
                </c:pt>
                <c:pt idx="3">
                  <c:v>3</c:v>
                </c:pt>
                <c:pt idx="4">
                  <c:v>4</c:v>
                </c:pt>
                <c:pt idx="5">
                  <c:v>4</c:v>
                </c:pt>
                <c:pt idx="6">
                  <c:v>5</c:v>
                </c:pt>
                <c:pt idx="7">
                  <c:v>6</c:v>
                </c:pt>
                <c:pt idx="8">
                  <c:v>7</c:v>
                </c:pt>
                <c:pt idx="9">
                  <c:v>8</c:v>
                </c:pt>
                <c:pt idx="10">
                  <c:v>9</c:v>
                </c:pt>
                <c:pt idx="11">
                  <c:v>9</c:v>
                </c:pt>
                <c:pt idx="12">
                  <c:v>9</c:v>
                </c:pt>
                <c:pt idx="13">
                  <c:v>10</c:v>
                </c:pt>
                <c:pt idx="14">
                  <c:v>11</c:v>
                </c:pt>
                <c:pt idx="15">
                  <c:v>11</c:v>
                </c:pt>
                <c:pt idx="16">
                  <c:v>12</c:v>
                </c:pt>
                <c:pt idx="17">
                  <c:v>13</c:v>
                </c:pt>
                <c:pt idx="18">
                  <c:v>14</c:v>
                </c:pt>
                <c:pt idx="19">
                  <c:v>15</c:v>
                </c:pt>
                <c:pt idx="20">
                  <c:v>16</c:v>
                </c:pt>
              </c:numCache>
            </c:numRef>
          </c:val>
          <c:smooth val="0"/>
        </c:ser>
        <c:ser>
          <c:idx val="1"/>
          <c:order val="1"/>
          <c:tx>
            <c:v>Random</c:v>
          </c:tx>
          <c:spPr>
            <a:ln xmlns:a="http://schemas.openxmlformats.org/drawingml/2006/main" w="28575">
              <a:solidFill>
                <a:srgbClr val="266BCC"/>
              </a:solidFill>
              <a:prstDash val="solid"/>
            </a:ln>
          </c:spPr>
          <c:marker>
            <c:symbol val="none"/>
          </c:marker>
          <c:cat>
            <c:numRef>
              <c:f>'Chart Data'!$C$2:$C$22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Data'!$D$2:$D$22</c:f>
              <c:numCache>
                <c:formatCode>General</c:formatCode>
                <c:ptCount val="21"/>
                <c:pt idx="0">
                  <c:v>0</c:v>
                </c:pt>
                <c:pt idx="1">
                  <c:v>0</c:v>
                </c:pt>
                <c:pt idx="2">
                  <c:v>1</c:v>
                </c:pt>
                <c:pt idx="3">
                  <c:v>1</c:v>
                </c:pt>
                <c:pt idx="4">
                  <c:v>1</c:v>
                </c:pt>
                <c:pt idx="5">
                  <c:v>1</c:v>
                </c:pt>
                <c:pt idx="6">
                  <c:v>1</c:v>
                </c:pt>
                <c:pt idx="7">
                  <c:v>1</c:v>
                </c:pt>
                <c:pt idx="8">
                  <c:v>1</c:v>
                </c:pt>
                <c:pt idx="9">
                  <c:v>1</c:v>
                </c:pt>
                <c:pt idx="10">
                  <c:v>1</c:v>
                </c:pt>
                <c:pt idx="11">
                  <c:v>2</c:v>
                </c:pt>
                <c:pt idx="12">
                  <c:v>3</c:v>
                </c:pt>
                <c:pt idx="13">
                  <c:v>4</c:v>
                </c:pt>
                <c:pt idx="14">
                  <c:v>5</c:v>
                </c:pt>
                <c:pt idx="15">
                  <c:v>5</c:v>
                </c:pt>
                <c:pt idx="16">
                  <c:v>5</c:v>
                </c:pt>
                <c:pt idx="17">
                  <c:v>6</c:v>
                </c:pt>
                <c:pt idx="18">
                  <c:v>6</c:v>
                </c:pt>
                <c:pt idx="19">
                  <c:v>7</c:v>
                </c:pt>
                <c:pt idx="20">
                  <c:v>7</c:v>
                </c:pt>
              </c:numCache>
            </c:numRef>
          </c:val>
          <c:smooth val="0"/>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Oracle queries</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72768"/>
      </c:catAx>
      <c:valAx>
        <c:axId val="48672768"/>
        <c:scaling>
          <c:orientation val="minMax"/>
          <c:max val="20"/>
          <c:min val="0"/>
        </c:scaling>
        <c:delete val="0"/>
        <c:axPos val="l"/>
        <c:majorGridlines>
          <c:spPr>
            <a:ln xmlns:a="http://schemas.openxmlformats.org/drawingml/2006/main" w="9525">
              <a:solidFill>
                <a:srgbClr val="DFE6EE"/>
              </a:solidFill>
              <a:prstDash val="solid"/>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Discovery count</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Bitstream Charter"/>
              <a:ea typeface="Bitstream Charter"/>
              <a:cs typeface="Bitstream Charter"/>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877B87-33E8-4D10-82FB-CAD9D3D151B4}"/>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buNone/>
              <a:defRPr sz="3300" b="1">
                <a:solidFill>
                  <a:srgbClr val="102B46"/>
                </a:solidFill>
                <a:latin typeface="Bitstream Charter"/>
                <a:ea typeface="Bitstream Charter"/>
                <a:cs typeface="Bitstream Charter"/>
              </a:defRPr>
            </a:lvl1pPr>
            <a:lvl2pPr>
              <a:buNone/>
              <a:defRPr sz="3300" b="1">
                <a:solidFill>
                  <a:srgbClr val="102B46"/>
                </a:solidFill>
                <a:latin typeface="Bitstream Charter"/>
                <a:ea typeface="Bitstream Charter"/>
                <a:cs typeface="Bitstream Charter"/>
              </a:defRPr>
            </a:lvl2pPr>
            <a:lvl3pPr>
              <a:buNone/>
              <a:defRPr sz="3300" b="1">
                <a:solidFill>
                  <a:srgbClr val="102B46"/>
                </a:solidFill>
                <a:latin typeface="Bitstream Charter"/>
                <a:ea typeface="Bitstream Charter"/>
                <a:cs typeface="Bitstream Charter"/>
              </a:defRPr>
            </a:lvl3pPr>
            <a:lvl4pPr>
              <a:buNone/>
              <a:defRPr sz="3300" b="1">
                <a:solidFill>
                  <a:srgbClr val="102B46"/>
                </a:solidFill>
                <a:latin typeface="Bitstream Charter"/>
                <a:ea typeface="Bitstream Charter"/>
                <a:cs typeface="Bitstream Charter"/>
              </a:defRPr>
            </a:lvl4pPr>
            <a:lvl5pPr>
              <a:buNone/>
              <a:defRPr sz="3300" b="1">
                <a:solidFill>
                  <a:srgbClr val="102B46"/>
                </a:solidFill>
                <a:latin typeface="Bitstream Charter"/>
                <a:ea typeface="Bitstream Charter"/>
                <a:cs typeface="Bitstream Charter"/>
              </a:defRPr>
            </a:lvl5pPr>
            <a:lvl6pPr>
              <a:buNone/>
              <a:defRPr sz="3300" b="1">
                <a:solidFill>
                  <a:srgbClr val="102B46"/>
                </a:solidFill>
                <a:latin typeface="Bitstream Charter"/>
                <a:ea typeface="Bitstream Charter"/>
                <a:cs typeface="Bitstream Charter"/>
              </a:defRPr>
            </a:lvl6pPr>
            <a:lvl7pPr>
              <a:buNone/>
              <a:defRPr sz="3300" b="1">
                <a:solidFill>
                  <a:srgbClr val="102B46"/>
                </a:solidFill>
                <a:latin typeface="Bitstream Charter"/>
                <a:ea typeface="Bitstream Charter"/>
                <a:cs typeface="Bitstream Charter"/>
              </a:defRPr>
            </a:lvl7pPr>
            <a:lvl8pPr>
              <a:buNone/>
              <a:defRPr sz="3300" b="1">
                <a:solidFill>
                  <a:srgbClr val="102B46"/>
                </a:solidFill>
                <a:latin typeface="Bitstream Charter"/>
                <a:ea typeface="Bitstream Charter"/>
                <a:cs typeface="Bitstream Charter"/>
              </a:defRPr>
            </a:lvl8pPr>
            <a:lvl9pPr>
              <a:buNone/>
              <a:defRPr sz="3300" b="1">
                <a:solidFill>
                  <a:srgbClr val="102B46"/>
                </a:solidFill>
                <a:latin typeface="Bitstream Charter"/>
                <a:ea typeface="Bitstream Charter"/>
                <a:cs typeface="Bitstream Charter"/>
              </a:defRPr>
            </a:lvl9pPr>
          </a:lstStyle>
          <a:p xmlns:a="http://schemas.openxmlformats.org/drawingml/2006/main">
            <a:pPr>
              <a:buNone/>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The router chooses tools from observed feedback</a:t>
            </a:r>
          </a:p>
        </p:txBody>
      </p:sp>
      <p:sp>
        <p:nvSpPr>
          <p:cNvPr id="2" name="">
            <a:extLst xmlns:a="http://schemas.openxmlformats.org/drawingml/2006/main">
              <a:ext uri="{FF2B5EF4-FFF2-40B4-BE49-F238E27FC236}">
                <a16:creationId xmlns:a16="http://schemas.microsoft.com/office/drawing/2014/main" id="{B32F6847-8E46-4960-881A-5AA651374214}"/>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buNone/>
              <a:defRPr sz="1500" b="0">
                <a:solidFill>
                  <a:srgbClr val="52657A"/>
                </a:solidFill>
                <a:latin typeface="Bitstream Charter"/>
                <a:ea typeface="Bitstream Charter"/>
                <a:cs typeface="Bitstream Charter"/>
              </a:defRPr>
            </a:lvl1pPr>
            <a:lvl2pPr>
              <a:buNone/>
              <a:defRPr sz="1500" b="0">
                <a:solidFill>
                  <a:srgbClr val="52657A"/>
                </a:solidFill>
                <a:latin typeface="Bitstream Charter"/>
                <a:ea typeface="Bitstream Charter"/>
                <a:cs typeface="Bitstream Charter"/>
              </a:defRPr>
            </a:lvl2pPr>
            <a:lvl3pPr>
              <a:buNone/>
              <a:defRPr sz="1500" b="0">
                <a:solidFill>
                  <a:srgbClr val="52657A"/>
                </a:solidFill>
                <a:latin typeface="Bitstream Charter"/>
                <a:ea typeface="Bitstream Charter"/>
                <a:cs typeface="Bitstream Charter"/>
              </a:defRPr>
            </a:lvl3pPr>
            <a:lvl4pPr>
              <a:buNone/>
              <a:defRPr sz="1500" b="0">
                <a:solidFill>
                  <a:srgbClr val="52657A"/>
                </a:solidFill>
                <a:latin typeface="Bitstream Charter"/>
                <a:ea typeface="Bitstream Charter"/>
                <a:cs typeface="Bitstream Charter"/>
              </a:defRPr>
            </a:lvl4pPr>
            <a:lvl5pPr>
              <a:buNone/>
              <a:defRPr sz="1500" b="0">
                <a:solidFill>
                  <a:srgbClr val="52657A"/>
                </a:solidFill>
                <a:latin typeface="Bitstream Charter"/>
                <a:ea typeface="Bitstream Charter"/>
                <a:cs typeface="Bitstream Charter"/>
              </a:defRPr>
            </a:lvl5pPr>
            <a:lvl6pPr>
              <a:buNone/>
              <a:defRPr sz="1500" b="0">
                <a:solidFill>
                  <a:srgbClr val="52657A"/>
                </a:solidFill>
                <a:latin typeface="Bitstream Charter"/>
                <a:ea typeface="Bitstream Charter"/>
                <a:cs typeface="Bitstream Charter"/>
              </a:defRPr>
            </a:lvl6pPr>
            <a:lvl7pPr>
              <a:buNone/>
              <a:defRPr sz="1500" b="0">
                <a:solidFill>
                  <a:srgbClr val="52657A"/>
                </a:solidFill>
                <a:latin typeface="Bitstream Charter"/>
                <a:ea typeface="Bitstream Charter"/>
                <a:cs typeface="Bitstream Charter"/>
              </a:defRPr>
            </a:lvl7pPr>
            <a:lvl8pPr>
              <a:buNone/>
              <a:defRPr sz="1500" b="0">
                <a:solidFill>
                  <a:srgbClr val="52657A"/>
                </a:solidFill>
                <a:latin typeface="Bitstream Charter"/>
                <a:ea typeface="Bitstream Charter"/>
                <a:cs typeface="Bitstream Charter"/>
              </a:defRPr>
            </a:lvl8pPr>
            <a:lvl9pPr>
              <a:buNone/>
              <a:defRPr sz="1500" b="0">
                <a:solidFill>
                  <a:srgbClr val="52657A"/>
                </a:solidFill>
                <a:latin typeface="Bitstream Charter"/>
                <a:ea typeface="Bitstream Charter"/>
                <a:cs typeface="Bitstream Charter"/>
              </a:defRPr>
            </a:lvl9pPr>
          </a:lstStyle>
          <a:p xmlns:a="http://schemas.openxmlformats.org/drawingml/2006/main">
            <a:pPr>
              <a:buNone/>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M2 method draft for M6, about 40 seconds</a:t>
            </a:r>
          </a:p>
        </p:txBody>
      </p:sp>
      <p:sp>
        <p:nvSpPr>
          <p:cNvPr id="3" name="">
            <a:extLst xmlns:a="http://schemas.openxmlformats.org/drawingml/2006/main">
              <a:ext uri="{FF2B5EF4-FFF2-40B4-BE49-F238E27FC236}">
                <a16:creationId xmlns:a16="http://schemas.microsoft.com/office/drawing/2014/main" id="{93662D09-6C87-438B-AD8C-E8152F99D60A}"/>
              </a:ext>
            </a:extLst>
          </p:cNvPr>
          <p:cNvSpPr>
            <a:spLocks xmlns:a="http://schemas.openxmlformats.org/drawingml/2006/main" noGrp="1"/>
          </p:cNvSpPr>
          <p:nvPr/>
        </p:nvSpPr>
        <p:spPr>
          <a:xfrm xmlns:a="http://schemas.openxmlformats.org/drawingml/2006/main">
            <a:off x="609600" y="204787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600" b="1">
                <a:solidFill>
                  <a:srgbClr val="266BCC"/>
                </a:solidFill>
                <a:latin typeface="Bitstream Charter"/>
                <a:ea typeface="Bitstream Charter"/>
                <a:cs typeface="Bitstream Charter"/>
              </a:defRPr>
            </a:defPPr>
            <a:lvl1pPr>
              <a:buNone/>
              <a:defRPr sz="3600" b="1">
                <a:solidFill>
                  <a:srgbClr val="266BCC"/>
                </a:solidFill>
                <a:latin typeface="Bitstream Charter"/>
                <a:ea typeface="Bitstream Charter"/>
                <a:cs typeface="Bitstream Charter"/>
              </a:defRPr>
            </a:lvl1pPr>
            <a:lvl2pPr>
              <a:buNone/>
              <a:defRPr sz="3600" b="1">
                <a:solidFill>
                  <a:srgbClr val="266BCC"/>
                </a:solidFill>
                <a:latin typeface="Bitstream Charter"/>
                <a:ea typeface="Bitstream Charter"/>
                <a:cs typeface="Bitstream Charter"/>
              </a:defRPr>
            </a:lvl2pPr>
            <a:lvl3pPr>
              <a:buNone/>
              <a:defRPr sz="3600" b="1">
                <a:solidFill>
                  <a:srgbClr val="266BCC"/>
                </a:solidFill>
                <a:latin typeface="Bitstream Charter"/>
                <a:ea typeface="Bitstream Charter"/>
                <a:cs typeface="Bitstream Charter"/>
              </a:defRPr>
            </a:lvl3pPr>
            <a:lvl4pPr>
              <a:buNone/>
              <a:defRPr sz="3600" b="1">
                <a:solidFill>
                  <a:srgbClr val="266BCC"/>
                </a:solidFill>
                <a:latin typeface="Bitstream Charter"/>
                <a:ea typeface="Bitstream Charter"/>
                <a:cs typeface="Bitstream Charter"/>
              </a:defRPr>
            </a:lvl4pPr>
            <a:lvl5pPr>
              <a:buNone/>
              <a:defRPr sz="3600" b="1">
                <a:solidFill>
                  <a:srgbClr val="266BCC"/>
                </a:solidFill>
                <a:latin typeface="Bitstream Charter"/>
                <a:ea typeface="Bitstream Charter"/>
                <a:cs typeface="Bitstream Charter"/>
              </a:defRPr>
            </a:lvl5pPr>
            <a:lvl6pPr>
              <a:buNone/>
              <a:defRPr sz="3600" b="1">
                <a:solidFill>
                  <a:srgbClr val="266BCC"/>
                </a:solidFill>
                <a:latin typeface="Bitstream Charter"/>
                <a:ea typeface="Bitstream Charter"/>
                <a:cs typeface="Bitstream Charter"/>
              </a:defRPr>
            </a:lvl6pPr>
            <a:lvl7pPr>
              <a:buNone/>
              <a:defRPr sz="3600" b="1">
                <a:solidFill>
                  <a:srgbClr val="266BCC"/>
                </a:solidFill>
                <a:latin typeface="Bitstream Charter"/>
                <a:ea typeface="Bitstream Charter"/>
                <a:cs typeface="Bitstream Charter"/>
              </a:defRPr>
            </a:lvl7pPr>
            <a:lvl8pPr>
              <a:buNone/>
              <a:defRPr sz="3600" b="1">
                <a:solidFill>
                  <a:srgbClr val="266BCC"/>
                </a:solidFill>
                <a:latin typeface="Bitstream Charter"/>
                <a:ea typeface="Bitstream Charter"/>
                <a:cs typeface="Bitstream Charter"/>
              </a:defRPr>
            </a:lvl8pPr>
            <a:lvl9pPr>
              <a:buNone/>
              <a:defRPr sz="3600" b="1">
                <a:solidFill>
                  <a:srgbClr val="266BCC"/>
                </a:solidFill>
                <a:latin typeface="Bitstream Charter"/>
                <a:ea typeface="Bitstream Charter"/>
                <a:cs typeface="Bitstream Charter"/>
              </a:defRPr>
            </a:lvl9pPr>
          </a:lstStyle>
          <a:p xmlns:a="http://schemas.openxmlformats.org/drawingml/2006/main">
            <a:pPr>
              <a:buNone/>
              <a:defRPr sz="3600" b="1">
                <a:solidFill>
                  <a:srgbClr val="266BCC"/>
                </a:solidFill>
                <a:latin typeface="Bitstream Charter"/>
                <a:ea typeface="Bitstream Charter"/>
                <a:cs typeface="Bitstream Charter"/>
              </a:defRPr>
            </a:pPr>
            <a:r>
              <a:rPr sz="3600" b="1">
                <a:solidFill>
                  <a:srgbClr val="266BCC"/>
                </a:solidFill>
                <a:latin typeface="Bitstream Charter"/>
                <a:ea typeface="Bitstream Charter"/>
                <a:cs typeface="Bitstream Charter"/>
              </a:rPr>
              <a:t>Random or Chemeleon</a:t>
            </a:r>
          </a:p>
        </p:txBody>
      </p:sp>
      <p:sp>
        <p:nvSpPr>
          <p:cNvPr id="4" name="">
            <a:extLst xmlns:a="http://schemas.openxmlformats.org/drawingml/2006/main">
              <a:ext uri="{FF2B5EF4-FFF2-40B4-BE49-F238E27FC236}">
                <a16:creationId xmlns:a16="http://schemas.microsoft.com/office/drawing/2014/main" id="{21EFADEE-4C6C-4160-82C5-9F9129291252}"/>
              </a:ext>
            </a:extLst>
          </p:cNvPr>
          <p:cNvSpPr>
            <a:spLocks xmlns:a="http://schemas.openxmlformats.org/drawingml/2006/main" noGrp="1"/>
          </p:cNvSpPr>
          <p:nvPr/>
        </p:nvSpPr>
        <p:spPr>
          <a:xfrm xmlns:a="http://schemas.openxmlformats.org/drawingml/2006/main">
            <a:off x="609600" y="3095625"/>
            <a:ext cx="109728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buNone/>
              <a:defRPr sz="2700" b="0">
                <a:solidFill>
                  <a:srgbClr val="102B46"/>
                </a:solidFill>
                <a:latin typeface="Bitstream Charter"/>
                <a:ea typeface="Bitstream Charter"/>
                <a:cs typeface="Bitstream Charter"/>
              </a:defRPr>
            </a:lvl1pPr>
            <a:lvl2pPr>
              <a:buNone/>
              <a:defRPr sz="2700" b="0">
                <a:solidFill>
                  <a:srgbClr val="102B46"/>
                </a:solidFill>
                <a:latin typeface="Bitstream Charter"/>
                <a:ea typeface="Bitstream Charter"/>
                <a:cs typeface="Bitstream Charter"/>
              </a:defRPr>
            </a:lvl2pPr>
            <a:lvl3pPr>
              <a:buNone/>
              <a:defRPr sz="2700" b="0">
                <a:solidFill>
                  <a:srgbClr val="102B46"/>
                </a:solidFill>
                <a:latin typeface="Bitstream Charter"/>
                <a:ea typeface="Bitstream Charter"/>
                <a:cs typeface="Bitstream Charter"/>
              </a:defRPr>
            </a:lvl3pPr>
            <a:lvl4pPr>
              <a:buNone/>
              <a:defRPr sz="2700" b="0">
                <a:solidFill>
                  <a:srgbClr val="102B46"/>
                </a:solidFill>
                <a:latin typeface="Bitstream Charter"/>
                <a:ea typeface="Bitstream Charter"/>
                <a:cs typeface="Bitstream Charter"/>
              </a:defRPr>
            </a:lvl4pPr>
            <a:lvl5pPr>
              <a:buNone/>
              <a:defRPr sz="2700" b="0">
                <a:solidFill>
                  <a:srgbClr val="102B46"/>
                </a:solidFill>
                <a:latin typeface="Bitstream Charter"/>
                <a:ea typeface="Bitstream Charter"/>
                <a:cs typeface="Bitstream Charter"/>
              </a:defRPr>
            </a:lvl5pPr>
            <a:lvl6pPr>
              <a:buNone/>
              <a:defRPr sz="2700" b="0">
                <a:solidFill>
                  <a:srgbClr val="102B46"/>
                </a:solidFill>
                <a:latin typeface="Bitstream Charter"/>
                <a:ea typeface="Bitstream Charter"/>
                <a:cs typeface="Bitstream Charter"/>
              </a:defRPr>
            </a:lvl6pPr>
            <a:lvl7pPr>
              <a:buNone/>
              <a:defRPr sz="2700" b="0">
                <a:solidFill>
                  <a:srgbClr val="102B46"/>
                </a:solidFill>
                <a:latin typeface="Bitstream Charter"/>
                <a:ea typeface="Bitstream Charter"/>
                <a:cs typeface="Bitstream Charter"/>
              </a:defRPr>
            </a:lvl7pPr>
            <a:lvl8pPr>
              <a:buNone/>
              <a:defRPr sz="2700" b="0">
                <a:solidFill>
                  <a:srgbClr val="102B46"/>
                </a:solidFill>
                <a:latin typeface="Bitstream Charter"/>
                <a:ea typeface="Bitstream Charter"/>
                <a:cs typeface="Bitstream Charter"/>
              </a:defRPr>
            </a:lvl8pPr>
            <a:lvl9pPr>
              <a:buNone/>
              <a:defRPr sz="2700" b="0">
                <a:solidFill>
                  <a:srgbClr val="102B46"/>
                </a:solidFill>
                <a:latin typeface="Bitstream Charter"/>
                <a:ea typeface="Bitstream Charter"/>
                <a:cs typeface="Bitstream Charter"/>
              </a:defRPr>
            </a:lvl9pPr>
          </a:lstStyle>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Probe each tool once</a:t>
            </a:r>
          </a:p>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Use observed reward with UCB</a:t>
            </a:r>
          </a:p>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Use greedy reward for the final two queries</a:t>
            </a:r>
          </a:p>
        </p:txBody>
      </p:sp>
    </p:spTree>
    <p:extLst>
      <p:ext uri="{BB962C8B-B14F-4D97-AF65-F5344CB8AC3E}">
        <p14:creationId xmlns:p14="http://schemas.microsoft.com/office/powerpoint/2010/main" val="3185325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4014F0-2883-4ED1-8D8F-F46DCA180D55}"/>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buNone/>
              <a:defRPr sz="3300" b="1">
                <a:solidFill>
                  <a:srgbClr val="102B46"/>
                </a:solidFill>
                <a:latin typeface="Bitstream Charter"/>
                <a:ea typeface="Bitstream Charter"/>
                <a:cs typeface="Bitstream Charter"/>
              </a:defRPr>
            </a:lvl1pPr>
            <a:lvl2pPr>
              <a:buNone/>
              <a:defRPr sz="3300" b="1">
                <a:solidFill>
                  <a:srgbClr val="102B46"/>
                </a:solidFill>
                <a:latin typeface="Bitstream Charter"/>
                <a:ea typeface="Bitstream Charter"/>
                <a:cs typeface="Bitstream Charter"/>
              </a:defRPr>
            </a:lvl2pPr>
            <a:lvl3pPr>
              <a:buNone/>
              <a:defRPr sz="3300" b="1">
                <a:solidFill>
                  <a:srgbClr val="102B46"/>
                </a:solidFill>
                <a:latin typeface="Bitstream Charter"/>
                <a:ea typeface="Bitstream Charter"/>
                <a:cs typeface="Bitstream Charter"/>
              </a:defRPr>
            </a:lvl3pPr>
            <a:lvl4pPr>
              <a:buNone/>
              <a:defRPr sz="3300" b="1">
                <a:solidFill>
                  <a:srgbClr val="102B46"/>
                </a:solidFill>
                <a:latin typeface="Bitstream Charter"/>
                <a:ea typeface="Bitstream Charter"/>
                <a:cs typeface="Bitstream Charter"/>
              </a:defRPr>
            </a:lvl4pPr>
            <a:lvl5pPr>
              <a:buNone/>
              <a:defRPr sz="3300" b="1">
                <a:solidFill>
                  <a:srgbClr val="102B46"/>
                </a:solidFill>
                <a:latin typeface="Bitstream Charter"/>
                <a:ea typeface="Bitstream Charter"/>
                <a:cs typeface="Bitstream Charter"/>
              </a:defRPr>
            </a:lvl5pPr>
            <a:lvl6pPr>
              <a:buNone/>
              <a:defRPr sz="3300" b="1">
                <a:solidFill>
                  <a:srgbClr val="102B46"/>
                </a:solidFill>
                <a:latin typeface="Bitstream Charter"/>
                <a:ea typeface="Bitstream Charter"/>
                <a:cs typeface="Bitstream Charter"/>
              </a:defRPr>
            </a:lvl6pPr>
            <a:lvl7pPr>
              <a:buNone/>
              <a:defRPr sz="3300" b="1">
                <a:solidFill>
                  <a:srgbClr val="102B46"/>
                </a:solidFill>
                <a:latin typeface="Bitstream Charter"/>
                <a:ea typeface="Bitstream Charter"/>
                <a:cs typeface="Bitstream Charter"/>
              </a:defRPr>
            </a:lvl7pPr>
            <a:lvl8pPr>
              <a:buNone/>
              <a:defRPr sz="3300" b="1">
                <a:solidFill>
                  <a:srgbClr val="102B46"/>
                </a:solidFill>
                <a:latin typeface="Bitstream Charter"/>
                <a:ea typeface="Bitstream Charter"/>
                <a:cs typeface="Bitstream Charter"/>
              </a:defRPr>
            </a:lvl8pPr>
            <a:lvl9pPr>
              <a:buNone/>
              <a:defRPr sz="3300" b="1">
                <a:solidFill>
                  <a:srgbClr val="102B46"/>
                </a:solidFill>
                <a:latin typeface="Bitstream Charter"/>
                <a:ea typeface="Bitstream Charter"/>
                <a:cs typeface="Bitstream Charter"/>
              </a:defRPr>
            </a:lvl9pPr>
          </a:lstStyle>
          <a:p xmlns:a="http://schemas.openxmlformats.org/drawingml/2006/main">
            <a:pPr>
              <a:buNone/>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All 36 development baseline units verified</a:t>
            </a:r>
          </a:p>
        </p:txBody>
      </p:sp>
      <p:sp>
        <p:nvSpPr>
          <p:cNvPr id="2" name="">
            <a:extLst xmlns:a="http://schemas.openxmlformats.org/drawingml/2006/main">
              <a:ext uri="{FF2B5EF4-FFF2-40B4-BE49-F238E27FC236}">
                <a16:creationId xmlns:a16="http://schemas.microsoft.com/office/drawing/2014/main" id="{FD18B144-4061-4F5B-BC2A-8B5610E5C21B}"/>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buNone/>
              <a:defRPr sz="1500" b="0">
                <a:solidFill>
                  <a:srgbClr val="52657A"/>
                </a:solidFill>
                <a:latin typeface="Bitstream Charter"/>
                <a:ea typeface="Bitstream Charter"/>
                <a:cs typeface="Bitstream Charter"/>
              </a:defRPr>
            </a:lvl1pPr>
            <a:lvl2pPr>
              <a:buNone/>
              <a:defRPr sz="1500" b="0">
                <a:solidFill>
                  <a:srgbClr val="52657A"/>
                </a:solidFill>
                <a:latin typeface="Bitstream Charter"/>
                <a:ea typeface="Bitstream Charter"/>
                <a:cs typeface="Bitstream Charter"/>
              </a:defRPr>
            </a:lvl2pPr>
            <a:lvl3pPr>
              <a:buNone/>
              <a:defRPr sz="1500" b="0">
                <a:solidFill>
                  <a:srgbClr val="52657A"/>
                </a:solidFill>
                <a:latin typeface="Bitstream Charter"/>
                <a:ea typeface="Bitstream Charter"/>
                <a:cs typeface="Bitstream Charter"/>
              </a:defRPr>
            </a:lvl3pPr>
            <a:lvl4pPr>
              <a:buNone/>
              <a:defRPr sz="1500" b="0">
                <a:solidFill>
                  <a:srgbClr val="52657A"/>
                </a:solidFill>
                <a:latin typeface="Bitstream Charter"/>
                <a:ea typeface="Bitstream Charter"/>
                <a:cs typeface="Bitstream Charter"/>
              </a:defRPr>
            </a:lvl4pPr>
            <a:lvl5pPr>
              <a:buNone/>
              <a:defRPr sz="1500" b="0">
                <a:solidFill>
                  <a:srgbClr val="52657A"/>
                </a:solidFill>
                <a:latin typeface="Bitstream Charter"/>
                <a:ea typeface="Bitstream Charter"/>
                <a:cs typeface="Bitstream Charter"/>
              </a:defRPr>
            </a:lvl5pPr>
            <a:lvl6pPr>
              <a:buNone/>
              <a:defRPr sz="1500" b="0">
                <a:solidFill>
                  <a:srgbClr val="52657A"/>
                </a:solidFill>
                <a:latin typeface="Bitstream Charter"/>
                <a:ea typeface="Bitstream Charter"/>
                <a:cs typeface="Bitstream Charter"/>
              </a:defRPr>
            </a:lvl6pPr>
            <a:lvl7pPr>
              <a:buNone/>
              <a:defRPr sz="1500" b="0">
                <a:solidFill>
                  <a:srgbClr val="52657A"/>
                </a:solidFill>
                <a:latin typeface="Bitstream Charter"/>
                <a:ea typeface="Bitstream Charter"/>
                <a:cs typeface="Bitstream Charter"/>
              </a:defRPr>
            </a:lvl7pPr>
            <a:lvl8pPr>
              <a:buNone/>
              <a:defRPr sz="1500" b="0">
                <a:solidFill>
                  <a:srgbClr val="52657A"/>
                </a:solidFill>
                <a:latin typeface="Bitstream Charter"/>
                <a:ea typeface="Bitstream Charter"/>
                <a:cs typeface="Bitstream Charter"/>
              </a:defRPr>
            </a:lvl8pPr>
            <a:lvl9pPr>
              <a:buNone/>
              <a:defRPr sz="1500" b="0">
                <a:solidFill>
                  <a:srgbClr val="52657A"/>
                </a:solidFill>
                <a:latin typeface="Bitstream Charter"/>
                <a:ea typeface="Bitstream Charter"/>
                <a:cs typeface="Bitstream Charter"/>
              </a:defRPr>
            </a:lvl9pPr>
          </a:lstStyle>
          <a:p xmlns:a="http://schemas.openxmlformats.org/drawingml/2006/main">
            <a:pPr>
              <a:buNone/>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Example: Mg-Sn-Sr/17, B=20. Random 18/18. Chemeleon 18/18.</a:t>
            </a:r>
          </a:p>
        </p:txBody>
      </p:sp>
      <p:graphicFrame>
        <p:nvGraphicFramePr>
          <p:cNvPr id="3" name="Chart">
            <a:extLst xmlns:a="http://schemas.openxmlformats.org/drawingml/2006/main">
              <a:ext uri="{FF2B5EF4-FFF2-40B4-BE49-F238E27FC236}">
                <a16:creationId xmlns:a16="http://schemas.microsoft.com/office/drawing/2014/main" id="{13E963B1-373A-44D7-A4F6-5EA1F0BF6F79}"/>
              </a:ext>
            </a:extLst>
          </p:cNvPr>
          <p:cNvGraphicFramePr/>
          <p:nvPr/>
        </p:nvGraphicFramePr>
        <p:xfrm>
          <a:off xmlns:a="http://schemas.openxmlformats.org/drawingml/2006/main" x="533400" y="1771650"/>
          <a:ext xmlns:a="http://schemas.openxmlformats.org/drawingml/2006/main" cx="5657850" cy="4048125"/>
        </p:xfrm>
        <a:graphic xmlns:a="http://schemas.openxmlformats.org/drawingml/2006/main">
          <a:graphicData uri="http://schemas.openxmlformats.org/drawingml/2006/chart">
            <c:chart xmlns:r="http://schemas.openxmlformats.org/officeDocument/2006/relationships" xmlns:c="http://schemas.openxmlformats.org/drawingml/2006/chart" r:id="R80601078037f40d1"/>
          </a:graphicData>
        </a:graphic>
      </p:graphicFrame>
      <p:graphicFrame>
        <p:nvGraphicFramePr>
          <p:cNvPr id="4" name="Chart">
            <a:extLst xmlns:a="http://schemas.openxmlformats.org/drawingml/2006/main">
              <a:ext uri="{FF2B5EF4-FFF2-40B4-BE49-F238E27FC236}">
                <a16:creationId xmlns:a16="http://schemas.microsoft.com/office/drawing/2014/main" id="{65CD69EB-5FF4-4D50-ACAB-A312A9E0A962}"/>
              </a:ext>
            </a:extLst>
          </p:cNvPr>
          <p:cNvGraphicFramePr/>
          <p:nvPr/>
        </p:nvGraphicFramePr>
        <p:xfrm>
          <a:off xmlns:a="http://schemas.openxmlformats.org/drawingml/2006/main" x="6343650" y="1771650"/>
          <a:ext xmlns:a="http://schemas.openxmlformats.org/drawingml/2006/main" cx="5657850" cy="4048125"/>
        </p:xfrm>
        <a:graphic xmlns:a="http://schemas.openxmlformats.org/drawingml/2006/main">
          <a:graphicData uri="http://schemas.openxmlformats.org/drawingml/2006/chart">
            <c:chart xmlns:r="http://schemas.openxmlformats.org/officeDocument/2006/relationships" xmlns:c="http://schemas.openxmlformats.org/drawingml/2006/chart" r:id="Rf94b76fb8ebf41c7"/>
          </a:graphicData>
        </a:graphic>
      </p:graphicFrame>
    </p:spTree>
    <p:extLst>
      <p:ext uri="{BB962C8B-B14F-4D97-AF65-F5344CB8AC3E}">
        <p14:creationId xmlns:p14="http://schemas.microsoft.com/office/powerpoint/2010/main" val="17692925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82049A-3CFD-4E46-ACA1-71C8DCD2AC8F}"/>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buNone/>
              <a:defRPr sz="3300" b="1">
                <a:solidFill>
                  <a:srgbClr val="102B46"/>
                </a:solidFill>
                <a:latin typeface="Bitstream Charter"/>
                <a:ea typeface="Bitstream Charter"/>
                <a:cs typeface="Bitstream Charter"/>
              </a:defRPr>
            </a:lvl1pPr>
            <a:lvl2pPr>
              <a:buNone/>
              <a:defRPr sz="3300" b="1">
                <a:solidFill>
                  <a:srgbClr val="102B46"/>
                </a:solidFill>
                <a:latin typeface="Bitstream Charter"/>
                <a:ea typeface="Bitstream Charter"/>
                <a:cs typeface="Bitstream Charter"/>
              </a:defRPr>
            </a:lvl2pPr>
            <a:lvl3pPr>
              <a:buNone/>
              <a:defRPr sz="3300" b="1">
                <a:solidFill>
                  <a:srgbClr val="102B46"/>
                </a:solidFill>
                <a:latin typeface="Bitstream Charter"/>
                <a:ea typeface="Bitstream Charter"/>
                <a:cs typeface="Bitstream Charter"/>
              </a:defRPr>
            </a:lvl3pPr>
            <a:lvl4pPr>
              <a:buNone/>
              <a:defRPr sz="3300" b="1">
                <a:solidFill>
                  <a:srgbClr val="102B46"/>
                </a:solidFill>
                <a:latin typeface="Bitstream Charter"/>
                <a:ea typeface="Bitstream Charter"/>
                <a:cs typeface="Bitstream Charter"/>
              </a:defRPr>
            </a:lvl4pPr>
            <a:lvl5pPr>
              <a:buNone/>
              <a:defRPr sz="3300" b="1">
                <a:solidFill>
                  <a:srgbClr val="102B46"/>
                </a:solidFill>
                <a:latin typeface="Bitstream Charter"/>
                <a:ea typeface="Bitstream Charter"/>
                <a:cs typeface="Bitstream Charter"/>
              </a:defRPr>
            </a:lvl5pPr>
            <a:lvl6pPr>
              <a:buNone/>
              <a:defRPr sz="3300" b="1">
                <a:solidFill>
                  <a:srgbClr val="102B46"/>
                </a:solidFill>
                <a:latin typeface="Bitstream Charter"/>
                <a:ea typeface="Bitstream Charter"/>
                <a:cs typeface="Bitstream Charter"/>
              </a:defRPr>
            </a:lvl6pPr>
            <a:lvl7pPr>
              <a:buNone/>
              <a:defRPr sz="3300" b="1">
                <a:solidFill>
                  <a:srgbClr val="102B46"/>
                </a:solidFill>
                <a:latin typeface="Bitstream Charter"/>
                <a:ea typeface="Bitstream Charter"/>
                <a:cs typeface="Bitstream Charter"/>
              </a:defRPr>
            </a:lvl7pPr>
            <a:lvl8pPr>
              <a:buNone/>
              <a:defRPr sz="3300" b="1">
                <a:solidFill>
                  <a:srgbClr val="102B46"/>
                </a:solidFill>
                <a:latin typeface="Bitstream Charter"/>
                <a:ea typeface="Bitstream Charter"/>
                <a:cs typeface="Bitstream Charter"/>
              </a:defRPr>
            </a:lvl8pPr>
            <a:lvl9pPr>
              <a:buNone/>
              <a:defRPr sz="3300" b="1">
                <a:solidFill>
                  <a:srgbClr val="102B46"/>
                </a:solidFill>
                <a:latin typeface="Bitstream Charter"/>
                <a:ea typeface="Bitstream Charter"/>
                <a:cs typeface="Bitstream Charter"/>
              </a:defRPr>
            </a:lvl9pPr>
          </a:lstStyle>
          <a:p xmlns:a="http://schemas.openxmlformats.org/drawingml/2006/main">
            <a:pPr>
              <a:buNone/>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Every method uses the same scientific protocol</a:t>
            </a:r>
          </a:p>
        </p:txBody>
      </p:sp>
      <p:sp>
        <p:nvSpPr>
          <p:cNvPr id="2" name="">
            <a:extLst xmlns:a="http://schemas.openxmlformats.org/drawingml/2006/main">
              <a:ext uri="{FF2B5EF4-FFF2-40B4-BE49-F238E27FC236}">
                <a16:creationId xmlns:a16="http://schemas.microsoft.com/office/drawing/2014/main" id="{ABF6501A-6832-4798-8F91-FAA8269FFF12}"/>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buNone/>
              <a:defRPr sz="1500" b="0">
                <a:solidFill>
                  <a:srgbClr val="52657A"/>
                </a:solidFill>
                <a:latin typeface="Bitstream Charter"/>
                <a:ea typeface="Bitstream Charter"/>
                <a:cs typeface="Bitstream Charter"/>
              </a:defRPr>
            </a:lvl1pPr>
            <a:lvl2pPr>
              <a:buNone/>
              <a:defRPr sz="1500" b="0">
                <a:solidFill>
                  <a:srgbClr val="52657A"/>
                </a:solidFill>
                <a:latin typeface="Bitstream Charter"/>
                <a:ea typeface="Bitstream Charter"/>
                <a:cs typeface="Bitstream Charter"/>
              </a:defRPr>
            </a:lvl2pPr>
            <a:lvl3pPr>
              <a:buNone/>
              <a:defRPr sz="1500" b="0">
                <a:solidFill>
                  <a:srgbClr val="52657A"/>
                </a:solidFill>
                <a:latin typeface="Bitstream Charter"/>
                <a:ea typeface="Bitstream Charter"/>
                <a:cs typeface="Bitstream Charter"/>
              </a:defRPr>
            </a:lvl3pPr>
            <a:lvl4pPr>
              <a:buNone/>
              <a:defRPr sz="1500" b="0">
                <a:solidFill>
                  <a:srgbClr val="52657A"/>
                </a:solidFill>
                <a:latin typeface="Bitstream Charter"/>
                <a:ea typeface="Bitstream Charter"/>
                <a:cs typeface="Bitstream Charter"/>
              </a:defRPr>
            </a:lvl4pPr>
            <a:lvl5pPr>
              <a:buNone/>
              <a:defRPr sz="1500" b="0">
                <a:solidFill>
                  <a:srgbClr val="52657A"/>
                </a:solidFill>
                <a:latin typeface="Bitstream Charter"/>
                <a:ea typeface="Bitstream Charter"/>
                <a:cs typeface="Bitstream Charter"/>
              </a:defRPr>
            </a:lvl5pPr>
            <a:lvl6pPr>
              <a:buNone/>
              <a:defRPr sz="1500" b="0">
                <a:solidFill>
                  <a:srgbClr val="52657A"/>
                </a:solidFill>
                <a:latin typeface="Bitstream Charter"/>
                <a:ea typeface="Bitstream Charter"/>
                <a:cs typeface="Bitstream Charter"/>
              </a:defRPr>
            </a:lvl6pPr>
            <a:lvl7pPr>
              <a:buNone/>
              <a:defRPr sz="1500" b="0">
                <a:solidFill>
                  <a:srgbClr val="52657A"/>
                </a:solidFill>
                <a:latin typeface="Bitstream Charter"/>
                <a:ea typeface="Bitstream Charter"/>
                <a:cs typeface="Bitstream Charter"/>
              </a:defRPr>
            </a:lvl7pPr>
            <a:lvl8pPr>
              <a:buNone/>
              <a:defRPr sz="1500" b="0">
                <a:solidFill>
                  <a:srgbClr val="52657A"/>
                </a:solidFill>
                <a:latin typeface="Bitstream Charter"/>
                <a:ea typeface="Bitstream Charter"/>
                <a:cs typeface="Bitstream Charter"/>
              </a:defRPr>
            </a:lvl8pPr>
            <a:lvl9pPr>
              <a:buNone/>
              <a:defRPr sz="1500" b="0">
                <a:solidFill>
                  <a:srgbClr val="52657A"/>
                </a:solidFill>
                <a:latin typeface="Bitstream Charter"/>
                <a:ea typeface="Bitstream Charter"/>
                <a:cs typeface="Bitstream Charter"/>
              </a:defRPr>
            </a:lvl9pPr>
          </a:lstStyle>
          <a:p xmlns:a="http://schemas.openxmlformats.org/drawingml/2006/main">
            <a:pPr>
              <a:buNone/>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Backup material for M6 slide 8. Source: M1/protocol/protocol_v1.yaml</a:t>
            </a:r>
          </a:p>
        </p:txBody>
      </p:sp>
      <p:sp>
        <p:nvSpPr>
          <p:cNvPr id="3" name="">
            <a:extLst xmlns:a="http://schemas.openxmlformats.org/drawingml/2006/main">
              <a:ext uri="{FF2B5EF4-FFF2-40B4-BE49-F238E27FC236}">
                <a16:creationId xmlns:a16="http://schemas.microsoft.com/office/drawing/2014/main" id="{E3203898-A5EC-4B7B-8610-71CB58C8C0F1}"/>
              </a:ext>
            </a:extLst>
          </p:cNvPr>
          <p:cNvSpPr>
            <a:spLocks xmlns:a="http://schemas.openxmlformats.org/drawingml/2006/main" noGrp="1"/>
          </p:cNvSpPr>
          <p:nvPr/>
        </p:nvSpPr>
        <p:spPr>
          <a:xfrm xmlns:a="http://schemas.openxmlformats.org/drawingml/2006/main">
            <a:off x="609600" y="20383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buNone/>
              <a:defRPr sz="2700" b="0">
                <a:solidFill>
                  <a:srgbClr val="102B46"/>
                </a:solidFill>
                <a:latin typeface="Bitstream Charter"/>
                <a:ea typeface="Bitstream Charter"/>
                <a:cs typeface="Bitstream Charter"/>
              </a:defRPr>
            </a:lvl1pPr>
            <a:lvl2pPr>
              <a:buNone/>
              <a:defRPr sz="2700" b="0">
                <a:solidFill>
                  <a:srgbClr val="102B46"/>
                </a:solidFill>
                <a:latin typeface="Bitstream Charter"/>
                <a:ea typeface="Bitstream Charter"/>
                <a:cs typeface="Bitstream Charter"/>
              </a:defRPr>
            </a:lvl2pPr>
            <a:lvl3pPr>
              <a:buNone/>
              <a:defRPr sz="2700" b="0">
                <a:solidFill>
                  <a:srgbClr val="102B46"/>
                </a:solidFill>
                <a:latin typeface="Bitstream Charter"/>
                <a:ea typeface="Bitstream Charter"/>
                <a:cs typeface="Bitstream Charter"/>
              </a:defRPr>
            </a:lvl3pPr>
            <a:lvl4pPr>
              <a:buNone/>
              <a:defRPr sz="2700" b="0">
                <a:solidFill>
                  <a:srgbClr val="102B46"/>
                </a:solidFill>
                <a:latin typeface="Bitstream Charter"/>
                <a:ea typeface="Bitstream Charter"/>
                <a:cs typeface="Bitstream Charter"/>
              </a:defRPr>
            </a:lvl4pPr>
            <a:lvl5pPr>
              <a:buNone/>
              <a:defRPr sz="2700" b="0">
                <a:solidFill>
                  <a:srgbClr val="102B46"/>
                </a:solidFill>
                <a:latin typeface="Bitstream Charter"/>
                <a:ea typeface="Bitstream Charter"/>
                <a:cs typeface="Bitstream Charter"/>
              </a:defRPr>
            </a:lvl5pPr>
            <a:lvl6pPr>
              <a:buNone/>
              <a:defRPr sz="2700" b="0">
                <a:solidFill>
                  <a:srgbClr val="102B46"/>
                </a:solidFill>
                <a:latin typeface="Bitstream Charter"/>
                <a:ea typeface="Bitstream Charter"/>
                <a:cs typeface="Bitstream Charter"/>
              </a:defRPr>
            </a:lvl6pPr>
            <a:lvl7pPr>
              <a:buNone/>
              <a:defRPr sz="2700" b="0">
                <a:solidFill>
                  <a:srgbClr val="102B46"/>
                </a:solidFill>
                <a:latin typeface="Bitstream Charter"/>
                <a:ea typeface="Bitstream Charter"/>
                <a:cs typeface="Bitstream Charter"/>
              </a:defRPr>
            </a:lvl7pPr>
            <a:lvl8pPr>
              <a:buNone/>
              <a:defRPr sz="2700" b="0">
                <a:solidFill>
                  <a:srgbClr val="102B46"/>
                </a:solidFill>
                <a:latin typeface="Bitstream Charter"/>
                <a:ea typeface="Bitstream Charter"/>
                <a:cs typeface="Bitstream Charter"/>
              </a:defRPr>
            </a:lvl8pPr>
            <a:lvl9pPr>
              <a:buNone/>
              <a:defRPr sz="2700" b="0">
                <a:solidFill>
                  <a:srgbClr val="102B46"/>
                </a:solidFill>
                <a:latin typeface="Bitstream Charter"/>
                <a:ea typeface="Bitstream Charter"/>
                <a:cs typeface="Bitstream Charter"/>
              </a:defRPr>
            </a:lvl9pPr>
          </a:lstStyle>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Six development systems, seeds 17 / 29 / 43</a:t>
            </a:r>
          </a:p>
        </p:txBody>
      </p:sp>
      <p:sp>
        <p:nvSpPr>
          <p:cNvPr id="4" name="">
            <a:extLst xmlns:a="http://schemas.openxmlformats.org/drawingml/2006/main">
              <a:ext uri="{FF2B5EF4-FFF2-40B4-BE49-F238E27FC236}">
                <a16:creationId xmlns:a16="http://schemas.microsoft.com/office/drawing/2014/main" id="{CA65CA27-5FA8-4E88-9DCF-C595E3C214A8}"/>
              </a:ext>
            </a:extLst>
          </p:cNvPr>
          <p:cNvSpPr>
            <a:spLocks xmlns:a="http://schemas.openxmlformats.org/drawingml/2006/main" noGrp="1"/>
          </p:cNvSpPr>
          <p:nvPr/>
        </p:nvSpPr>
        <p:spPr>
          <a:xfrm xmlns:a="http://schemas.openxmlformats.org/drawingml/2006/main">
            <a:off x="609600" y="28956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1">
                <a:solidFill>
                  <a:srgbClr val="266BCC"/>
                </a:solidFill>
                <a:latin typeface="Bitstream Charter"/>
                <a:ea typeface="Bitstream Charter"/>
                <a:cs typeface="Bitstream Charter"/>
              </a:defRPr>
            </a:defPPr>
            <a:lvl1pPr>
              <a:buNone/>
              <a:defRPr sz="2700" b="1">
                <a:solidFill>
                  <a:srgbClr val="266BCC"/>
                </a:solidFill>
                <a:latin typeface="Bitstream Charter"/>
                <a:ea typeface="Bitstream Charter"/>
                <a:cs typeface="Bitstream Charter"/>
              </a:defRPr>
            </a:lvl1pPr>
            <a:lvl2pPr>
              <a:buNone/>
              <a:defRPr sz="2700" b="1">
                <a:solidFill>
                  <a:srgbClr val="266BCC"/>
                </a:solidFill>
                <a:latin typeface="Bitstream Charter"/>
                <a:ea typeface="Bitstream Charter"/>
                <a:cs typeface="Bitstream Charter"/>
              </a:defRPr>
            </a:lvl2pPr>
            <a:lvl3pPr>
              <a:buNone/>
              <a:defRPr sz="2700" b="1">
                <a:solidFill>
                  <a:srgbClr val="266BCC"/>
                </a:solidFill>
                <a:latin typeface="Bitstream Charter"/>
                <a:ea typeface="Bitstream Charter"/>
                <a:cs typeface="Bitstream Charter"/>
              </a:defRPr>
            </a:lvl3pPr>
            <a:lvl4pPr>
              <a:buNone/>
              <a:defRPr sz="2700" b="1">
                <a:solidFill>
                  <a:srgbClr val="266BCC"/>
                </a:solidFill>
                <a:latin typeface="Bitstream Charter"/>
                <a:ea typeface="Bitstream Charter"/>
                <a:cs typeface="Bitstream Charter"/>
              </a:defRPr>
            </a:lvl4pPr>
            <a:lvl5pPr>
              <a:buNone/>
              <a:defRPr sz="2700" b="1">
                <a:solidFill>
                  <a:srgbClr val="266BCC"/>
                </a:solidFill>
                <a:latin typeface="Bitstream Charter"/>
                <a:ea typeface="Bitstream Charter"/>
                <a:cs typeface="Bitstream Charter"/>
              </a:defRPr>
            </a:lvl5pPr>
            <a:lvl6pPr>
              <a:buNone/>
              <a:defRPr sz="2700" b="1">
                <a:solidFill>
                  <a:srgbClr val="266BCC"/>
                </a:solidFill>
                <a:latin typeface="Bitstream Charter"/>
                <a:ea typeface="Bitstream Charter"/>
                <a:cs typeface="Bitstream Charter"/>
              </a:defRPr>
            </a:lvl6pPr>
            <a:lvl7pPr>
              <a:buNone/>
              <a:defRPr sz="2700" b="1">
                <a:solidFill>
                  <a:srgbClr val="266BCC"/>
                </a:solidFill>
                <a:latin typeface="Bitstream Charter"/>
                <a:ea typeface="Bitstream Charter"/>
                <a:cs typeface="Bitstream Charter"/>
              </a:defRPr>
            </a:lvl7pPr>
            <a:lvl8pPr>
              <a:buNone/>
              <a:defRPr sz="2700" b="1">
                <a:solidFill>
                  <a:srgbClr val="266BCC"/>
                </a:solidFill>
                <a:latin typeface="Bitstream Charter"/>
                <a:ea typeface="Bitstream Charter"/>
                <a:cs typeface="Bitstream Charter"/>
              </a:defRPr>
            </a:lvl8pPr>
            <a:lvl9pPr>
              <a:buNone/>
              <a:defRPr sz="2700" b="1">
                <a:solidFill>
                  <a:srgbClr val="266BCC"/>
                </a:solidFill>
                <a:latin typeface="Bitstream Charter"/>
                <a:ea typeface="Bitstream Charter"/>
                <a:cs typeface="Bitstream Charter"/>
              </a:defRPr>
            </a:lvl9pPr>
          </a:lstStyle>
          <a:p xmlns:a="http://schemas.openxmlformats.org/drawingml/2006/main">
            <a:pPr>
              <a:buNone/>
              <a:defRPr sz="2700" b="1">
                <a:solidFill>
                  <a:srgbClr val="266BCC"/>
                </a:solidFill>
                <a:latin typeface="Bitstream Charter"/>
                <a:ea typeface="Bitstream Charter"/>
                <a:cs typeface="Bitstream Charter"/>
              </a:defRPr>
            </a:pPr>
            <a:r>
              <a:rPr sz="2700" b="1">
                <a:solidFill>
                  <a:srgbClr val="266BCC"/>
                </a:solidFill>
                <a:latin typeface="Bitstream Charter"/>
                <a:ea typeface="Bitstream Charter"/>
                <a:cs typeface="Bitstream Charter"/>
              </a:rPr>
              <a:t>Twenty oracle queries per unit</a:t>
            </a:r>
          </a:p>
        </p:txBody>
      </p:sp>
      <p:sp>
        <p:nvSpPr>
          <p:cNvPr id="5" name="">
            <a:extLst xmlns:a="http://schemas.openxmlformats.org/drawingml/2006/main">
              <a:ext uri="{FF2B5EF4-FFF2-40B4-BE49-F238E27FC236}">
                <a16:creationId xmlns:a16="http://schemas.microsoft.com/office/drawing/2014/main" id="{77093A6A-BC3B-4CCA-AED5-343EC1BDFE69}"/>
              </a:ext>
            </a:extLst>
          </p:cNvPr>
          <p:cNvSpPr>
            <a:spLocks xmlns:a="http://schemas.openxmlformats.org/drawingml/2006/main" noGrp="1"/>
          </p:cNvSpPr>
          <p:nvPr/>
        </p:nvSpPr>
        <p:spPr>
          <a:xfrm xmlns:a="http://schemas.openxmlformats.org/drawingml/2006/main">
            <a:off x="609600" y="37528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buNone/>
              <a:defRPr sz="2700" b="0">
                <a:solidFill>
                  <a:srgbClr val="102B46"/>
                </a:solidFill>
                <a:latin typeface="Bitstream Charter"/>
                <a:ea typeface="Bitstream Charter"/>
                <a:cs typeface="Bitstream Charter"/>
              </a:defRPr>
            </a:lvl1pPr>
            <a:lvl2pPr>
              <a:buNone/>
              <a:defRPr sz="2700" b="0">
                <a:solidFill>
                  <a:srgbClr val="102B46"/>
                </a:solidFill>
                <a:latin typeface="Bitstream Charter"/>
                <a:ea typeface="Bitstream Charter"/>
                <a:cs typeface="Bitstream Charter"/>
              </a:defRPr>
            </a:lvl2pPr>
            <a:lvl3pPr>
              <a:buNone/>
              <a:defRPr sz="2700" b="0">
                <a:solidFill>
                  <a:srgbClr val="102B46"/>
                </a:solidFill>
                <a:latin typeface="Bitstream Charter"/>
                <a:ea typeface="Bitstream Charter"/>
                <a:cs typeface="Bitstream Charter"/>
              </a:defRPr>
            </a:lvl3pPr>
            <a:lvl4pPr>
              <a:buNone/>
              <a:defRPr sz="2700" b="0">
                <a:solidFill>
                  <a:srgbClr val="102B46"/>
                </a:solidFill>
                <a:latin typeface="Bitstream Charter"/>
                <a:ea typeface="Bitstream Charter"/>
                <a:cs typeface="Bitstream Charter"/>
              </a:defRPr>
            </a:lvl4pPr>
            <a:lvl5pPr>
              <a:buNone/>
              <a:defRPr sz="2700" b="0">
                <a:solidFill>
                  <a:srgbClr val="102B46"/>
                </a:solidFill>
                <a:latin typeface="Bitstream Charter"/>
                <a:ea typeface="Bitstream Charter"/>
                <a:cs typeface="Bitstream Charter"/>
              </a:defRPr>
            </a:lvl5pPr>
            <a:lvl6pPr>
              <a:buNone/>
              <a:defRPr sz="2700" b="0">
                <a:solidFill>
                  <a:srgbClr val="102B46"/>
                </a:solidFill>
                <a:latin typeface="Bitstream Charter"/>
                <a:ea typeface="Bitstream Charter"/>
                <a:cs typeface="Bitstream Charter"/>
              </a:defRPr>
            </a:lvl6pPr>
            <a:lvl7pPr>
              <a:buNone/>
              <a:defRPr sz="2700" b="0">
                <a:solidFill>
                  <a:srgbClr val="102B46"/>
                </a:solidFill>
                <a:latin typeface="Bitstream Charter"/>
                <a:ea typeface="Bitstream Charter"/>
                <a:cs typeface="Bitstream Charter"/>
              </a:defRPr>
            </a:lvl7pPr>
            <a:lvl8pPr>
              <a:buNone/>
              <a:defRPr sz="2700" b="0">
                <a:solidFill>
                  <a:srgbClr val="102B46"/>
                </a:solidFill>
                <a:latin typeface="Bitstream Charter"/>
                <a:ea typeface="Bitstream Charter"/>
                <a:cs typeface="Bitstream Charter"/>
              </a:defRPr>
            </a:lvl8pPr>
            <a:lvl9pPr>
              <a:buNone/>
              <a:defRPr sz="2700" b="0">
                <a:solidFill>
                  <a:srgbClr val="102B46"/>
                </a:solidFill>
                <a:latin typeface="Bitstream Charter"/>
                <a:ea typeface="Bitstream Charter"/>
                <a:cs typeface="Bitstream Charter"/>
              </a:defRPr>
            </a:lvl9pPr>
          </a:lstStyle>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Official Random and Chemeleon baselines</a:t>
            </a:r>
          </a:p>
        </p:txBody>
      </p:sp>
      <p:sp>
        <p:nvSpPr>
          <p:cNvPr id="6" name="">
            <a:extLst xmlns:a="http://schemas.openxmlformats.org/drawingml/2006/main">
              <a:ext uri="{FF2B5EF4-FFF2-40B4-BE49-F238E27FC236}">
                <a16:creationId xmlns:a16="http://schemas.microsoft.com/office/drawing/2014/main" id="{1A92E140-C541-4211-BE81-793483885365}"/>
              </a:ext>
            </a:extLst>
          </p:cNvPr>
          <p:cNvSpPr>
            <a:spLocks xmlns:a="http://schemas.openxmlformats.org/drawingml/2006/main" noGrp="1"/>
          </p:cNvSpPr>
          <p:nvPr/>
        </p:nvSpPr>
        <p:spPr>
          <a:xfrm xmlns:a="http://schemas.openxmlformats.org/drawingml/2006/main">
            <a:off x="609600" y="46101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buNone/>
              <a:defRPr sz="2700" b="0">
                <a:solidFill>
                  <a:srgbClr val="102B46"/>
                </a:solidFill>
                <a:latin typeface="Bitstream Charter"/>
                <a:ea typeface="Bitstream Charter"/>
                <a:cs typeface="Bitstream Charter"/>
              </a:defRPr>
            </a:lvl1pPr>
            <a:lvl2pPr>
              <a:buNone/>
              <a:defRPr sz="2700" b="0">
                <a:solidFill>
                  <a:srgbClr val="102B46"/>
                </a:solidFill>
                <a:latin typeface="Bitstream Charter"/>
                <a:ea typeface="Bitstream Charter"/>
                <a:cs typeface="Bitstream Charter"/>
              </a:defRPr>
            </a:lvl2pPr>
            <a:lvl3pPr>
              <a:buNone/>
              <a:defRPr sz="2700" b="0">
                <a:solidFill>
                  <a:srgbClr val="102B46"/>
                </a:solidFill>
                <a:latin typeface="Bitstream Charter"/>
                <a:ea typeface="Bitstream Charter"/>
                <a:cs typeface="Bitstream Charter"/>
              </a:defRPr>
            </a:lvl3pPr>
            <a:lvl4pPr>
              <a:buNone/>
              <a:defRPr sz="2700" b="0">
                <a:solidFill>
                  <a:srgbClr val="102B46"/>
                </a:solidFill>
                <a:latin typeface="Bitstream Charter"/>
                <a:ea typeface="Bitstream Charter"/>
                <a:cs typeface="Bitstream Charter"/>
              </a:defRPr>
            </a:lvl4pPr>
            <a:lvl5pPr>
              <a:buNone/>
              <a:defRPr sz="2700" b="0">
                <a:solidFill>
                  <a:srgbClr val="102B46"/>
                </a:solidFill>
                <a:latin typeface="Bitstream Charter"/>
                <a:ea typeface="Bitstream Charter"/>
                <a:cs typeface="Bitstream Charter"/>
              </a:defRPr>
            </a:lvl5pPr>
            <a:lvl6pPr>
              <a:buNone/>
              <a:defRPr sz="2700" b="0">
                <a:solidFill>
                  <a:srgbClr val="102B46"/>
                </a:solidFill>
                <a:latin typeface="Bitstream Charter"/>
                <a:ea typeface="Bitstream Charter"/>
                <a:cs typeface="Bitstream Charter"/>
              </a:defRPr>
            </a:lvl6pPr>
            <a:lvl7pPr>
              <a:buNone/>
              <a:defRPr sz="2700" b="0">
                <a:solidFill>
                  <a:srgbClr val="102B46"/>
                </a:solidFill>
                <a:latin typeface="Bitstream Charter"/>
                <a:ea typeface="Bitstream Charter"/>
                <a:cs typeface="Bitstream Charter"/>
              </a:defRPr>
            </a:lvl7pPr>
            <a:lvl8pPr>
              <a:buNone/>
              <a:defRPr sz="2700" b="0">
                <a:solidFill>
                  <a:srgbClr val="102B46"/>
                </a:solidFill>
                <a:latin typeface="Bitstream Charter"/>
                <a:ea typeface="Bitstream Charter"/>
                <a:cs typeface="Bitstream Charter"/>
              </a:defRPr>
            </a:lvl8pPr>
            <a:lvl9pPr>
              <a:buNone/>
              <a:defRPr sz="2700" b="0">
                <a:solidFill>
                  <a:srgbClr val="102B46"/>
                </a:solidFill>
                <a:latin typeface="Bitstream Charter"/>
                <a:ea typeface="Bitstream Charter"/>
                <a:cs typeface="Bitstream Charter"/>
              </a:defRPr>
            </a:lvl9pPr>
          </a:lstStyle>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ORB on CPU with unchanged relaxation settings</a:t>
            </a:r>
          </a:p>
        </p:txBody>
      </p:sp>
    </p:spTree>
    <p:extLst>
      <p:ext uri="{BB962C8B-B14F-4D97-AF65-F5344CB8AC3E}">
        <p14:creationId xmlns:p14="http://schemas.microsoft.com/office/powerpoint/2010/main" val="6876394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EDE31D-3D00-461A-B0C2-3009EB1B3047}"/>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buNone/>
              <a:defRPr sz="3300" b="1">
                <a:solidFill>
                  <a:srgbClr val="102B46"/>
                </a:solidFill>
                <a:latin typeface="Bitstream Charter"/>
                <a:ea typeface="Bitstream Charter"/>
                <a:cs typeface="Bitstream Charter"/>
              </a:defRPr>
            </a:lvl1pPr>
            <a:lvl2pPr>
              <a:buNone/>
              <a:defRPr sz="3300" b="1">
                <a:solidFill>
                  <a:srgbClr val="102B46"/>
                </a:solidFill>
                <a:latin typeface="Bitstream Charter"/>
                <a:ea typeface="Bitstream Charter"/>
                <a:cs typeface="Bitstream Charter"/>
              </a:defRPr>
            </a:lvl2pPr>
            <a:lvl3pPr>
              <a:buNone/>
              <a:defRPr sz="3300" b="1">
                <a:solidFill>
                  <a:srgbClr val="102B46"/>
                </a:solidFill>
                <a:latin typeface="Bitstream Charter"/>
                <a:ea typeface="Bitstream Charter"/>
                <a:cs typeface="Bitstream Charter"/>
              </a:defRPr>
            </a:lvl3pPr>
            <a:lvl4pPr>
              <a:buNone/>
              <a:defRPr sz="3300" b="1">
                <a:solidFill>
                  <a:srgbClr val="102B46"/>
                </a:solidFill>
                <a:latin typeface="Bitstream Charter"/>
                <a:ea typeface="Bitstream Charter"/>
                <a:cs typeface="Bitstream Charter"/>
              </a:defRPr>
            </a:lvl4pPr>
            <a:lvl5pPr>
              <a:buNone/>
              <a:defRPr sz="3300" b="1">
                <a:solidFill>
                  <a:srgbClr val="102B46"/>
                </a:solidFill>
                <a:latin typeface="Bitstream Charter"/>
                <a:ea typeface="Bitstream Charter"/>
                <a:cs typeface="Bitstream Charter"/>
              </a:defRPr>
            </a:lvl5pPr>
            <a:lvl6pPr>
              <a:buNone/>
              <a:defRPr sz="3300" b="1">
                <a:solidFill>
                  <a:srgbClr val="102B46"/>
                </a:solidFill>
                <a:latin typeface="Bitstream Charter"/>
                <a:ea typeface="Bitstream Charter"/>
                <a:cs typeface="Bitstream Charter"/>
              </a:defRPr>
            </a:lvl6pPr>
            <a:lvl7pPr>
              <a:buNone/>
              <a:defRPr sz="3300" b="1">
                <a:solidFill>
                  <a:srgbClr val="102B46"/>
                </a:solidFill>
                <a:latin typeface="Bitstream Charter"/>
                <a:ea typeface="Bitstream Charter"/>
                <a:cs typeface="Bitstream Charter"/>
              </a:defRPr>
            </a:lvl7pPr>
            <a:lvl8pPr>
              <a:buNone/>
              <a:defRPr sz="3300" b="1">
                <a:solidFill>
                  <a:srgbClr val="102B46"/>
                </a:solidFill>
                <a:latin typeface="Bitstream Charter"/>
                <a:ea typeface="Bitstream Charter"/>
                <a:cs typeface="Bitstream Charter"/>
              </a:defRPr>
            </a:lvl8pPr>
            <a:lvl9pPr>
              <a:buNone/>
              <a:defRPr sz="3300" b="1">
                <a:solidFill>
                  <a:srgbClr val="102B46"/>
                </a:solidFill>
                <a:latin typeface="Bitstream Charter"/>
                <a:ea typeface="Bitstream Charter"/>
                <a:cs typeface="Bitstream Charter"/>
              </a:defRPr>
            </a:lvl9pPr>
          </a:lstStyle>
          <a:p xmlns:a="http://schemas.openxmlformats.org/drawingml/2006/main">
            <a:pPr>
              <a:buNone/>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Verified baseline coverage and compute</a:t>
            </a:r>
          </a:p>
        </p:txBody>
      </p:sp>
      <p:sp>
        <p:nvSpPr>
          <p:cNvPr id="2" name="">
            <a:extLst xmlns:a="http://schemas.openxmlformats.org/drawingml/2006/main">
              <a:ext uri="{FF2B5EF4-FFF2-40B4-BE49-F238E27FC236}">
                <a16:creationId xmlns:a16="http://schemas.microsoft.com/office/drawing/2014/main" id="{E44D6F49-E211-4DFB-B56E-7B80165AA501}"/>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buNone/>
              <a:defRPr sz="1500" b="0">
                <a:solidFill>
                  <a:srgbClr val="52657A"/>
                </a:solidFill>
                <a:latin typeface="Bitstream Charter"/>
                <a:ea typeface="Bitstream Charter"/>
                <a:cs typeface="Bitstream Charter"/>
              </a:defRPr>
            </a:lvl1pPr>
            <a:lvl2pPr>
              <a:buNone/>
              <a:defRPr sz="1500" b="0">
                <a:solidFill>
                  <a:srgbClr val="52657A"/>
                </a:solidFill>
                <a:latin typeface="Bitstream Charter"/>
                <a:ea typeface="Bitstream Charter"/>
                <a:cs typeface="Bitstream Charter"/>
              </a:defRPr>
            </a:lvl2pPr>
            <a:lvl3pPr>
              <a:buNone/>
              <a:defRPr sz="1500" b="0">
                <a:solidFill>
                  <a:srgbClr val="52657A"/>
                </a:solidFill>
                <a:latin typeface="Bitstream Charter"/>
                <a:ea typeface="Bitstream Charter"/>
                <a:cs typeface="Bitstream Charter"/>
              </a:defRPr>
            </a:lvl3pPr>
            <a:lvl4pPr>
              <a:buNone/>
              <a:defRPr sz="1500" b="0">
                <a:solidFill>
                  <a:srgbClr val="52657A"/>
                </a:solidFill>
                <a:latin typeface="Bitstream Charter"/>
                <a:ea typeface="Bitstream Charter"/>
                <a:cs typeface="Bitstream Charter"/>
              </a:defRPr>
            </a:lvl4pPr>
            <a:lvl5pPr>
              <a:buNone/>
              <a:defRPr sz="1500" b="0">
                <a:solidFill>
                  <a:srgbClr val="52657A"/>
                </a:solidFill>
                <a:latin typeface="Bitstream Charter"/>
                <a:ea typeface="Bitstream Charter"/>
                <a:cs typeface="Bitstream Charter"/>
              </a:defRPr>
            </a:lvl5pPr>
            <a:lvl6pPr>
              <a:buNone/>
              <a:defRPr sz="1500" b="0">
                <a:solidFill>
                  <a:srgbClr val="52657A"/>
                </a:solidFill>
                <a:latin typeface="Bitstream Charter"/>
                <a:ea typeface="Bitstream Charter"/>
                <a:cs typeface="Bitstream Charter"/>
              </a:defRPr>
            </a:lvl6pPr>
            <a:lvl7pPr>
              <a:buNone/>
              <a:defRPr sz="1500" b="0">
                <a:solidFill>
                  <a:srgbClr val="52657A"/>
                </a:solidFill>
                <a:latin typeface="Bitstream Charter"/>
                <a:ea typeface="Bitstream Charter"/>
                <a:cs typeface="Bitstream Charter"/>
              </a:defRPr>
            </a:lvl7pPr>
            <a:lvl8pPr>
              <a:buNone/>
              <a:defRPr sz="1500" b="0">
                <a:solidFill>
                  <a:srgbClr val="52657A"/>
                </a:solidFill>
                <a:latin typeface="Bitstream Charter"/>
                <a:ea typeface="Bitstream Charter"/>
                <a:cs typeface="Bitstream Charter"/>
              </a:defRPr>
            </a:lvl8pPr>
            <a:lvl9pPr>
              <a:buNone/>
              <a:defRPr sz="1500" b="0">
                <a:solidFill>
                  <a:srgbClr val="52657A"/>
                </a:solidFill>
                <a:latin typeface="Bitstream Charter"/>
                <a:ea typeface="Bitstream Charter"/>
                <a:cs typeface="Bitstream Charter"/>
              </a:defRPr>
            </a:lvl9pPr>
          </a:lstStyle>
          <a:p xmlns:a="http://schemas.openxmlformats.org/drawingml/2006/main">
            <a:pPr>
              <a:buNone/>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Known fees exclude hardware, electricity and failed attempts.</a:t>
            </a:r>
          </a:p>
        </p:txBody>
      </p:sp>
      <p:graphicFrame>
        <p:nvGraphicFramePr>
          <p:cNvPr id="3" name="">
            <a:extLst xmlns:a="http://schemas.openxmlformats.org/drawingml/2006/main">
              <a:ext uri="{FF2B5EF4-FFF2-40B4-BE49-F238E27FC236}">
                <a16:creationId xmlns:a16="http://schemas.microsoft.com/office/drawing/2014/main" id="{DD9C6F01-96E0-4EFD-ADDE-18170F4A7E2D}"/>
              </a:ext>
            </a:extLst>
          </p:cNvPr>
          <p:cNvGraphicFramePr/>
          <p:nvPr/>
        </p:nvGraphicFramePr>
        <p:xfrm>
          <a:off xmlns:a="http://schemas.openxmlformats.org/drawingml/2006/main" x="609600" y="1952625"/>
          <a:ext xmlns:a="http://schemas.openxmlformats.org/drawingml/2006/main" cx="10972800" cy="2190750"/>
        </p:xfrm>
        <a:graphic xmlns:a="http://schemas.openxmlformats.org/drawingml/2006/main">
          <a:graphicData uri="http://schemas.openxmlformats.org/drawingml/2006/table">
            <a:tbl>
              <a:tblPr/>
              <a:tblGrid>
                <a:gridCol w="2552700"/>
                <a:gridCol w="1714500"/>
                <a:gridCol w="1714500"/>
                <a:gridCol w="2514600"/>
                <a:gridCol w="2476500"/>
              </a:tblGrid>
              <a:tr h="730250">
                <a:tc>
                  <a:txBody>
                    <a:bodyPr/>
                    <a:lstStyle/>
                    <a:p>
                      <a:r>
                        <a:rPr sz="2100" b="1">
                          <a:solidFill>
                            <a:srgbClr val="FFFFFF"/>
                          </a:solidFill>
                          <a:latin typeface="Bitstream Charter"/>
                          <a:ea typeface="Bitstream Charter"/>
                          <a:cs typeface="Bitstream Charter"/>
                        </a:rPr>
                        <a:t>Method / units</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mSUN@20</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AUDC</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Driver minutes</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Known fees</a:t>
                      </a:r>
                    </a:p>
                  </a:txBody>
                  <a:tcPr marL="91440" marR="91440" marT="45720" marB="45720">
                    <a:solidFill>
                      <a:srgbClr val="102B46"/>
                    </a:solidFill>
                  </a:tcPr>
                </a:tc>
              </a:tr>
              <a:tr h="730250">
                <a:tc>
                  <a:txBody>
                    <a:bodyPr/>
                    <a:lstStyle/>
                    <a:p>
                      <a:r>
                        <a:rPr sz="2100" b="0">
                          <a:solidFill>
                            <a:srgbClr val="102B46"/>
                          </a:solidFill>
                          <a:latin typeface="Bitstream Charter"/>
                          <a:ea typeface="Bitstream Charter"/>
                          <a:cs typeface="Bitstream Charter"/>
                        </a:rPr>
                        <a:t>Random 18/18</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4.06</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40.58</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16.0</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USD 0</a:t>
                      </a:r>
                    </a:p>
                  </a:txBody>
                  <a:tcPr marL="91440" marR="91440" marT="45720" marB="45720">
                    <a:solidFill>
                      <a:srgbClr val="FFFFFF"/>
                    </a:solidFill>
                  </a:tcPr>
                </a:tc>
              </a:tr>
              <a:tr h="730250">
                <a:tc>
                  <a:txBody>
                    <a:bodyPr/>
                    <a:lstStyle/>
                    <a:p>
                      <a:r>
                        <a:rPr sz="2100" b="0">
                          <a:solidFill>
                            <a:srgbClr val="102B46"/>
                          </a:solidFill>
                          <a:latin typeface="Bitstream Charter"/>
                          <a:ea typeface="Bitstream Charter"/>
                          <a:cs typeface="Bitstream Charter"/>
                        </a:rPr>
                        <a:t>Chemeleon 18/18</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6.94</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71.31</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234.3</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USD 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FBF1663-B0D2-4E6C-B9A2-004253B953F5}"/>
              </a:ext>
            </a:extLst>
          </p:cNvPr>
          <p:cNvSpPr>
            <a:spLocks xmlns:a="http://schemas.openxmlformats.org/drawingml/2006/main" noGrp="1"/>
          </p:cNvSpPr>
          <p:nvPr/>
        </p:nvSpPr>
        <p:spPr>
          <a:xfrm xmlns:a="http://schemas.openxmlformats.org/drawingml/2006/main">
            <a:off x="609600" y="47148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75" b="0">
                <a:solidFill>
                  <a:srgbClr val="52657A"/>
                </a:solidFill>
                <a:latin typeface="Bitstream Charter"/>
                <a:ea typeface="Bitstream Charter"/>
                <a:cs typeface="Bitstream Charter"/>
              </a:defRPr>
            </a:defPPr>
            <a:lvl1pPr>
              <a:buNone/>
              <a:defRPr sz="2175" b="0">
                <a:solidFill>
                  <a:srgbClr val="52657A"/>
                </a:solidFill>
                <a:latin typeface="Bitstream Charter"/>
                <a:ea typeface="Bitstream Charter"/>
                <a:cs typeface="Bitstream Charter"/>
              </a:defRPr>
            </a:lvl1pPr>
            <a:lvl2pPr>
              <a:buNone/>
              <a:defRPr sz="2175" b="0">
                <a:solidFill>
                  <a:srgbClr val="52657A"/>
                </a:solidFill>
                <a:latin typeface="Bitstream Charter"/>
                <a:ea typeface="Bitstream Charter"/>
                <a:cs typeface="Bitstream Charter"/>
              </a:defRPr>
            </a:lvl2pPr>
            <a:lvl3pPr>
              <a:buNone/>
              <a:defRPr sz="2175" b="0">
                <a:solidFill>
                  <a:srgbClr val="52657A"/>
                </a:solidFill>
                <a:latin typeface="Bitstream Charter"/>
                <a:ea typeface="Bitstream Charter"/>
                <a:cs typeface="Bitstream Charter"/>
              </a:defRPr>
            </a:lvl3pPr>
            <a:lvl4pPr>
              <a:buNone/>
              <a:defRPr sz="2175" b="0">
                <a:solidFill>
                  <a:srgbClr val="52657A"/>
                </a:solidFill>
                <a:latin typeface="Bitstream Charter"/>
                <a:ea typeface="Bitstream Charter"/>
                <a:cs typeface="Bitstream Charter"/>
              </a:defRPr>
            </a:lvl4pPr>
            <a:lvl5pPr>
              <a:buNone/>
              <a:defRPr sz="2175" b="0">
                <a:solidFill>
                  <a:srgbClr val="52657A"/>
                </a:solidFill>
                <a:latin typeface="Bitstream Charter"/>
                <a:ea typeface="Bitstream Charter"/>
                <a:cs typeface="Bitstream Charter"/>
              </a:defRPr>
            </a:lvl5pPr>
            <a:lvl6pPr>
              <a:buNone/>
              <a:defRPr sz="2175" b="0">
                <a:solidFill>
                  <a:srgbClr val="52657A"/>
                </a:solidFill>
                <a:latin typeface="Bitstream Charter"/>
                <a:ea typeface="Bitstream Charter"/>
                <a:cs typeface="Bitstream Charter"/>
              </a:defRPr>
            </a:lvl6pPr>
            <a:lvl7pPr>
              <a:buNone/>
              <a:defRPr sz="2175" b="0">
                <a:solidFill>
                  <a:srgbClr val="52657A"/>
                </a:solidFill>
                <a:latin typeface="Bitstream Charter"/>
                <a:ea typeface="Bitstream Charter"/>
                <a:cs typeface="Bitstream Charter"/>
              </a:defRPr>
            </a:lvl7pPr>
            <a:lvl8pPr>
              <a:buNone/>
              <a:defRPr sz="2175" b="0">
                <a:solidFill>
                  <a:srgbClr val="52657A"/>
                </a:solidFill>
                <a:latin typeface="Bitstream Charter"/>
                <a:ea typeface="Bitstream Charter"/>
                <a:cs typeface="Bitstream Charter"/>
              </a:defRPr>
            </a:lvl8pPr>
            <a:lvl9pPr>
              <a:buNone/>
              <a:defRPr sz="2175" b="0">
                <a:solidFill>
                  <a:srgbClr val="52657A"/>
                </a:solidFill>
                <a:latin typeface="Bitstream Charter"/>
                <a:ea typeface="Bitstream Charter"/>
                <a:cs typeface="Bitstream Charter"/>
              </a:defRPr>
            </a:lvl9pPr>
          </a:lstStyle>
          <a:p xmlns:a="http://schemas.openxmlformats.org/drawingml/2006/main">
            <a:pPr>
              <a:buNone/>
              <a:defRPr sz="2175" b="0">
                <a:solidFill>
                  <a:srgbClr val="52657A"/>
                </a:solidFill>
                <a:latin typeface="Bitstream Charter"/>
                <a:ea typeface="Bitstream Charter"/>
                <a:cs typeface="Bitstream Charter"/>
              </a:defRPr>
            </a:pPr>
            <a:r>
              <a:rPr sz="2175" b="0">
                <a:solidFill>
                  <a:srgbClr val="52657A"/>
                </a:solidFill>
                <a:latin typeface="Bitstream Charter"/>
                <a:ea typeface="Bitstream Charter"/>
                <a:cs typeface="Bitstream Charter"/>
              </a:rPr>
              <a:t>Both methods cover six systems and three seeds, 720 queries total.</a:t>
            </a:r>
          </a:p>
          <a:p xmlns:a="http://schemas.openxmlformats.org/drawingml/2006/main">
            <a:pPr>
              <a:buNone/>
              <a:defRPr sz="2175" b="0">
                <a:solidFill>
                  <a:srgbClr val="52657A"/>
                </a:solidFill>
                <a:latin typeface="Bitstream Charter"/>
                <a:ea typeface="Bitstream Charter"/>
                <a:cs typeface="Bitstream Charter"/>
              </a:defRPr>
            </a:pPr>
            <a:r>
              <a:rPr sz="2175" b="0">
                <a:solidFill>
                  <a:srgbClr val="52657A"/>
                </a:solidFill>
                <a:latin typeface="Bitstream Charter"/>
                <a:ea typeface="Bitstream Charter"/>
                <a:cs typeface="Bitstream Charter"/>
              </a:rPr>
              <a:t>Means use equal system weights within each seed.</a:t>
            </a:r>
          </a:p>
        </p:txBody>
      </p:sp>
    </p:spTree>
    <p:extLst>
      <p:ext uri="{BB962C8B-B14F-4D97-AF65-F5344CB8AC3E}">
        <p14:creationId xmlns:p14="http://schemas.microsoft.com/office/powerpoint/2010/main" val="9370907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2026-10-20T19:26:19.4700000Z</dcterms:created>
  <dcterms:modified xsi:type="dcterms:W3CDTF">2026-10-20T19:26:19.4700000Z</dcterms:modified>
</coreProperties>
</file>