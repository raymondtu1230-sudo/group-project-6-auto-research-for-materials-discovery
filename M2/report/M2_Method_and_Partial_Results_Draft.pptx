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2330405a34945eb" /><Relationship Type="http://schemas.openxmlformats.org/officeDocument/2006/relationships/extended-properties" Target="/docProps/app.xml" Id="R51fca1c1ae1749aa" /><Relationship Type="http://schemas.openxmlformats.org/officeDocument/2006/relationships/officeDocument" Target="/ppt/presentation.xml" Id="Re78fce9ac7fc46a7" /></Relationships>
</file>

<file path=ppt/presentation.xml><?xml version="1.0" encoding="utf-8"?>
<p:presentation xmlns:p="http://schemas.openxmlformats.org/presentationml/2006/main">
  <p:sldMasterIdLst>
    <p:sldMasterId xmlns:r="http://schemas.openxmlformats.org/officeDocument/2006/relationships" id="2147483648" r:id="R6b719c19349b4767"/>
  </p:sldMasterIdLst>
  <p:notesMasterIdLst>
    <p:notesMasterId xmlns:r="http://schemas.openxmlformats.org/officeDocument/2006/relationships" r:id="R19f25c31a95c4e03"/>
  </p:notesMasterIdLst>
  <p:sldIdLst>
    <p:sldId xmlns:r="http://schemas.openxmlformats.org/officeDocument/2006/relationships" id="256" r:id="Rc3195f98a91d4ed6"/>
    <p:sldId xmlns:r="http://schemas.openxmlformats.org/officeDocument/2006/relationships" id="257" r:id="R386aa93bacb94bac"/>
    <p:sldId xmlns:r="http://schemas.openxmlformats.org/officeDocument/2006/relationships" id="258" r:id="R6821bc397c2e4825"/>
    <p:sldId xmlns:r="http://schemas.openxmlformats.org/officeDocument/2006/relationships" id="259" r:id="R4cc47565f62b4f1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6da8e0e3ff4493f" /><Relationship Type="http://schemas.openxmlformats.org/officeDocument/2006/relationships/slideMaster" Target="/ppt/slideMasters/slideMaster1.xml" Id="R6b719c19349b4767" /><Relationship Type="http://schemas.openxmlformats.org/officeDocument/2006/relationships/notesMaster" Target="/ppt/notesMasters/notesMaster1.xml" Id="R19f25c31a95c4e03" /><Relationship Type="http://schemas.openxmlformats.org/officeDocument/2006/relationships/presProps" Target="/ppt/presProps.xml" Id="Rbdac0bbddb0e4af4" /><Relationship Type="http://schemas.openxmlformats.org/officeDocument/2006/relationships/tableStyles" Target="/ppt/tableStyles.xml" Id="R1c88d41c349c4143" /><Relationship Type="http://schemas.openxmlformats.org/officeDocument/2006/relationships/slide" Target="/ppt/slides/slide1.xml" Id="Rc3195f98a91d4ed6" /><Relationship Type="http://schemas.openxmlformats.org/officeDocument/2006/relationships/slide" Target="/ppt/slides/slide2.xml" Id="R386aa93bacb94bac" /><Relationship Type="http://schemas.openxmlformats.org/officeDocument/2006/relationships/slide" Target="/ppt/slides/slide3.xml" Id="R6821bc397c2e4825" /><Relationship Type="http://schemas.openxmlformats.org/officeDocument/2006/relationships/slide" Target="/ppt/slides/slide4.xml" Id="R4cc47565f62b4f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cd0ea8dbec4d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02875755b85496e" /><Relationship Type="http://schemas.openxmlformats.org/officeDocument/2006/relationships/notesMaster" Target="/ppt/notesMasters/notesMaster1.xml" Id="Ra4ce95161e9c4da9" /></Relationships>
</file>

<file path=ppt/notesSlides/_rels/notesSlide2.xml.rels>&#65279;<?xml version="1.0" encoding="utf-8"?><Relationships xmlns="http://schemas.openxmlformats.org/package/2006/relationships"><Relationship Type="http://schemas.openxmlformats.org/officeDocument/2006/relationships/slide" Target="/ppt/slides/slide2.xml" Id="R36e7f9826e194cf2" /><Relationship Type="http://schemas.openxmlformats.org/officeDocument/2006/relationships/notesMaster" Target="/ppt/notesMasters/notesMaster1.xml" Id="Rfdc0c6e7ada1402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58e4aaa1da54c8f" /><Relationship Type="http://schemas.openxmlformats.org/officeDocument/2006/relationships/notesMaster" Target="/ppt/notesMasters/notesMaster1.xml" Id="R243ca323d33f40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9c6ea164bf4be8" /><Relationship Type="http://schemas.openxmlformats.org/officeDocument/2006/relationships/notesMaster" Target="/ppt/notesMasters/notesMaster1.xml" Id="Reacd4cb0bd834dd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We add a router in M1’s existing tool-selection slot. It tries Random and Chemeleon once, then uses public query feedback with an upper-confidence bonus. Stable and new observations earn one, stable-only observations earn a quarter. These rewards are proxies, distinct from mSUN. The final two queries use only the smoothed reward. Seeded ties and JSON checkpoints support reproduction. Routing makes no oracle call. M1 retains all five independent switches. M1 must supply a frozen full-system reference before the routing-off ablation. Source: M2/integration/m2_tool_routing.py and M1/PLUGIN_INTERFACE.md. This slide makes no measured routing-benefit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Each curve uses the preserved official query history, including query zero. The accepted Random unit reaches mSUN seven and AUDC 55.5. Chemeleon reaches sixteen and 161. These two metrics use different official definitions, even when these example curves coincide. Both units share the protocol and material-reference snapshot. This is one system and one seed, so it supports no overall ranking, variability estimate or claim about the tool router. Single-pair Chemeleon AF and EF versus Random are 2.375 and 2.285714. Sources: M2/verification/20261019-chemeleon-recovery/per_run.csv and the original raw_artifact.zip files in the Random and recovery folders. New baseline results must replace this snapshot before final assembly.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M6 owns public-check and hidden-test evaluation. M2 owns development baselines and offline scoring. Fixed ORB model orb-v3-conservative-inf-omat, FIRE, fmax 0.02, up to 500 steps, cell relaxation enabled. Both official baselines retain the initial candidate pool of 1024 and their scientific inference settings. One env.step is one query. AF/EF are paired by system, seed, budget and compatible scientific configuration. The final system and routing-off variant must use M1’s same frozen version, changing only enable_tool_routing. Sources: M1/protocol/protocol_v1.yaml, M6/PROTOCOL_ADOPTION.md.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Driver wall time is 952.717 seconds for Random and 15767.025 seconds for Chemeleon. The table rounds minutes to one decimal. Known inference fees are zero according to recorded accounting. LLM calls, tokens and charges remain null where unreported. Hardware, electricity and interrupted-attempt costs are not measured. Failed Chemeleon attempts remain in M2/verification/20261019-chemeleon-timeout and contribute no completed score. AF/EF are discovery-curve metrics, not wall-time speedups. Sources: M2/verification/20261019-chemeleon-recovery/per_run.csv and provenance.json.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71a7540c0047c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ba4f87db8ac45d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934b0c5bb2e475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e58268983cf472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747b2b753d64fe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22fec7772b246b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D9836D8-5239-42F4-9C49-270CAF96B27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9795288-7B91-428A-BFB8-7BC0668B7E6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78A591C-37C3-4E6B-874F-D3D3FDE6A7A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748D7A-A391-427C-8B71-EDAF71437D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628BFDF-3953-4BB3-AE1C-553756C1EAA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F572ED2-70AA-4E8A-A7A6-D20E05C650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F1199CF-303B-4136-8A92-CD13F01D33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9A1AC9C-3ED8-4FE2-86E0-C250D5FB005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40D42D-5EED-45B9-97C3-B4A43ED820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118E51B-93DF-44C6-8B07-263374FE245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c5d1d74af249a3" /><Relationship Type="http://schemas.openxmlformats.org/officeDocument/2006/relationships/slideLayout" Target="/ppt/slideLayouts/slideLayout1.xml" Id="R7f80106b5316429f" /><Relationship Type="http://schemas.openxmlformats.org/officeDocument/2006/relationships/slideLayout" Target="/ppt/slideLayouts/slideLayout2.xml" Id="Rca6858f6364b4261" /><Relationship Type="http://schemas.openxmlformats.org/officeDocument/2006/relationships/slideLayout" Target="/ppt/slideLayouts/slideLayout3.xml" Id="R1cde6bdf0f694b39" /><Relationship Type="http://schemas.openxmlformats.org/officeDocument/2006/relationships/slideLayout" Target="/ppt/slideLayouts/slideLayout4.xml" Id="R13c9c3e340eb4ffb" /><Relationship Type="http://schemas.openxmlformats.org/officeDocument/2006/relationships/slideLayout" Target="/ppt/slideLayouts/slideLayout5.xml" Id="R1ba964fc0bf246b0" /><Relationship Type="http://schemas.openxmlformats.org/officeDocument/2006/relationships/slideLayout" Target="/ppt/slideLayouts/slideLayout6.xml" Id="R71e5d1e4b23c407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f80106b5316429f"/>
    <p:sldLayoutId xmlns:r="http://schemas.openxmlformats.org/officeDocument/2006/relationships" id="2147483650" r:id="Rca6858f6364b4261"/>
    <p:sldLayoutId xmlns:r="http://schemas.openxmlformats.org/officeDocument/2006/relationships" id="2147483651" r:id="R1cde6bdf0f694b39"/>
    <p:sldLayoutId xmlns:r="http://schemas.openxmlformats.org/officeDocument/2006/relationships" id="2147483652" r:id="R13c9c3e340eb4ffb"/>
    <p:sldLayoutId xmlns:r="http://schemas.openxmlformats.org/officeDocument/2006/relationships" id="2147483653" r:id="R1ba964fc0bf246b0"/>
    <p:sldLayoutId xmlns:r="http://schemas.openxmlformats.org/officeDocument/2006/relationships" id="2147483654" r:id="R71e5d1e4b23c407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b3ce8d2762d4c98" /><Relationship Type="http://schemas.openxmlformats.org/officeDocument/2006/relationships/notesSlide" Target="/ppt/notesSlides/notesSlide1.xml" Id="R675eb8164f2b441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051b5c8ea1547c6" /><Relationship Type="http://schemas.openxmlformats.org/officeDocument/2006/relationships/chart" Target="/ppt/slides/charts/chart1.xml" Id="Reba9ad46bbe64482" /><Relationship Type="http://schemas.openxmlformats.org/officeDocument/2006/relationships/chart" Target="/ppt/slides/charts/chart2.xml" Id="Rdcbd091e51ad4dad" /><Relationship Type="http://schemas.openxmlformats.org/officeDocument/2006/relationships/notesSlide" Target="/ppt/notesSlides/notesSlide2.xml" Id="Rafc3b7741103498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e453fcb406f420a" /><Relationship Type="http://schemas.openxmlformats.org/officeDocument/2006/relationships/notesSlide" Target="/ppt/notesSlides/notesSlide3.xml" Id="R484c3e3db1c5448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44e4ad31d154391" /><Relationship Type="http://schemas.openxmlformats.org/officeDocument/2006/relationships/notesSlide" Target="/ppt/notesSlides/notesSlide4.xml" Id="R75df0638851d41d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a:latin typeface="Bitstream Charter"/>
                <a:ea typeface="Bitstream Charter"/>
                <a:cs typeface="Bitstream Charter"/>
              </a:rPr>
              <a:t>mSUN</a:t>
            </a:r>
          </a:p>
        </c:rich>
      </c:tx>
      <c:overlay val="0"/>
      <c:txPr>
        <a:bodyPr xmlns:a="http://schemas.openxmlformats.org/drawingml/2006/main" anchorCtr="1"/>
        <a:lstStyle xmlns:a="http://schemas.openxmlformats.org/drawingml/2006/main"/>
        <a:p xmlns:a="http://schemas.openxmlformats.org/drawingml/2006/main">
          <a:pPr>
            <a:defRPr sz="1950">
              <a:latin typeface="Bitstream Charter"/>
              <a:ea typeface="Bitstream Charter"/>
              <a:cs typeface="Bitstream Charter"/>
            </a:defRPr>
          </a:pPr>
        </a:p>
      </c:txPr>
    </c:title>
    <c:plotArea>
      <c:lineChart>
        <c:grouping val="standard"/>
        <c:varyColors val="0"/>
        <c:ser>
          <c:idx val="0"/>
          <c:order val="0"/>
          <c:tx>
            <c:v>Chemeleon</c:v>
          </c:tx>
          <c:spPr>
            <a:ln xmlns:a="http://schemas.openxmlformats.org/drawingml/2006/main" w="28575">
              <a:solidFill>
                <a:srgbClr val="087F8C"/>
              </a:solidFill>
              <a:prstDash val="solid"/>
            </a:ln>
          </c:spPr>
          <c:marker>
            <c:symbol val="none"/>
          </c:marker>
          <c:cat>
            <c:numRef>
              <c:f>'Chart Data'!$A$2:$A$22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f>'Chart Data'!$B$2:$B$22</c:f>
              <c:numCache>
                <c:formatCode>General</c:formatCode>
                <c:ptCount val="21"/>
                <c:pt idx="0">
                  <c:v>0</c:v>
                </c:pt>
                <c:pt idx="1">
                  <c:v>1</c:v>
                </c:pt>
                <c:pt idx="2">
                  <c:v>2</c:v>
                </c:pt>
                <c:pt idx="3">
                  <c:v>3</c:v>
                </c:pt>
                <c:pt idx="4">
                  <c:v>4</c:v>
                </c:pt>
                <c:pt idx="5">
                  <c:v>4</c:v>
                </c:pt>
                <c:pt idx="6">
                  <c:v>5</c:v>
                </c:pt>
                <c:pt idx="7">
                  <c:v>6</c:v>
                </c:pt>
                <c:pt idx="8">
                  <c:v>7</c:v>
                </c:pt>
                <c:pt idx="9">
                  <c:v>8</c:v>
                </c:pt>
                <c:pt idx="10">
                  <c:v>9</c:v>
                </c:pt>
                <c:pt idx="11">
                  <c:v>9</c:v>
                </c:pt>
                <c:pt idx="12">
                  <c:v>9</c:v>
                </c:pt>
                <c:pt idx="13">
                  <c:v>10</c:v>
                </c:pt>
                <c:pt idx="14">
                  <c:v>11</c:v>
                </c:pt>
                <c:pt idx="15">
                  <c:v>11</c:v>
                </c:pt>
                <c:pt idx="16">
                  <c:v>12</c:v>
                </c:pt>
                <c:pt idx="17">
                  <c:v>13</c:v>
                </c:pt>
                <c:pt idx="18">
                  <c:v>14</c:v>
                </c:pt>
                <c:pt idx="19">
                  <c:v>15</c:v>
                </c:pt>
                <c:pt idx="20">
                  <c:v>16</c:v>
                </c:pt>
              </c:numCache>
            </c:numRef>
          </c:val>
          <c:smooth val="0"/>
        </c:ser>
        <c:ser>
          <c:idx val="1"/>
          <c:order val="1"/>
          <c:tx>
            <c:v>Random</c:v>
          </c:tx>
          <c:spPr>
            <a:ln xmlns:a="http://schemas.openxmlformats.org/drawingml/2006/main" w="28575">
              <a:solidFill>
                <a:srgbClr val="266BCC"/>
              </a:solidFill>
              <a:prstDash val="solid"/>
            </a:ln>
          </c:spPr>
          <c:marker>
            <c:symbol val="none"/>
          </c:marker>
          <c:cat>
            <c:numRef>
              <c:f>'Chart Data'!$C$2:$C$22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f>'Chart Data'!$D$2:$D$22</c:f>
              <c:numCache>
                <c:formatCode>General</c:formatCode>
                <c:ptCount val="21"/>
                <c:pt idx="0">
                  <c:v>0</c:v>
                </c:pt>
                <c:pt idx="1">
                  <c:v>0</c:v>
                </c:pt>
                <c:pt idx="2">
                  <c:v>1</c:v>
                </c:pt>
                <c:pt idx="3">
                  <c:v>1</c:v>
                </c:pt>
                <c:pt idx="4">
                  <c:v>1</c:v>
                </c:pt>
                <c:pt idx="5">
                  <c:v>1</c:v>
                </c:pt>
                <c:pt idx="6">
                  <c:v>1</c:v>
                </c:pt>
                <c:pt idx="7">
                  <c:v>1</c:v>
                </c:pt>
                <c:pt idx="8">
                  <c:v>1</c:v>
                </c:pt>
                <c:pt idx="9">
                  <c:v>1</c:v>
                </c:pt>
                <c:pt idx="10">
                  <c:v>1</c:v>
                </c:pt>
                <c:pt idx="11">
                  <c:v>2</c:v>
                </c:pt>
                <c:pt idx="12">
                  <c:v>3</c:v>
                </c:pt>
                <c:pt idx="13">
                  <c:v>4</c:v>
                </c:pt>
                <c:pt idx="14">
                  <c:v>5</c:v>
                </c:pt>
                <c:pt idx="15">
                  <c:v>5</c:v>
                </c:pt>
                <c:pt idx="16">
                  <c:v>5</c:v>
                </c:pt>
                <c:pt idx="17">
                  <c:v>6</c:v>
                </c:pt>
                <c:pt idx="18">
                  <c:v>6</c:v>
                </c:pt>
                <c:pt idx="19">
                  <c:v>7</c:v>
                </c:pt>
                <c:pt idx="20">
                  <c:v>7</c:v>
                </c:pt>
              </c:numCache>
            </c:numRef>
          </c:val>
          <c:smooth val="0"/>
        </c:ser>
        <c:dLbls>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Bitstream Charter"/>
                    <a:ea typeface="Bitstream Charter"/>
                    <a:cs typeface="Bitstream Charter"/>
                  </a:rPr>
                  <a:t>Oracle queries</a:t>
                </a:r>
              </a:p>
            </c:rich>
          </c:tx>
          <c:overlay val="0"/>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Bitstream Charter"/>
                <a:ea typeface="Bitstream Charter"/>
                <a:cs typeface="Bitstream Charter"/>
              </a:defRPr>
            </a:pPr>
          </a:p>
        </c:txPr>
        <c:crossAx val="48672768"/>
      </c:catAx>
      <c:valAx>
        <c:axId val="48672768"/>
        <c:scaling>
          <c:orientation val="minMax"/>
          <c:max val="20"/>
          <c:min val="0"/>
        </c:scaling>
        <c:delete val="0"/>
        <c:axPos val="l"/>
        <c:majorGridlines>
          <c:spPr>
            <a:ln xmlns:a="http://schemas.openxmlformats.org/drawingml/2006/main" w="9525">
              <a:solidFill>
                <a:srgbClr val="DFE6EE"/>
              </a:solidFill>
              <a:prstDash val="solid"/>
            </a:ln>
          </c:spPr>
        </c:majorGridlines>
        <c:title>
          <c:tx>
            <c:rich>
              <a:bodyPr xmlns:a="http://schemas.openxmlformats.org/drawingml/2006/main"/>
              <a:lstStyle xmlns:a="http://schemas.openxmlformats.org/drawingml/2006/main"/>
              <a:p xmlns:a="http://schemas.openxmlformats.org/drawingml/2006/main">
                <a:r>
                  <a:rPr>
                    <a:latin typeface="Bitstream Charter"/>
                    <a:ea typeface="Bitstream Charter"/>
                    <a:cs typeface="Bitstream Charter"/>
                  </a:rPr>
                  <a:t>Discovery count</a:t>
                </a:r>
              </a:p>
            </c:rich>
          </c:tx>
          <c:overlay val="0"/>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Bitstream Charter"/>
                <a:ea typeface="Bitstream Charter"/>
                <a:cs typeface="Bitstream Charter"/>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Bitstream Charter"/>
              <a:ea typeface="Bitstream Charter"/>
              <a:cs typeface="Bitstream Charter"/>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a:latin typeface="Bitstream Charter"/>
                <a:ea typeface="Bitstream Charter"/>
                <a:cs typeface="Bitstream Charter"/>
              </a:rPr>
              <a:t>Official AUDC source curve</a:t>
            </a:r>
          </a:p>
        </c:rich>
      </c:tx>
      <c:overlay val="0"/>
      <c:txPr>
        <a:bodyPr xmlns:a="http://schemas.openxmlformats.org/drawingml/2006/main" anchorCtr="1"/>
        <a:lstStyle xmlns:a="http://schemas.openxmlformats.org/drawingml/2006/main"/>
        <a:p xmlns:a="http://schemas.openxmlformats.org/drawingml/2006/main">
          <a:pPr>
            <a:defRPr sz="1950">
              <a:latin typeface="Bitstream Charter"/>
              <a:ea typeface="Bitstream Charter"/>
              <a:cs typeface="Bitstream Charter"/>
            </a:defRPr>
          </a:pPr>
        </a:p>
      </c:txPr>
    </c:title>
    <c:plotArea>
      <c:lineChart>
        <c:grouping val="standard"/>
        <c:varyColors val="0"/>
        <c:ser>
          <c:idx val="0"/>
          <c:order val="0"/>
          <c:tx>
            <c:v>Chemeleon</c:v>
          </c:tx>
          <c:spPr>
            <a:ln xmlns:a="http://schemas.openxmlformats.org/drawingml/2006/main" w="28575">
              <a:solidFill>
                <a:srgbClr val="087F8C"/>
              </a:solidFill>
              <a:prstDash val="solid"/>
            </a:ln>
          </c:spPr>
          <c:marker>
            <c:symbol val="none"/>
          </c:marker>
          <c:cat>
            <c:numRef>
              <c:f>'Chart Data'!$A$2:$A$22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f>'Chart Data'!$B$2:$B$22</c:f>
              <c:numCache>
                <c:formatCode>General</c:formatCode>
                <c:ptCount val="21"/>
                <c:pt idx="0">
                  <c:v>0</c:v>
                </c:pt>
                <c:pt idx="1">
                  <c:v>1</c:v>
                </c:pt>
                <c:pt idx="2">
                  <c:v>2</c:v>
                </c:pt>
                <c:pt idx="3">
                  <c:v>3</c:v>
                </c:pt>
                <c:pt idx="4">
                  <c:v>4</c:v>
                </c:pt>
                <c:pt idx="5">
                  <c:v>4</c:v>
                </c:pt>
                <c:pt idx="6">
                  <c:v>5</c:v>
                </c:pt>
                <c:pt idx="7">
                  <c:v>6</c:v>
                </c:pt>
                <c:pt idx="8">
                  <c:v>7</c:v>
                </c:pt>
                <c:pt idx="9">
                  <c:v>8</c:v>
                </c:pt>
                <c:pt idx="10">
                  <c:v>9</c:v>
                </c:pt>
                <c:pt idx="11">
                  <c:v>9</c:v>
                </c:pt>
                <c:pt idx="12">
                  <c:v>9</c:v>
                </c:pt>
                <c:pt idx="13">
                  <c:v>10</c:v>
                </c:pt>
                <c:pt idx="14">
                  <c:v>11</c:v>
                </c:pt>
                <c:pt idx="15">
                  <c:v>11</c:v>
                </c:pt>
                <c:pt idx="16">
                  <c:v>12</c:v>
                </c:pt>
                <c:pt idx="17">
                  <c:v>13</c:v>
                </c:pt>
                <c:pt idx="18">
                  <c:v>14</c:v>
                </c:pt>
                <c:pt idx="19">
                  <c:v>15</c:v>
                </c:pt>
                <c:pt idx="20">
                  <c:v>16</c:v>
                </c:pt>
              </c:numCache>
            </c:numRef>
          </c:val>
          <c:smooth val="0"/>
        </c:ser>
        <c:ser>
          <c:idx val="1"/>
          <c:order val="1"/>
          <c:tx>
            <c:v>Random</c:v>
          </c:tx>
          <c:spPr>
            <a:ln xmlns:a="http://schemas.openxmlformats.org/drawingml/2006/main" w="28575">
              <a:solidFill>
                <a:srgbClr val="266BCC"/>
              </a:solidFill>
              <a:prstDash val="solid"/>
            </a:ln>
          </c:spPr>
          <c:marker>
            <c:symbol val="none"/>
          </c:marker>
          <c:cat>
            <c:numRef>
              <c:f>'Chart Data'!$C$2:$C$22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f>'Chart Data'!$D$2:$D$22</c:f>
              <c:numCache>
                <c:formatCode>General</c:formatCode>
                <c:ptCount val="21"/>
                <c:pt idx="0">
                  <c:v>0</c:v>
                </c:pt>
                <c:pt idx="1">
                  <c:v>0</c:v>
                </c:pt>
                <c:pt idx="2">
                  <c:v>1</c:v>
                </c:pt>
                <c:pt idx="3">
                  <c:v>1</c:v>
                </c:pt>
                <c:pt idx="4">
                  <c:v>1</c:v>
                </c:pt>
                <c:pt idx="5">
                  <c:v>1</c:v>
                </c:pt>
                <c:pt idx="6">
                  <c:v>1</c:v>
                </c:pt>
                <c:pt idx="7">
                  <c:v>1</c:v>
                </c:pt>
                <c:pt idx="8">
                  <c:v>1</c:v>
                </c:pt>
                <c:pt idx="9">
                  <c:v>1</c:v>
                </c:pt>
                <c:pt idx="10">
                  <c:v>1</c:v>
                </c:pt>
                <c:pt idx="11">
                  <c:v>2</c:v>
                </c:pt>
                <c:pt idx="12">
                  <c:v>3</c:v>
                </c:pt>
                <c:pt idx="13">
                  <c:v>4</c:v>
                </c:pt>
                <c:pt idx="14">
                  <c:v>5</c:v>
                </c:pt>
                <c:pt idx="15">
                  <c:v>5</c:v>
                </c:pt>
                <c:pt idx="16">
                  <c:v>5</c:v>
                </c:pt>
                <c:pt idx="17">
                  <c:v>6</c:v>
                </c:pt>
                <c:pt idx="18">
                  <c:v>6</c:v>
                </c:pt>
                <c:pt idx="19">
                  <c:v>7</c:v>
                </c:pt>
                <c:pt idx="20">
                  <c:v>7</c:v>
                </c:pt>
              </c:numCache>
            </c:numRef>
          </c:val>
          <c:smooth val="0"/>
        </c:ser>
        <c:dLbls>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Bitstream Charter"/>
                    <a:ea typeface="Bitstream Charter"/>
                    <a:cs typeface="Bitstream Charter"/>
                  </a:rPr>
                  <a:t>Oracle queries</a:t>
                </a:r>
              </a:p>
            </c:rich>
          </c:tx>
          <c:overlay val="0"/>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Bitstream Charter"/>
                <a:ea typeface="Bitstream Charter"/>
                <a:cs typeface="Bitstream Charter"/>
              </a:defRPr>
            </a:pPr>
          </a:p>
        </c:txPr>
        <c:crossAx val="48672768"/>
      </c:catAx>
      <c:valAx>
        <c:axId val="48672768"/>
        <c:scaling>
          <c:orientation val="minMax"/>
          <c:max val="20"/>
          <c:min val="0"/>
        </c:scaling>
        <c:delete val="0"/>
        <c:axPos val="l"/>
        <c:majorGridlines>
          <c:spPr>
            <a:ln xmlns:a="http://schemas.openxmlformats.org/drawingml/2006/main" w="9525">
              <a:solidFill>
                <a:srgbClr val="DFE6EE"/>
              </a:solidFill>
              <a:prstDash val="solid"/>
            </a:ln>
          </c:spPr>
        </c:majorGridlines>
        <c:title>
          <c:tx>
            <c:rich>
              <a:bodyPr xmlns:a="http://schemas.openxmlformats.org/drawingml/2006/main"/>
              <a:lstStyle xmlns:a="http://schemas.openxmlformats.org/drawingml/2006/main"/>
              <a:p xmlns:a="http://schemas.openxmlformats.org/drawingml/2006/main">
                <a:r>
                  <a:rPr>
                    <a:latin typeface="Bitstream Charter"/>
                    <a:ea typeface="Bitstream Charter"/>
                    <a:cs typeface="Bitstream Charter"/>
                  </a:rPr>
                  <a:t>Discovery count</a:t>
                </a:r>
              </a:p>
            </c:rich>
          </c:tx>
          <c:overlay val="0"/>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Bitstream Charter"/>
                <a:ea typeface="Bitstream Charter"/>
                <a:cs typeface="Bitstream Charter"/>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Bitstream Charter"/>
              <a:ea typeface="Bitstream Charter"/>
              <a:cs typeface="Bitstream Charter"/>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2877B87-33E8-4D10-82FB-CAD9D3D151B4}"/>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102B46"/>
                </a:solidFill>
                <a:latin typeface="Bitstream Charter"/>
                <a:ea typeface="Bitstream Charter"/>
                <a:cs typeface="Bitstream Charter"/>
              </a:defRPr>
            </a:defPPr>
            <a:lvl1pPr>
              <a:defRPr sz="3300" b="1">
                <a:solidFill>
                  <a:srgbClr val="102B46"/>
                </a:solidFill>
                <a:latin typeface="Bitstream Charter"/>
                <a:ea typeface="Bitstream Charter"/>
                <a:cs typeface="Bitstream Charter"/>
              </a:defRPr>
            </a:lvl1pPr>
            <a:lvl2pPr>
              <a:defRPr sz="3300" b="1">
                <a:solidFill>
                  <a:srgbClr val="102B46"/>
                </a:solidFill>
                <a:latin typeface="Bitstream Charter"/>
                <a:ea typeface="Bitstream Charter"/>
                <a:cs typeface="Bitstream Charter"/>
              </a:defRPr>
            </a:lvl2pPr>
            <a:lvl3pPr>
              <a:defRPr sz="3300" b="1">
                <a:solidFill>
                  <a:srgbClr val="102B46"/>
                </a:solidFill>
                <a:latin typeface="Bitstream Charter"/>
                <a:ea typeface="Bitstream Charter"/>
                <a:cs typeface="Bitstream Charter"/>
              </a:defRPr>
            </a:lvl3pPr>
            <a:lvl4pPr>
              <a:defRPr sz="3300" b="1">
                <a:solidFill>
                  <a:srgbClr val="102B46"/>
                </a:solidFill>
                <a:latin typeface="Bitstream Charter"/>
                <a:ea typeface="Bitstream Charter"/>
                <a:cs typeface="Bitstream Charter"/>
              </a:defRPr>
            </a:lvl4pPr>
            <a:lvl5pPr>
              <a:defRPr sz="3300" b="1">
                <a:solidFill>
                  <a:srgbClr val="102B46"/>
                </a:solidFill>
                <a:latin typeface="Bitstream Charter"/>
                <a:ea typeface="Bitstream Charter"/>
                <a:cs typeface="Bitstream Charter"/>
              </a:defRPr>
            </a:lvl5pPr>
            <a:lvl6pPr>
              <a:defRPr sz="3300" b="1">
                <a:solidFill>
                  <a:srgbClr val="102B46"/>
                </a:solidFill>
                <a:latin typeface="Bitstream Charter"/>
                <a:ea typeface="Bitstream Charter"/>
                <a:cs typeface="Bitstream Charter"/>
              </a:defRPr>
            </a:lvl6pPr>
            <a:lvl7pPr>
              <a:defRPr sz="3300" b="1">
                <a:solidFill>
                  <a:srgbClr val="102B46"/>
                </a:solidFill>
                <a:latin typeface="Bitstream Charter"/>
                <a:ea typeface="Bitstream Charter"/>
                <a:cs typeface="Bitstream Charter"/>
              </a:defRPr>
            </a:lvl7pPr>
            <a:lvl8pPr>
              <a:defRPr sz="3300" b="1">
                <a:solidFill>
                  <a:srgbClr val="102B46"/>
                </a:solidFill>
                <a:latin typeface="Bitstream Charter"/>
                <a:ea typeface="Bitstream Charter"/>
                <a:cs typeface="Bitstream Charter"/>
              </a:defRPr>
            </a:lvl8pPr>
            <a:lvl9pPr>
              <a:defRPr sz="3300" b="1">
                <a:solidFill>
                  <a:srgbClr val="102B46"/>
                </a:solidFill>
                <a:latin typeface="Bitstream Charter"/>
                <a:ea typeface="Bitstream Charter"/>
                <a:cs typeface="Bitstream Charter"/>
              </a:defRPr>
            </a:lvl9pPr>
          </a:lstStyle>
          <a:p xmlns:a="http://schemas.openxmlformats.org/drawingml/2006/main">
            <a:pPr>
              <a:defRPr sz="3300" b="1">
                <a:solidFill>
                  <a:srgbClr val="102B46"/>
                </a:solidFill>
                <a:latin typeface="Bitstream Charter"/>
                <a:ea typeface="Bitstream Charter"/>
                <a:cs typeface="Bitstream Charter"/>
              </a:defRPr>
            </a:pPr>
            <a:r>
              <a:rPr sz="3300" b="1">
                <a:solidFill>
                  <a:srgbClr val="102B46"/>
                </a:solidFill>
                <a:latin typeface="Bitstream Charter"/>
                <a:ea typeface="Bitstream Charter"/>
                <a:cs typeface="Bitstream Charter"/>
              </a:rPr>
              <a:t>The router chooses tools from observed feedback</a:t>
            </a:r>
          </a:p>
        </p:txBody>
      </p:sp>
      <p:sp>
        <p:nvSpPr>
          <p:cNvPr id="2" name="">
            <a:extLst xmlns:a="http://schemas.openxmlformats.org/drawingml/2006/main">
              <a:ext uri="{FF2B5EF4-FFF2-40B4-BE49-F238E27FC236}">
                <a16:creationId xmlns:a16="http://schemas.microsoft.com/office/drawing/2014/main" id="{B32F6847-8E46-4960-881A-5AA651374214}"/>
              </a:ext>
            </a:extLst>
          </p:cNvPr>
          <p:cNvSpPr>
            <a:spLocks xmlns:a="http://schemas.openxmlformats.org/drawingml/2006/main" noGrp="1"/>
          </p:cNvSpPr>
          <p:nvPr/>
        </p:nvSpPr>
        <p:spPr>
          <a:xfrm xmlns:a="http://schemas.openxmlformats.org/drawingml/2006/main">
            <a:off x="609600" y="622935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b="0">
                <a:solidFill>
                  <a:srgbClr val="52657A"/>
                </a:solidFill>
                <a:latin typeface="Bitstream Charter"/>
                <a:ea typeface="Bitstream Charter"/>
                <a:cs typeface="Bitstream Charter"/>
              </a:defRPr>
            </a:defPPr>
            <a:lvl1pPr>
              <a:defRPr sz="1500" b="0">
                <a:solidFill>
                  <a:srgbClr val="52657A"/>
                </a:solidFill>
                <a:latin typeface="Bitstream Charter"/>
                <a:ea typeface="Bitstream Charter"/>
                <a:cs typeface="Bitstream Charter"/>
              </a:defRPr>
            </a:lvl1pPr>
            <a:lvl2pPr>
              <a:defRPr sz="1500" b="0">
                <a:solidFill>
                  <a:srgbClr val="52657A"/>
                </a:solidFill>
                <a:latin typeface="Bitstream Charter"/>
                <a:ea typeface="Bitstream Charter"/>
                <a:cs typeface="Bitstream Charter"/>
              </a:defRPr>
            </a:lvl2pPr>
            <a:lvl3pPr>
              <a:defRPr sz="1500" b="0">
                <a:solidFill>
                  <a:srgbClr val="52657A"/>
                </a:solidFill>
                <a:latin typeface="Bitstream Charter"/>
                <a:ea typeface="Bitstream Charter"/>
                <a:cs typeface="Bitstream Charter"/>
              </a:defRPr>
            </a:lvl3pPr>
            <a:lvl4pPr>
              <a:defRPr sz="1500" b="0">
                <a:solidFill>
                  <a:srgbClr val="52657A"/>
                </a:solidFill>
                <a:latin typeface="Bitstream Charter"/>
                <a:ea typeface="Bitstream Charter"/>
                <a:cs typeface="Bitstream Charter"/>
              </a:defRPr>
            </a:lvl4pPr>
            <a:lvl5pPr>
              <a:defRPr sz="1500" b="0">
                <a:solidFill>
                  <a:srgbClr val="52657A"/>
                </a:solidFill>
                <a:latin typeface="Bitstream Charter"/>
                <a:ea typeface="Bitstream Charter"/>
                <a:cs typeface="Bitstream Charter"/>
              </a:defRPr>
            </a:lvl5pPr>
            <a:lvl6pPr>
              <a:defRPr sz="1500" b="0">
                <a:solidFill>
                  <a:srgbClr val="52657A"/>
                </a:solidFill>
                <a:latin typeface="Bitstream Charter"/>
                <a:ea typeface="Bitstream Charter"/>
                <a:cs typeface="Bitstream Charter"/>
              </a:defRPr>
            </a:lvl6pPr>
            <a:lvl7pPr>
              <a:defRPr sz="1500" b="0">
                <a:solidFill>
                  <a:srgbClr val="52657A"/>
                </a:solidFill>
                <a:latin typeface="Bitstream Charter"/>
                <a:ea typeface="Bitstream Charter"/>
                <a:cs typeface="Bitstream Charter"/>
              </a:defRPr>
            </a:lvl7pPr>
            <a:lvl8pPr>
              <a:defRPr sz="1500" b="0">
                <a:solidFill>
                  <a:srgbClr val="52657A"/>
                </a:solidFill>
                <a:latin typeface="Bitstream Charter"/>
                <a:ea typeface="Bitstream Charter"/>
                <a:cs typeface="Bitstream Charter"/>
              </a:defRPr>
            </a:lvl8pPr>
            <a:lvl9pPr>
              <a:defRPr sz="1500" b="0">
                <a:solidFill>
                  <a:srgbClr val="52657A"/>
                </a:solidFill>
                <a:latin typeface="Bitstream Charter"/>
                <a:ea typeface="Bitstream Charter"/>
                <a:cs typeface="Bitstream Charter"/>
              </a:defRPr>
            </a:lvl9pPr>
          </a:lstStyle>
          <a:p xmlns:a="http://schemas.openxmlformats.org/drawingml/2006/main">
            <a:pPr>
              <a:defRPr sz="1500" b="0">
                <a:solidFill>
                  <a:srgbClr val="52657A"/>
                </a:solidFill>
                <a:latin typeface="Bitstream Charter"/>
                <a:ea typeface="Bitstream Charter"/>
                <a:cs typeface="Bitstream Charter"/>
              </a:defRPr>
            </a:pPr>
            <a:r>
              <a:rPr sz="1500" b="0">
                <a:solidFill>
                  <a:srgbClr val="52657A"/>
                </a:solidFill>
                <a:latin typeface="Bitstream Charter"/>
                <a:ea typeface="Bitstream Charter"/>
                <a:cs typeface="Bitstream Charter"/>
              </a:rPr>
              <a:t>M2 method draft for M6 slide 7, 40 seconds</a:t>
            </a:r>
          </a:p>
        </p:txBody>
      </p:sp>
      <p:sp>
        <p:nvSpPr>
          <p:cNvPr id="3" name="">
            <a:extLst xmlns:a="http://schemas.openxmlformats.org/drawingml/2006/main">
              <a:ext uri="{FF2B5EF4-FFF2-40B4-BE49-F238E27FC236}">
                <a16:creationId xmlns:a16="http://schemas.microsoft.com/office/drawing/2014/main" id="{93662D09-6C87-438B-AD8C-E8152F99D60A}"/>
              </a:ext>
            </a:extLst>
          </p:cNvPr>
          <p:cNvSpPr>
            <a:spLocks xmlns:a="http://schemas.openxmlformats.org/drawingml/2006/main" noGrp="1"/>
          </p:cNvSpPr>
          <p:nvPr/>
        </p:nvSpPr>
        <p:spPr>
          <a:xfrm xmlns:a="http://schemas.openxmlformats.org/drawingml/2006/main">
            <a:off x="609600" y="2047875"/>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600" b="1">
                <a:solidFill>
                  <a:srgbClr val="266BCC"/>
                </a:solidFill>
                <a:latin typeface="Bitstream Charter"/>
                <a:ea typeface="Bitstream Charter"/>
                <a:cs typeface="Bitstream Charter"/>
              </a:defRPr>
            </a:defPPr>
            <a:lvl1pPr>
              <a:defRPr sz="3600" b="1">
                <a:solidFill>
                  <a:srgbClr val="266BCC"/>
                </a:solidFill>
                <a:latin typeface="Bitstream Charter"/>
                <a:ea typeface="Bitstream Charter"/>
                <a:cs typeface="Bitstream Charter"/>
              </a:defRPr>
            </a:lvl1pPr>
            <a:lvl2pPr>
              <a:defRPr sz="3600" b="1">
                <a:solidFill>
                  <a:srgbClr val="266BCC"/>
                </a:solidFill>
                <a:latin typeface="Bitstream Charter"/>
                <a:ea typeface="Bitstream Charter"/>
                <a:cs typeface="Bitstream Charter"/>
              </a:defRPr>
            </a:lvl2pPr>
            <a:lvl3pPr>
              <a:defRPr sz="3600" b="1">
                <a:solidFill>
                  <a:srgbClr val="266BCC"/>
                </a:solidFill>
                <a:latin typeface="Bitstream Charter"/>
                <a:ea typeface="Bitstream Charter"/>
                <a:cs typeface="Bitstream Charter"/>
              </a:defRPr>
            </a:lvl3pPr>
            <a:lvl4pPr>
              <a:defRPr sz="3600" b="1">
                <a:solidFill>
                  <a:srgbClr val="266BCC"/>
                </a:solidFill>
                <a:latin typeface="Bitstream Charter"/>
                <a:ea typeface="Bitstream Charter"/>
                <a:cs typeface="Bitstream Charter"/>
              </a:defRPr>
            </a:lvl4pPr>
            <a:lvl5pPr>
              <a:defRPr sz="3600" b="1">
                <a:solidFill>
                  <a:srgbClr val="266BCC"/>
                </a:solidFill>
                <a:latin typeface="Bitstream Charter"/>
                <a:ea typeface="Bitstream Charter"/>
                <a:cs typeface="Bitstream Charter"/>
              </a:defRPr>
            </a:lvl5pPr>
            <a:lvl6pPr>
              <a:defRPr sz="3600" b="1">
                <a:solidFill>
                  <a:srgbClr val="266BCC"/>
                </a:solidFill>
                <a:latin typeface="Bitstream Charter"/>
                <a:ea typeface="Bitstream Charter"/>
                <a:cs typeface="Bitstream Charter"/>
              </a:defRPr>
            </a:lvl6pPr>
            <a:lvl7pPr>
              <a:defRPr sz="3600" b="1">
                <a:solidFill>
                  <a:srgbClr val="266BCC"/>
                </a:solidFill>
                <a:latin typeface="Bitstream Charter"/>
                <a:ea typeface="Bitstream Charter"/>
                <a:cs typeface="Bitstream Charter"/>
              </a:defRPr>
            </a:lvl7pPr>
            <a:lvl8pPr>
              <a:defRPr sz="3600" b="1">
                <a:solidFill>
                  <a:srgbClr val="266BCC"/>
                </a:solidFill>
                <a:latin typeface="Bitstream Charter"/>
                <a:ea typeface="Bitstream Charter"/>
                <a:cs typeface="Bitstream Charter"/>
              </a:defRPr>
            </a:lvl8pPr>
            <a:lvl9pPr>
              <a:defRPr sz="3600" b="1">
                <a:solidFill>
                  <a:srgbClr val="266BCC"/>
                </a:solidFill>
                <a:latin typeface="Bitstream Charter"/>
                <a:ea typeface="Bitstream Charter"/>
                <a:cs typeface="Bitstream Charter"/>
              </a:defRPr>
            </a:lvl9pPr>
          </a:lstStyle>
          <a:p xmlns:a="http://schemas.openxmlformats.org/drawingml/2006/main">
            <a:pPr>
              <a:defRPr sz="3600" b="1">
                <a:solidFill>
                  <a:srgbClr val="266BCC"/>
                </a:solidFill>
                <a:latin typeface="Bitstream Charter"/>
                <a:ea typeface="Bitstream Charter"/>
                <a:cs typeface="Bitstream Charter"/>
              </a:defRPr>
            </a:pPr>
            <a:r>
              <a:rPr sz="3600" b="1">
                <a:solidFill>
                  <a:srgbClr val="266BCC"/>
                </a:solidFill>
                <a:latin typeface="Bitstream Charter"/>
                <a:ea typeface="Bitstream Charter"/>
                <a:cs typeface="Bitstream Charter"/>
              </a:rPr>
              <a:t>Random or Chemeleon</a:t>
            </a:r>
          </a:p>
        </p:txBody>
      </p:sp>
      <p:sp>
        <p:nvSpPr>
          <p:cNvPr id="4" name="">
            <a:extLst xmlns:a="http://schemas.openxmlformats.org/drawingml/2006/main">
              <a:ext uri="{FF2B5EF4-FFF2-40B4-BE49-F238E27FC236}">
                <a16:creationId xmlns:a16="http://schemas.microsoft.com/office/drawing/2014/main" id="{21EFADEE-4C6C-4160-82C5-9F9129291252}"/>
              </a:ext>
            </a:extLst>
          </p:cNvPr>
          <p:cNvSpPr>
            <a:spLocks xmlns:a="http://schemas.openxmlformats.org/drawingml/2006/main" noGrp="1"/>
          </p:cNvSpPr>
          <p:nvPr/>
        </p:nvSpPr>
        <p:spPr>
          <a:xfrm xmlns:a="http://schemas.openxmlformats.org/drawingml/2006/main">
            <a:off x="609600" y="3095625"/>
            <a:ext cx="109728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700" b="0">
                <a:solidFill>
                  <a:srgbClr val="102B46"/>
                </a:solidFill>
                <a:latin typeface="Bitstream Charter"/>
                <a:ea typeface="Bitstream Charter"/>
                <a:cs typeface="Bitstream Charter"/>
              </a:defRPr>
            </a:defPPr>
            <a:lvl1pPr>
              <a:defRPr sz="2700" b="0">
                <a:solidFill>
                  <a:srgbClr val="102B46"/>
                </a:solidFill>
                <a:latin typeface="Bitstream Charter"/>
                <a:ea typeface="Bitstream Charter"/>
                <a:cs typeface="Bitstream Charter"/>
              </a:defRPr>
            </a:lvl1pPr>
            <a:lvl2pPr>
              <a:defRPr sz="2700" b="0">
                <a:solidFill>
                  <a:srgbClr val="102B46"/>
                </a:solidFill>
                <a:latin typeface="Bitstream Charter"/>
                <a:ea typeface="Bitstream Charter"/>
                <a:cs typeface="Bitstream Charter"/>
              </a:defRPr>
            </a:lvl2pPr>
            <a:lvl3pPr>
              <a:defRPr sz="2700" b="0">
                <a:solidFill>
                  <a:srgbClr val="102B46"/>
                </a:solidFill>
                <a:latin typeface="Bitstream Charter"/>
                <a:ea typeface="Bitstream Charter"/>
                <a:cs typeface="Bitstream Charter"/>
              </a:defRPr>
            </a:lvl3pPr>
            <a:lvl4pPr>
              <a:defRPr sz="2700" b="0">
                <a:solidFill>
                  <a:srgbClr val="102B46"/>
                </a:solidFill>
                <a:latin typeface="Bitstream Charter"/>
                <a:ea typeface="Bitstream Charter"/>
                <a:cs typeface="Bitstream Charter"/>
              </a:defRPr>
            </a:lvl4pPr>
            <a:lvl5pPr>
              <a:defRPr sz="2700" b="0">
                <a:solidFill>
                  <a:srgbClr val="102B46"/>
                </a:solidFill>
                <a:latin typeface="Bitstream Charter"/>
                <a:ea typeface="Bitstream Charter"/>
                <a:cs typeface="Bitstream Charter"/>
              </a:defRPr>
            </a:lvl5pPr>
            <a:lvl6pPr>
              <a:defRPr sz="2700" b="0">
                <a:solidFill>
                  <a:srgbClr val="102B46"/>
                </a:solidFill>
                <a:latin typeface="Bitstream Charter"/>
                <a:ea typeface="Bitstream Charter"/>
                <a:cs typeface="Bitstream Charter"/>
              </a:defRPr>
            </a:lvl6pPr>
            <a:lvl7pPr>
              <a:defRPr sz="2700" b="0">
                <a:solidFill>
                  <a:srgbClr val="102B46"/>
                </a:solidFill>
                <a:latin typeface="Bitstream Charter"/>
                <a:ea typeface="Bitstream Charter"/>
                <a:cs typeface="Bitstream Charter"/>
              </a:defRPr>
            </a:lvl7pPr>
            <a:lvl8pPr>
              <a:defRPr sz="2700" b="0">
                <a:solidFill>
                  <a:srgbClr val="102B46"/>
                </a:solidFill>
                <a:latin typeface="Bitstream Charter"/>
                <a:ea typeface="Bitstream Charter"/>
                <a:cs typeface="Bitstream Charter"/>
              </a:defRPr>
            </a:lvl8pPr>
            <a:lvl9pPr>
              <a:defRPr sz="2700" b="0">
                <a:solidFill>
                  <a:srgbClr val="102B46"/>
                </a:solidFill>
                <a:latin typeface="Bitstream Charter"/>
                <a:ea typeface="Bitstream Charter"/>
                <a:cs typeface="Bitstream Charter"/>
              </a:defRPr>
            </a:lvl9pPr>
          </a:lstStyle>
          <a:p xmlns:a="http://schemas.openxmlformats.org/drawingml/2006/main">
            <a:pPr>
              <a:defRPr sz="2700" b="0">
                <a:solidFill>
                  <a:srgbClr val="102B46"/>
                </a:solidFill>
                <a:latin typeface="Bitstream Charter"/>
                <a:ea typeface="Bitstream Charter"/>
                <a:cs typeface="Bitstream Charter"/>
              </a:defRPr>
            </a:pPr>
            <a:r>
              <a:rPr sz="2700" b="0">
                <a:solidFill>
                  <a:srgbClr val="102B46"/>
                </a:solidFill>
                <a:latin typeface="Bitstream Charter"/>
                <a:ea typeface="Bitstream Charter"/>
                <a:cs typeface="Bitstream Charter"/>
              </a:rPr>
              <a:t>Probe each tool once</a:t>
            </a:r>
          </a:p>
          <a:p xmlns:a="http://schemas.openxmlformats.org/drawingml/2006/main">
            <a:pPr>
              <a:defRPr sz="2700" b="0">
                <a:solidFill>
                  <a:srgbClr val="102B46"/>
                </a:solidFill>
                <a:latin typeface="Bitstream Charter"/>
                <a:ea typeface="Bitstream Charter"/>
                <a:cs typeface="Bitstream Charter"/>
              </a:defRPr>
            </a:pPr>
            <a:r>
              <a:rPr sz="2700" b="0">
                <a:solidFill>
                  <a:srgbClr val="102B46"/>
                </a:solidFill>
                <a:latin typeface="Bitstream Charter"/>
                <a:ea typeface="Bitstream Charter"/>
                <a:cs typeface="Bitstream Charter"/>
              </a:rPr>
              <a:t>Use observed reward with UCB</a:t>
            </a:r>
          </a:p>
          <a:p xmlns:a="http://schemas.openxmlformats.org/drawingml/2006/main">
            <a:pPr>
              <a:defRPr sz="2700" b="0">
                <a:solidFill>
                  <a:srgbClr val="102B46"/>
                </a:solidFill>
                <a:latin typeface="Bitstream Charter"/>
                <a:ea typeface="Bitstream Charter"/>
                <a:cs typeface="Bitstream Charter"/>
              </a:defRPr>
            </a:pPr>
            <a:r>
              <a:rPr sz="2700" b="0">
                <a:solidFill>
                  <a:srgbClr val="102B46"/>
                </a:solidFill>
                <a:latin typeface="Bitstream Charter"/>
                <a:ea typeface="Bitstream Charter"/>
                <a:cs typeface="Bitstream Charter"/>
              </a:rPr>
              <a:t>Use greedy reward for the final two queries</a:t>
            </a:r>
          </a:p>
        </p:txBody>
      </p:sp>
    </p:spTree>
    <p:extLst>
      <p:ext uri="{BB962C8B-B14F-4D97-AF65-F5344CB8AC3E}">
        <p14:creationId xmlns:p14="http://schemas.microsoft.com/office/powerpoint/2010/main" val="31853253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4014F0-2883-4ED1-8D8F-F46DCA180D55}"/>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102B46"/>
                </a:solidFill>
                <a:latin typeface="Bitstream Charter"/>
                <a:ea typeface="Bitstream Charter"/>
                <a:cs typeface="Bitstream Charter"/>
              </a:defRPr>
            </a:defPPr>
            <a:lvl1pPr>
              <a:defRPr sz="3300" b="1">
                <a:solidFill>
                  <a:srgbClr val="102B46"/>
                </a:solidFill>
                <a:latin typeface="Bitstream Charter"/>
                <a:ea typeface="Bitstream Charter"/>
                <a:cs typeface="Bitstream Charter"/>
              </a:defRPr>
            </a:lvl1pPr>
            <a:lvl2pPr>
              <a:defRPr sz="3300" b="1">
                <a:solidFill>
                  <a:srgbClr val="102B46"/>
                </a:solidFill>
                <a:latin typeface="Bitstream Charter"/>
                <a:ea typeface="Bitstream Charter"/>
                <a:cs typeface="Bitstream Charter"/>
              </a:defRPr>
            </a:lvl2pPr>
            <a:lvl3pPr>
              <a:defRPr sz="3300" b="1">
                <a:solidFill>
                  <a:srgbClr val="102B46"/>
                </a:solidFill>
                <a:latin typeface="Bitstream Charter"/>
                <a:ea typeface="Bitstream Charter"/>
                <a:cs typeface="Bitstream Charter"/>
              </a:defRPr>
            </a:lvl3pPr>
            <a:lvl4pPr>
              <a:defRPr sz="3300" b="1">
                <a:solidFill>
                  <a:srgbClr val="102B46"/>
                </a:solidFill>
                <a:latin typeface="Bitstream Charter"/>
                <a:ea typeface="Bitstream Charter"/>
                <a:cs typeface="Bitstream Charter"/>
              </a:defRPr>
            </a:lvl4pPr>
            <a:lvl5pPr>
              <a:defRPr sz="3300" b="1">
                <a:solidFill>
                  <a:srgbClr val="102B46"/>
                </a:solidFill>
                <a:latin typeface="Bitstream Charter"/>
                <a:ea typeface="Bitstream Charter"/>
                <a:cs typeface="Bitstream Charter"/>
              </a:defRPr>
            </a:lvl5pPr>
            <a:lvl6pPr>
              <a:defRPr sz="3300" b="1">
                <a:solidFill>
                  <a:srgbClr val="102B46"/>
                </a:solidFill>
                <a:latin typeface="Bitstream Charter"/>
                <a:ea typeface="Bitstream Charter"/>
                <a:cs typeface="Bitstream Charter"/>
              </a:defRPr>
            </a:lvl6pPr>
            <a:lvl7pPr>
              <a:defRPr sz="3300" b="1">
                <a:solidFill>
                  <a:srgbClr val="102B46"/>
                </a:solidFill>
                <a:latin typeface="Bitstream Charter"/>
                <a:ea typeface="Bitstream Charter"/>
                <a:cs typeface="Bitstream Charter"/>
              </a:defRPr>
            </a:lvl7pPr>
            <a:lvl8pPr>
              <a:defRPr sz="3300" b="1">
                <a:solidFill>
                  <a:srgbClr val="102B46"/>
                </a:solidFill>
                <a:latin typeface="Bitstream Charter"/>
                <a:ea typeface="Bitstream Charter"/>
                <a:cs typeface="Bitstream Charter"/>
              </a:defRPr>
            </a:lvl8pPr>
            <a:lvl9pPr>
              <a:defRPr sz="3300" b="1">
                <a:solidFill>
                  <a:srgbClr val="102B46"/>
                </a:solidFill>
                <a:latin typeface="Bitstream Charter"/>
                <a:ea typeface="Bitstream Charter"/>
                <a:cs typeface="Bitstream Charter"/>
              </a:defRPr>
            </a:lvl9pPr>
          </a:lstStyle>
          <a:p xmlns:a="http://schemas.openxmlformats.org/drawingml/2006/main">
            <a:pPr>
              <a:defRPr sz="3300" b="1">
                <a:solidFill>
                  <a:srgbClr val="102B46"/>
                </a:solidFill>
                <a:latin typeface="Bitstream Charter"/>
                <a:ea typeface="Bitstream Charter"/>
                <a:cs typeface="Bitstream Charter"/>
              </a:defRPr>
            </a:pPr>
            <a:r>
              <a:rPr sz="3300" b="1">
                <a:solidFill>
                  <a:srgbClr val="102B46"/>
                </a:solidFill>
                <a:latin typeface="Bitstream Charter"/>
                <a:ea typeface="Bitstream Charter"/>
                <a:cs typeface="Bitstream Charter"/>
              </a:rPr>
              <a:t>One development pair has been verified</a:t>
            </a:r>
          </a:p>
        </p:txBody>
      </p:sp>
      <p:sp>
        <p:nvSpPr>
          <p:cNvPr id="2" name="">
            <a:extLst xmlns:a="http://schemas.openxmlformats.org/drawingml/2006/main">
              <a:ext uri="{FF2B5EF4-FFF2-40B4-BE49-F238E27FC236}">
                <a16:creationId xmlns:a16="http://schemas.microsoft.com/office/drawing/2014/main" id="{FD18B144-4061-4F5B-BC2A-8B5610E5C21B}"/>
              </a:ext>
            </a:extLst>
          </p:cNvPr>
          <p:cNvSpPr>
            <a:spLocks xmlns:a="http://schemas.openxmlformats.org/drawingml/2006/main" noGrp="1"/>
          </p:cNvSpPr>
          <p:nvPr/>
        </p:nvSpPr>
        <p:spPr>
          <a:xfrm xmlns:a="http://schemas.openxmlformats.org/drawingml/2006/main">
            <a:off x="609600" y="622935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b="0">
                <a:solidFill>
                  <a:srgbClr val="52657A"/>
                </a:solidFill>
                <a:latin typeface="Bitstream Charter"/>
                <a:ea typeface="Bitstream Charter"/>
                <a:cs typeface="Bitstream Charter"/>
              </a:defRPr>
            </a:defPPr>
            <a:lvl1pPr>
              <a:defRPr sz="1500" b="0">
                <a:solidFill>
                  <a:srgbClr val="52657A"/>
                </a:solidFill>
                <a:latin typeface="Bitstream Charter"/>
                <a:ea typeface="Bitstream Charter"/>
                <a:cs typeface="Bitstream Charter"/>
              </a:defRPr>
            </a:lvl1pPr>
            <a:lvl2pPr>
              <a:defRPr sz="1500" b="0">
                <a:solidFill>
                  <a:srgbClr val="52657A"/>
                </a:solidFill>
                <a:latin typeface="Bitstream Charter"/>
                <a:ea typeface="Bitstream Charter"/>
                <a:cs typeface="Bitstream Charter"/>
              </a:defRPr>
            </a:lvl2pPr>
            <a:lvl3pPr>
              <a:defRPr sz="1500" b="0">
                <a:solidFill>
                  <a:srgbClr val="52657A"/>
                </a:solidFill>
                <a:latin typeface="Bitstream Charter"/>
                <a:ea typeface="Bitstream Charter"/>
                <a:cs typeface="Bitstream Charter"/>
              </a:defRPr>
            </a:lvl3pPr>
            <a:lvl4pPr>
              <a:defRPr sz="1500" b="0">
                <a:solidFill>
                  <a:srgbClr val="52657A"/>
                </a:solidFill>
                <a:latin typeface="Bitstream Charter"/>
                <a:ea typeface="Bitstream Charter"/>
                <a:cs typeface="Bitstream Charter"/>
              </a:defRPr>
            </a:lvl4pPr>
            <a:lvl5pPr>
              <a:defRPr sz="1500" b="0">
                <a:solidFill>
                  <a:srgbClr val="52657A"/>
                </a:solidFill>
                <a:latin typeface="Bitstream Charter"/>
                <a:ea typeface="Bitstream Charter"/>
                <a:cs typeface="Bitstream Charter"/>
              </a:defRPr>
            </a:lvl5pPr>
            <a:lvl6pPr>
              <a:defRPr sz="1500" b="0">
                <a:solidFill>
                  <a:srgbClr val="52657A"/>
                </a:solidFill>
                <a:latin typeface="Bitstream Charter"/>
                <a:ea typeface="Bitstream Charter"/>
                <a:cs typeface="Bitstream Charter"/>
              </a:defRPr>
            </a:lvl6pPr>
            <a:lvl7pPr>
              <a:defRPr sz="1500" b="0">
                <a:solidFill>
                  <a:srgbClr val="52657A"/>
                </a:solidFill>
                <a:latin typeface="Bitstream Charter"/>
                <a:ea typeface="Bitstream Charter"/>
                <a:cs typeface="Bitstream Charter"/>
              </a:defRPr>
            </a:lvl7pPr>
            <a:lvl8pPr>
              <a:defRPr sz="1500" b="0">
                <a:solidFill>
                  <a:srgbClr val="52657A"/>
                </a:solidFill>
                <a:latin typeface="Bitstream Charter"/>
                <a:ea typeface="Bitstream Charter"/>
                <a:cs typeface="Bitstream Charter"/>
              </a:defRPr>
            </a:lvl8pPr>
            <a:lvl9pPr>
              <a:defRPr sz="1500" b="0">
                <a:solidFill>
                  <a:srgbClr val="52657A"/>
                </a:solidFill>
                <a:latin typeface="Bitstream Charter"/>
                <a:ea typeface="Bitstream Charter"/>
                <a:cs typeface="Bitstream Charter"/>
              </a:defRPr>
            </a:lvl9pPr>
          </a:lstStyle>
          <a:p xmlns:a="http://schemas.openxmlformats.org/drawingml/2006/main">
            <a:pPr>
              <a:defRPr sz="1500" b="0">
                <a:solidFill>
                  <a:srgbClr val="52657A"/>
                </a:solidFill>
                <a:latin typeface="Bitstream Charter"/>
                <a:ea typeface="Bitstream Charter"/>
                <a:cs typeface="Bitstream Charter"/>
              </a:defRPr>
            </a:pPr>
            <a:r>
              <a:rPr sz="1500" b="0">
                <a:solidFill>
                  <a:srgbClr val="52657A"/>
                </a:solidFill>
                <a:latin typeface="Bitstream Charter"/>
                <a:ea typeface="Bitstream Charter"/>
                <a:cs typeface="Bitstream Charter"/>
              </a:rPr>
              <a:t>Public development: Mg-Sn-Sr, seed 17, B=20. Coverage: 2/36. Overall scores unavailable.</a:t>
            </a:r>
          </a:p>
        </p:txBody>
      </p:sp>
      <p:graphicFrame>
        <p:nvGraphicFramePr>
          <p:cNvPr id="3" name="Chart">
            <a:extLst xmlns:a="http://schemas.openxmlformats.org/drawingml/2006/main">
              <a:ext uri="{FF2B5EF4-FFF2-40B4-BE49-F238E27FC236}">
                <a16:creationId xmlns:a16="http://schemas.microsoft.com/office/drawing/2014/main" id="{9D2AEA1A-3E62-4FFD-BABA-24A7B39BDFEB}"/>
              </a:ext>
            </a:extLst>
          </p:cNvPr>
          <p:cNvGraphicFramePr/>
          <p:nvPr/>
        </p:nvGraphicFramePr>
        <p:xfrm>
          <a:off xmlns:a="http://schemas.openxmlformats.org/drawingml/2006/main" x="533400" y="1771650"/>
          <a:ext xmlns:a="http://schemas.openxmlformats.org/drawingml/2006/main" cx="5657850" cy="4048125"/>
        </p:xfrm>
        <a:graphic xmlns:a="http://schemas.openxmlformats.org/drawingml/2006/main">
          <a:graphicData uri="http://schemas.openxmlformats.org/drawingml/2006/chart">
            <c:chart xmlns:r="http://schemas.openxmlformats.org/officeDocument/2006/relationships" xmlns:c="http://schemas.openxmlformats.org/drawingml/2006/chart" r:id="Reba9ad46bbe64482"/>
          </a:graphicData>
        </a:graphic>
      </p:graphicFrame>
      <p:graphicFrame>
        <p:nvGraphicFramePr>
          <p:cNvPr id="4" name="Chart">
            <a:extLst xmlns:a="http://schemas.openxmlformats.org/drawingml/2006/main">
              <a:ext uri="{FF2B5EF4-FFF2-40B4-BE49-F238E27FC236}">
                <a16:creationId xmlns:a16="http://schemas.microsoft.com/office/drawing/2014/main" id="{56F08C1C-0A55-46FA-A73B-F3C0CACD9115}"/>
              </a:ext>
            </a:extLst>
          </p:cNvPr>
          <p:cNvGraphicFramePr/>
          <p:nvPr/>
        </p:nvGraphicFramePr>
        <p:xfrm>
          <a:off xmlns:a="http://schemas.openxmlformats.org/drawingml/2006/main" x="6343650" y="1771650"/>
          <a:ext xmlns:a="http://schemas.openxmlformats.org/drawingml/2006/main" cx="5657850" cy="4048125"/>
        </p:xfrm>
        <a:graphic xmlns:a="http://schemas.openxmlformats.org/drawingml/2006/main">
          <a:graphicData uri="http://schemas.openxmlformats.org/drawingml/2006/chart">
            <c:chart xmlns:r="http://schemas.openxmlformats.org/officeDocument/2006/relationships" xmlns:c="http://schemas.openxmlformats.org/drawingml/2006/chart" r:id="Rdcbd091e51ad4dad"/>
          </a:graphicData>
        </a:graphic>
      </p:graphicFrame>
    </p:spTree>
    <p:extLst>
      <p:ext uri="{BB962C8B-B14F-4D97-AF65-F5344CB8AC3E}">
        <p14:creationId xmlns:p14="http://schemas.microsoft.com/office/powerpoint/2010/main" val="176929251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A82049A-3CFD-4E46-ACA1-71C8DCD2AC8F}"/>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102B46"/>
                </a:solidFill>
                <a:latin typeface="Bitstream Charter"/>
                <a:ea typeface="Bitstream Charter"/>
                <a:cs typeface="Bitstream Charter"/>
              </a:defRPr>
            </a:defPPr>
            <a:lvl1pPr>
              <a:defRPr sz="3300" b="1">
                <a:solidFill>
                  <a:srgbClr val="102B46"/>
                </a:solidFill>
                <a:latin typeface="Bitstream Charter"/>
                <a:ea typeface="Bitstream Charter"/>
                <a:cs typeface="Bitstream Charter"/>
              </a:defRPr>
            </a:lvl1pPr>
            <a:lvl2pPr>
              <a:defRPr sz="3300" b="1">
                <a:solidFill>
                  <a:srgbClr val="102B46"/>
                </a:solidFill>
                <a:latin typeface="Bitstream Charter"/>
                <a:ea typeface="Bitstream Charter"/>
                <a:cs typeface="Bitstream Charter"/>
              </a:defRPr>
            </a:lvl2pPr>
            <a:lvl3pPr>
              <a:defRPr sz="3300" b="1">
                <a:solidFill>
                  <a:srgbClr val="102B46"/>
                </a:solidFill>
                <a:latin typeface="Bitstream Charter"/>
                <a:ea typeface="Bitstream Charter"/>
                <a:cs typeface="Bitstream Charter"/>
              </a:defRPr>
            </a:lvl3pPr>
            <a:lvl4pPr>
              <a:defRPr sz="3300" b="1">
                <a:solidFill>
                  <a:srgbClr val="102B46"/>
                </a:solidFill>
                <a:latin typeface="Bitstream Charter"/>
                <a:ea typeface="Bitstream Charter"/>
                <a:cs typeface="Bitstream Charter"/>
              </a:defRPr>
            </a:lvl4pPr>
            <a:lvl5pPr>
              <a:defRPr sz="3300" b="1">
                <a:solidFill>
                  <a:srgbClr val="102B46"/>
                </a:solidFill>
                <a:latin typeface="Bitstream Charter"/>
                <a:ea typeface="Bitstream Charter"/>
                <a:cs typeface="Bitstream Charter"/>
              </a:defRPr>
            </a:lvl5pPr>
            <a:lvl6pPr>
              <a:defRPr sz="3300" b="1">
                <a:solidFill>
                  <a:srgbClr val="102B46"/>
                </a:solidFill>
                <a:latin typeface="Bitstream Charter"/>
                <a:ea typeface="Bitstream Charter"/>
                <a:cs typeface="Bitstream Charter"/>
              </a:defRPr>
            </a:lvl6pPr>
            <a:lvl7pPr>
              <a:defRPr sz="3300" b="1">
                <a:solidFill>
                  <a:srgbClr val="102B46"/>
                </a:solidFill>
                <a:latin typeface="Bitstream Charter"/>
                <a:ea typeface="Bitstream Charter"/>
                <a:cs typeface="Bitstream Charter"/>
              </a:defRPr>
            </a:lvl7pPr>
            <a:lvl8pPr>
              <a:defRPr sz="3300" b="1">
                <a:solidFill>
                  <a:srgbClr val="102B46"/>
                </a:solidFill>
                <a:latin typeface="Bitstream Charter"/>
                <a:ea typeface="Bitstream Charter"/>
                <a:cs typeface="Bitstream Charter"/>
              </a:defRPr>
            </a:lvl8pPr>
            <a:lvl9pPr>
              <a:defRPr sz="3300" b="1">
                <a:solidFill>
                  <a:srgbClr val="102B46"/>
                </a:solidFill>
                <a:latin typeface="Bitstream Charter"/>
                <a:ea typeface="Bitstream Charter"/>
                <a:cs typeface="Bitstream Charter"/>
              </a:defRPr>
            </a:lvl9pPr>
          </a:lstStyle>
          <a:p xmlns:a="http://schemas.openxmlformats.org/drawingml/2006/main">
            <a:pPr>
              <a:defRPr sz="3300" b="1">
                <a:solidFill>
                  <a:srgbClr val="102B46"/>
                </a:solidFill>
                <a:latin typeface="Bitstream Charter"/>
                <a:ea typeface="Bitstream Charter"/>
                <a:cs typeface="Bitstream Charter"/>
              </a:defRPr>
            </a:pPr>
            <a:r>
              <a:rPr sz="3300" b="1">
                <a:solidFill>
                  <a:srgbClr val="102B46"/>
                </a:solidFill>
                <a:latin typeface="Bitstream Charter"/>
                <a:ea typeface="Bitstream Charter"/>
                <a:cs typeface="Bitstream Charter"/>
              </a:rPr>
              <a:t>Every method uses the same scientific protocol</a:t>
            </a:r>
          </a:p>
        </p:txBody>
      </p:sp>
      <p:sp>
        <p:nvSpPr>
          <p:cNvPr id="2" name="">
            <a:extLst xmlns:a="http://schemas.openxmlformats.org/drawingml/2006/main">
              <a:ext uri="{FF2B5EF4-FFF2-40B4-BE49-F238E27FC236}">
                <a16:creationId xmlns:a16="http://schemas.microsoft.com/office/drawing/2014/main" id="{ABF6501A-6832-4798-8F91-FAA8269FFF12}"/>
              </a:ext>
            </a:extLst>
          </p:cNvPr>
          <p:cNvSpPr>
            <a:spLocks xmlns:a="http://schemas.openxmlformats.org/drawingml/2006/main" noGrp="1"/>
          </p:cNvSpPr>
          <p:nvPr/>
        </p:nvSpPr>
        <p:spPr>
          <a:xfrm xmlns:a="http://schemas.openxmlformats.org/drawingml/2006/main">
            <a:off x="609600" y="622935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b="0">
                <a:solidFill>
                  <a:srgbClr val="52657A"/>
                </a:solidFill>
                <a:latin typeface="Bitstream Charter"/>
                <a:ea typeface="Bitstream Charter"/>
                <a:cs typeface="Bitstream Charter"/>
              </a:defRPr>
            </a:defPPr>
            <a:lvl1pPr>
              <a:defRPr sz="1500" b="0">
                <a:solidFill>
                  <a:srgbClr val="52657A"/>
                </a:solidFill>
                <a:latin typeface="Bitstream Charter"/>
                <a:ea typeface="Bitstream Charter"/>
                <a:cs typeface="Bitstream Charter"/>
              </a:defRPr>
            </a:lvl1pPr>
            <a:lvl2pPr>
              <a:defRPr sz="1500" b="0">
                <a:solidFill>
                  <a:srgbClr val="52657A"/>
                </a:solidFill>
                <a:latin typeface="Bitstream Charter"/>
                <a:ea typeface="Bitstream Charter"/>
                <a:cs typeface="Bitstream Charter"/>
              </a:defRPr>
            </a:lvl2pPr>
            <a:lvl3pPr>
              <a:defRPr sz="1500" b="0">
                <a:solidFill>
                  <a:srgbClr val="52657A"/>
                </a:solidFill>
                <a:latin typeface="Bitstream Charter"/>
                <a:ea typeface="Bitstream Charter"/>
                <a:cs typeface="Bitstream Charter"/>
              </a:defRPr>
            </a:lvl3pPr>
            <a:lvl4pPr>
              <a:defRPr sz="1500" b="0">
                <a:solidFill>
                  <a:srgbClr val="52657A"/>
                </a:solidFill>
                <a:latin typeface="Bitstream Charter"/>
                <a:ea typeface="Bitstream Charter"/>
                <a:cs typeface="Bitstream Charter"/>
              </a:defRPr>
            </a:lvl4pPr>
            <a:lvl5pPr>
              <a:defRPr sz="1500" b="0">
                <a:solidFill>
                  <a:srgbClr val="52657A"/>
                </a:solidFill>
                <a:latin typeface="Bitstream Charter"/>
                <a:ea typeface="Bitstream Charter"/>
                <a:cs typeface="Bitstream Charter"/>
              </a:defRPr>
            </a:lvl5pPr>
            <a:lvl6pPr>
              <a:defRPr sz="1500" b="0">
                <a:solidFill>
                  <a:srgbClr val="52657A"/>
                </a:solidFill>
                <a:latin typeface="Bitstream Charter"/>
                <a:ea typeface="Bitstream Charter"/>
                <a:cs typeface="Bitstream Charter"/>
              </a:defRPr>
            </a:lvl6pPr>
            <a:lvl7pPr>
              <a:defRPr sz="1500" b="0">
                <a:solidFill>
                  <a:srgbClr val="52657A"/>
                </a:solidFill>
                <a:latin typeface="Bitstream Charter"/>
                <a:ea typeface="Bitstream Charter"/>
                <a:cs typeface="Bitstream Charter"/>
              </a:defRPr>
            </a:lvl7pPr>
            <a:lvl8pPr>
              <a:defRPr sz="1500" b="0">
                <a:solidFill>
                  <a:srgbClr val="52657A"/>
                </a:solidFill>
                <a:latin typeface="Bitstream Charter"/>
                <a:ea typeface="Bitstream Charter"/>
                <a:cs typeface="Bitstream Charter"/>
              </a:defRPr>
            </a:lvl8pPr>
            <a:lvl9pPr>
              <a:defRPr sz="1500" b="0">
                <a:solidFill>
                  <a:srgbClr val="52657A"/>
                </a:solidFill>
                <a:latin typeface="Bitstream Charter"/>
                <a:ea typeface="Bitstream Charter"/>
                <a:cs typeface="Bitstream Charter"/>
              </a:defRPr>
            </a:lvl9pPr>
          </a:lstStyle>
          <a:p xmlns:a="http://schemas.openxmlformats.org/drawingml/2006/main">
            <a:pPr>
              <a:defRPr sz="1500" b="0">
                <a:solidFill>
                  <a:srgbClr val="52657A"/>
                </a:solidFill>
                <a:latin typeface="Bitstream Charter"/>
                <a:ea typeface="Bitstream Charter"/>
                <a:cs typeface="Bitstream Charter"/>
              </a:defRPr>
            </a:pPr>
            <a:r>
              <a:rPr sz="1500" b="0">
                <a:solidFill>
                  <a:srgbClr val="52657A"/>
                </a:solidFill>
                <a:latin typeface="Bitstream Charter"/>
                <a:ea typeface="Bitstream Charter"/>
                <a:cs typeface="Bitstream Charter"/>
              </a:rPr>
              <a:t>Backup material for M6 slide 8. Source: M1/protocol/protocol_v1.yaml</a:t>
            </a:r>
          </a:p>
        </p:txBody>
      </p:sp>
      <p:sp>
        <p:nvSpPr>
          <p:cNvPr id="3" name="">
            <a:extLst xmlns:a="http://schemas.openxmlformats.org/drawingml/2006/main">
              <a:ext uri="{FF2B5EF4-FFF2-40B4-BE49-F238E27FC236}">
                <a16:creationId xmlns:a16="http://schemas.microsoft.com/office/drawing/2014/main" id="{E3203898-A5EC-4B7B-8610-71CB58C8C0F1}"/>
              </a:ext>
            </a:extLst>
          </p:cNvPr>
          <p:cNvSpPr>
            <a:spLocks xmlns:a="http://schemas.openxmlformats.org/drawingml/2006/main" noGrp="1"/>
          </p:cNvSpPr>
          <p:nvPr/>
        </p:nvSpPr>
        <p:spPr>
          <a:xfrm xmlns:a="http://schemas.openxmlformats.org/drawingml/2006/main">
            <a:off x="609600" y="203835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700" b="0">
                <a:solidFill>
                  <a:srgbClr val="102B46"/>
                </a:solidFill>
                <a:latin typeface="Bitstream Charter"/>
                <a:ea typeface="Bitstream Charter"/>
                <a:cs typeface="Bitstream Charter"/>
              </a:defRPr>
            </a:defPPr>
            <a:lvl1pPr>
              <a:defRPr sz="2700" b="0">
                <a:solidFill>
                  <a:srgbClr val="102B46"/>
                </a:solidFill>
                <a:latin typeface="Bitstream Charter"/>
                <a:ea typeface="Bitstream Charter"/>
                <a:cs typeface="Bitstream Charter"/>
              </a:defRPr>
            </a:lvl1pPr>
            <a:lvl2pPr>
              <a:defRPr sz="2700" b="0">
                <a:solidFill>
                  <a:srgbClr val="102B46"/>
                </a:solidFill>
                <a:latin typeface="Bitstream Charter"/>
                <a:ea typeface="Bitstream Charter"/>
                <a:cs typeface="Bitstream Charter"/>
              </a:defRPr>
            </a:lvl2pPr>
            <a:lvl3pPr>
              <a:defRPr sz="2700" b="0">
                <a:solidFill>
                  <a:srgbClr val="102B46"/>
                </a:solidFill>
                <a:latin typeface="Bitstream Charter"/>
                <a:ea typeface="Bitstream Charter"/>
                <a:cs typeface="Bitstream Charter"/>
              </a:defRPr>
            </a:lvl3pPr>
            <a:lvl4pPr>
              <a:defRPr sz="2700" b="0">
                <a:solidFill>
                  <a:srgbClr val="102B46"/>
                </a:solidFill>
                <a:latin typeface="Bitstream Charter"/>
                <a:ea typeface="Bitstream Charter"/>
                <a:cs typeface="Bitstream Charter"/>
              </a:defRPr>
            </a:lvl4pPr>
            <a:lvl5pPr>
              <a:defRPr sz="2700" b="0">
                <a:solidFill>
                  <a:srgbClr val="102B46"/>
                </a:solidFill>
                <a:latin typeface="Bitstream Charter"/>
                <a:ea typeface="Bitstream Charter"/>
                <a:cs typeface="Bitstream Charter"/>
              </a:defRPr>
            </a:lvl5pPr>
            <a:lvl6pPr>
              <a:defRPr sz="2700" b="0">
                <a:solidFill>
                  <a:srgbClr val="102B46"/>
                </a:solidFill>
                <a:latin typeface="Bitstream Charter"/>
                <a:ea typeface="Bitstream Charter"/>
                <a:cs typeface="Bitstream Charter"/>
              </a:defRPr>
            </a:lvl6pPr>
            <a:lvl7pPr>
              <a:defRPr sz="2700" b="0">
                <a:solidFill>
                  <a:srgbClr val="102B46"/>
                </a:solidFill>
                <a:latin typeface="Bitstream Charter"/>
                <a:ea typeface="Bitstream Charter"/>
                <a:cs typeface="Bitstream Charter"/>
              </a:defRPr>
            </a:lvl7pPr>
            <a:lvl8pPr>
              <a:defRPr sz="2700" b="0">
                <a:solidFill>
                  <a:srgbClr val="102B46"/>
                </a:solidFill>
                <a:latin typeface="Bitstream Charter"/>
                <a:ea typeface="Bitstream Charter"/>
                <a:cs typeface="Bitstream Charter"/>
              </a:defRPr>
            </a:lvl8pPr>
            <a:lvl9pPr>
              <a:defRPr sz="2700" b="0">
                <a:solidFill>
                  <a:srgbClr val="102B46"/>
                </a:solidFill>
                <a:latin typeface="Bitstream Charter"/>
                <a:ea typeface="Bitstream Charter"/>
                <a:cs typeface="Bitstream Charter"/>
              </a:defRPr>
            </a:lvl9pPr>
          </a:lstStyle>
          <a:p xmlns:a="http://schemas.openxmlformats.org/drawingml/2006/main">
            <a:pPr>
              <a:defRPr sz="2700" b="0">
                <a:solidFill>
                  <a:srgbClr val="102B46"/>
                </a:solidFill>
                <a:latin typeface="Bitstream Charter"/>
                <a:ea typeface="Bitstream Charter"/>
                <a:cs typeface="Bitstream Charter"/>
              </a:defRPr>
            </a:pPr>
            <a:r>
              <a:rPr sz="2700" b="0">
                <a:solidFill>
                  <a:srgbClr val="102B46"/>
                </a:solidFill>
                <a:latin typeface="Bitstream Charter"/>
                <a:ea typeface="Bitstream Charter"/>
                <a:cs typeface="Bitstream Charter"/>
              </a:rPr>
              <a:t>Six development systems, seeds 17 / 29 / 43</a:t>
            </a:r>
          </a:p>
        </p:txBody>
      </p:sp>
      <p:sp>
        <p:nvSpPr>
          <p:cNvPr id="4" name="">
            <a:extLst xmlns:a="http://schemas.openxmlformats.org/drawingml/2006/main">
              <a:ext uri="{FF2B5EF4-FFF2-40B4-BE49-F238E27FC236}">
                <a16:creationId xmlns:a16="http://schemas.microsoft.com/office/drawing/2014/main" id="{CA65CA27-5FA8-4E88-9DCF-C595E3C214A8}"/>
              </a:ext>
            </a:extLst>
          </p:cNvPr>
          <p:cNvSpPr>
            <a:spLocks xmlns:a="http://schemas.openxmlformats.org/drawingml/2006/main" noGrp="1"/>
          </p:cNvSpPr>
          <p:nvPr/>
        </p:nvSpPr>
        <p:spPr>
          <a:xfrm xmlns:a="http://schemas.openxmlformats.org/drawingml/2006/main">
            <a:off x="609600" y="28956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700" b="1">
                <a:solidFill>
                  <a:srgbClr val="266BCC"/>
                </a:solidFill>
                <a:latin typeface="Bitstream Charter"/>
                <a:ea typeface="Bitstream Charter"/>
                <a:cs typeface="Bitstream Charter"/>
              </a:defRPr>
            </a:defPPr>
            <a:lvl1pPr>
              <a:defRPr sz="2700" b="1">
                <a:solidFill>
                  <a:srgbClr val="266BCC"/>
                </a:solidFill>
                <a:latin typeface="Bitstream Charter"/>
                <a:ea typeface="Bitstream Charter"/>
                <a:cs typeface="Bitstream Charter"/>
              </a:defRPr>
            </a:lvl1pPr>
            <a:lvl2pPr>
              <a:defRPr sz="2700" b="1">
                <a:solidFill>
                  <a:srgbClr val="266BCC"/>
                </a:solidFill>
                <a:latin typeface="Bitstream Charter"/>
                <a:ea typeface="Bitstream Charter"/>
                <a:cs typeface="Bitstream Charter"/>
              </a:defRPr>
            </a:lvl2pPr>
            <a:lvl3pPr>
              <a:defRPr sz="2700" b="1">
                <a:solidFill>
                  <a:srgbClr val="266BCC"/>
                </a:solidFill>
                <a:latin typeface="Bitstream Charter"/>
                <a:ea typeface="Bitstream Charter"/>
                <a:cs typeface="Bitstream Charter"/>
              </a:defRPr>
            </a:lvl3pPr>
            <a:lvl4pPr>
              <a:defRPr sz="2700" b="1">
                <a:solidFill>
                  <a:srgbClr val="266BCC"/>
                </a:solidFill>
                <a:latin typeface="Bitstream Charter"/>
                <a:ea typeface="Bitstream Charter"/>
                <a:cs typeface="Bitstream Charter"/>
              </a:defRPr>
            </a:lvl4pPr>
            <a:lvl5pPr>
              <a:defRPr sz="2700" b="1">
                <a:solidFill>
                  <a:srgbClr val="266BCC"/>
                </a:solidFill>
                <a:latin typeface="Bitstream Charter"/>
                <a:ea typeface="Bitstream Charter"/>
                <a:cs typeface="Bitstream Charter"/>
              </a:defRPr>
            </a:lvl5pPr>
            <a:lvl6pPr>
              <a:defRPr sz="2700" b="1">
                <a:solidFill>
                  <a:srgbClr val="266BCC"/>
                </a:solidFill>
                <a:latin typeface="Bitstream Charter"/>
                <a:ea typeface="Bitstream Charter"/>
                <a:cs typeface="Bitstream Charter"/>
              </a:defRPr>
            </a:lvl6pPr>
            <a:lvl7pPr>
              <a:defRPr sz="2700" b="1">
                <a:solidFill>
                  <a:srgbClr val="266BCC"/>
                </a:solidFill>
                <a:latin typeface="Bitstream Charter"/>
                <a:ea typeface="Bitstream Charter"/>
                <a:cs typeface="Bitstream Charter"/>
              </a:defRPr>
            </a:lvl7pPr>
            <a:lvl8pPr>
              <a:defRPr sz="2700" b="1">
                <a:solidFill>
                  <a:srgbClr val="266BCC"/>
                </a:solidFill>
                <a:latin typeface="Bitstream Charter"/>
                <a:ea typeface="Bitstream Charter"/>
                <a:cs typeface="Bitstream Charter"/>
              </a:defRPr>
            </a:lvl8pPr>
            <a:lvl9pPr>
              <a:defRPr sz="2700" b="1">
                <a:solidFill>
                  <a:srgbClr val="266BCC"/>
                </a:solidFill>
                <a:latin typeface="Bitstream Charter"/>
                <a:ea typeface="Bitstream Charter"/>
                <a:cs typeface="Bitstream Charter"/>
              </a:defRPr>
            </a:lvl9pPr>
          </a:lstStyle>
          <a:p xmlns:a="http://schemas.openxmlformats.org/drawingml/2006/main">
            <a:pPr>
              <a:defRPr sz="2700" b="1">
                <a:solidFill>
                  <a:srgbClr val="266BCC"/>
                </a:solidFill>
                <a:latin typeface="Bitstream Charter"/>
                <a:ea typeface="Bitstream Charter"/>
                <a:cs typeface="Bitstream Charter"/>
              </a:defRPr>
            </a:pPr>
            <a:r>
              <a:rPr sz="2700" b="1">
                <a:solidFill>
                  <a:srgbClr val="266BCC"/>
                </a:solidFill>
                <a:latin typeface="Bitstream Charter"/>
                <a:ea typeface="Bitstream Charter"/>
                <a:cs typeface="Bitstream Charter"/>
              </a:rPr>
              <a:t>Twenty oracle queries per unit</a:t>
            </a:r>
          </a:p>
        </p:txBody>
      </p:sp>
      <p:sp>
        <p:nvSpPr>
          <p:cNvPr id="5" name="">
            <a:extLst xmlns:a="http://schemas.openxmlformats.org/drawingml/2006/main">
              <a:ext uri="{FF2B5EF4-FFF2-40B4-BE49-F238E27FC236}">
                <a16:creationId xmlns:a16="http://schemas.microsoft.com/office/drawing/2014/main" id="{77093A6A-BC3B-4CCA-AED5-343EC1BDFE69}"/>
              </a:ext>
            </a:extLst>
          </p:cNvPr>
          <p:cNvSpPr>
            <a:spLocks xmlns:a="http://schemas.openxmlformats.org/drawingml/2006/main" noGrp="1"/>
          </p:cNvSpPr>
          <p:nvPr/>
        </p:nvSpPr>
        <p:spPr>
          <a:xfrm xmlns:a="http://schemas.openxmlformats.org/drawingml/2006/main">
            <a:off x="609600" y="375285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700" b="0">
                <a:solidFill>
                  <a:srgbClr val="102B46"/>
                </a:solidFill>
                <a:latin typeface="Bitstream Charter"/>
                <a:ea typeface="Bitstream Charter"/>
                <a:cs typeface="Bitstream Charter"/>
              </a:defRPr>
            </a:defPPr>
            <a:lvl1pPr>
              <a:defRPr sz="2700" b="0">
                <a:solidFill>
                  <a:srgbClr val="102B46"/>
                </a:solidFill>
                <a:latin typeface="Bitstream Charter"/>
                <a:ea typeface="Bitstream Charter"/>
                <a:cs typeface="Bitstream Charter"/>
              </a:defRPr>
            </a:lvl1pPr>
            <a:lvl2pPr>
              <a:defRPr sz="2700" b="0">
                <a:solidFill>
                  <a:srgbClr val="102B46"/>
                </a:solidFill>
                <a:latin typeface="Bitstream Charter"/>
                <a:ea typeface="Bitstream Charter"/>
                <a:cs typeface="Bitstream Charter"/>
              </a:defRPr>
            </a:lvl2pPr>
            <a:lvl3pPr>
              <a:defRPr sz="2700" b="0">
                <a:solidFill>
                  <a:srgbClr val="102B46"/>
                </a:solidFill>
                <a:latin typeface="Bitstream Charter"/>
                <a:ea typeface="Bitstream Charter"/>
                <a:cs typeface="Bitstream Charter"/>
              </a:defRPr>
            </a:lvl3pPr>
            <a:lvl4pPr>
              <a:defRPr sz="2700" b="0">
                <a:solidFill>
                  <a:srgbClr val="102B46"/>
                </a:solidFill>
                <a:latin typeface="Bitstream Charter"/>
                <a:ea typeface="Bitstream Charter"/>
                <a:cs typeface="Bitstream Charter"/>
              </a:defRPr>
            </a:lvl4pPr>
            <a:lvl5pPr>
              <a:defRPr sz="2700" b="0">
                <a:solidFill>
                  <a:srgbClr val="102B46"/>
                </a:solidFill>
                <a:latin typeface="Bitstream Charter"/>
                <a:ea typeface="Bitstream Charter"/>
                <a:cs typeface="Bitstream Charter"/>
              </a:defRPr>
            </a:lvl5pPr>
            <a:lvl6pPr>
              <a:defRPr sz="2700" b="0">
                <a:solidFill>
                  <a:srgbClr val="102B46"/>
                </a:solidFill>
                <a:latin typeface="Bitstream Charter"/>
                <a:ea typeface="Bitstream Charter"/>
                <a:cs typeface="Bitstream Charter"/>
              </a:defRPr>
            </a:lvl6pPr>
            <a:lvl7pPr>
              <a:defRPr sz="2700" b="0">
                <a:solidFill>
                  <a:srgbClr val="102B46"/>
                </a:solidFill>
                <a:latin typeface="Bitstream Charter"/>
                <a:ea typeface="Bitstream Charter"/>
                <a:cs typeface="Bitstream Charter"/>
              </a:defRPr>
            </a:lvl7pPr>
            <a:lvl8pPr>
              <a:defRPr sz="2700" b="0">
                <a:solidFill>
                  <a:srgbClr val="102B46"/>
                </a:solidFill>
                <a:latin typeface="Bitstream Charter"/>
                <a:ea typeface="Bitstream Charter"/>
                <a:cs typeface="Bitstream Charter"/>
              </a:defRPr>
            </a:lvl8pPr>
            <a:lvl9pPr>
              <a:defRPr sz="2700" b="0">
                <a:solidFill>
                  <a:srgbClr val="102B46"/>
                </a:solidFill>
                <a:latin typeface="Bitstream Charter"/>
                <a:ea typeface="Bitstream Charter"/>
                <a:cs typeface="Bitstream Charter"/>
              </a:defRPr>
            </a:lvl9pPr>
          </a:lstStyle>
          <a:p xmlns:a="http://schemas.openxmlformats.org/drawingml/2006/main">
            <a:pPr>
              <a:defRPr sz="2700" b="0">
                <a:solidFill>
                  <a:srgbClr val="102B46"/>
                </a:solidFill>
                <a:latin typeface="Bitstream Charter"/>
                <a:ea typeface="Bitstream Charter"/>
                <a:cs typeface="Bitstream Charter"/>
              </a:defRPr>
            </a:pPr>
            <a:r>
              <a:rPr sz="2700" b="0">
                <a:solidFill>
                  <a:srgbClr val="102B46"/>
                </a:solidFill>
                <a:latin typeface="Bitstream Charter"/>
                <a:ea typeface="Bitstream Charter"/>
                <a:cs typeface="Bitstream Charter"/>
              </a:rPr>
              <a:t>Official Random and Chemeleon baselines</a:t>
            </a:r>
          </a:p>
        </p:txBody>
      </p:sp>
      <p:sp>
        <p:nvSpPr>
          <p:cNvPr id="6" name="">
            <a:extLst xmlns:a="http://schemas.openxmlformats.org/drawingml/2006/main">
              <a:ext uri="{FF2B5EF4-FFF2-40B4-BE49-F238E27FC236}">
                <a16:creationId xmlns:a16="http://schemas.microsoft.com/office/drawing/2014/main" id="{1A92E140-C541-4211-BE81-793483885365}"/>
              </a:ext>
            </a:extLst>
          </p:cNvPr>
          <p:cNvSpPr>
            <a:spLocks xmlns:a="http://schemas.openxmlformats.org/drawingml/2006/main" noGrp="1"/>
          </p:cNvSpPr>
          <p:nvPr/>
        </p:nvSpPr>
        <p:spPr>
          <a:xfrm xmlns:a="http://schemas.openxmlformats.org/drawingml/2006/main">
            <a:off x="609600" y="46101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700" b="0">
                <a:solidFill>
                  <a:srgbClr val="102B46"/>
                </a:solidFill>
                <a:latin typeface="Bitstream Charter"/>
                <a:ea typeface="Bitstream Charter"/>
                <a:cs typeface="Bitstream Charter"/>
              </a:defRPr>
            </a:defPPr>
            <a:lvl1pPr>
              <a:defRPr sz="2700" b="0">
                <a:solidFill>
                  <a:srgbClr val="102B46"/>
                </a:solidFill>
                <a:latin typeface="Bitstream Charter"/>
                <a:ea typeface="Bitstream Charter"/>
                <a:cs typeface="Bitstream Charter"/>
              </a:defRPr>
            </a:lvl1pPr>
            <a:lvl2pPr>
              <a:defRPr sz="2700" b="0">
                <a:solidFill>
                  <a:srgbClr val="102B46"/>
                </a:solidFill>
                <a:latin typeface="Bitstream Charter"/>
                <a:ea typeface="Bitstream Charter"/>
                <a:cs typeface="Bitstream Charter"/>
              </a:defRPr>
            </a:lvl2pPr>
            <a:lvl3pPr>
              <a:defRPr sz="2700" b="0">
                <a:solidFill>
                  <a:srgbClr val="102B46"/>
                </a:solidFill>
                <a:latin typeface="Bitstream Charter"/>
                <a:ea typeface="Bitstream Charter"/>
                <a:cs typeface="Bitstream Charter"/>
              </a:defRPr>
            </a:lvl3pPr>
            <a:lvl4pPr>
              <a:defRPr sz="2700" b="0">
                <a:solidFill>
                  <a:srgbClr val="102B46"/>
                </a:solidFill>
                <a:latin typeface="Bitstream Charter"/>
                <a:ea typeface="Bitstream Charter"/>
                <a:cs typeface="Bitstream Charter"/>
              </a:defRPr>
            </a:lvl4pPr>
            <a:lvl5pPr>
              <a:defRPr sz="2700" b="0">
                <a:solidFill>
                  <a:srgbClr val="102B46"/>
                </a:solidFill>
                <a:latin typeface="Bitstream Charter"/>
                <a:ea typeface="Bitstream Charter"/>
                <a:cs typeface="Bitstream Charter"/>
              </a:defRPr>
            </a:lvl5pPr>
            <a:lvl6pPr>
              <a:defRPr sz="2700" b="0">
                <a:solidFill>
                  <a:srgbClr val="102B46"/>
                </a:solidFill>
                <a:latin typeface="Bitstream Charter"/>
                <a:ea typeface="Bitstream Charter"/>
                <a:cs typeface="Bitstream Charter"/>
              </a:defRPr>
            </a:lvl6pPr>
            <a:lvl7pPr>
              <a:defRPr sz="2700" b="0">
                <a:solidFill>
                  <a:srgbClr val="102B46"/>
                </a:solidFill>
                <a:latin typeface="Bitstream Charter"/>
                <a:ea typeface="Bitstream Charter"/>
                <a:cs typeface="Bitstream Charter"/>
              </a:defRPr>
            </a:lvl7pPr>
            <a:lvl8pPr>
              <a:defRPr sz="2700" b="0">
                <a:solidFill>
                  <a:srgbClr val="102B46"/>
                </a:solidFill>
                <a:latin typeface="Bitstream Charter"/>
                <a:ea typeface="Bitstream Charter"/>
                <a:cs typeface="Bitstream Charter"/>
              </a:defRPr>
            </a:lvl8pPr>
            <a:lvl9pPr>
              <a:defRPr sz="2700" b="0">
                <a:solidFill>
                  <a:srgbClr val="102B46"/>
                </a:solidFill>
                <a:latin typeface="Bitstream Charter"/>
                <a:ea typeface="Bitstream Charter"/>
                <a:cs typeface="Bitstream Charter"/>
              </a:defRPr>
            </a:lvl9pPr>
          </a:lstStyle>
          <a:p xmlns:a="http://schemas.openxmlformats.org/drawingml/2006/main">
            <a:pPr>
              <a:defRPr sz="2700" b="0">
                <a:solidFill>
                  <a:srgbClr val="102B46"/>
                </a:solidFill>
                <a:latin typeface="Bitstream Charter"/>
                <a:ea typeface="Bitstream Charter"/>
                <a:cs typeface="Bitstream Charter"/>
              </a:defRPr>
            </a:pPr>
            <a:r>
              <a:rPr sz="2700" b="0">
                <a:solidFill>
                  <a:srgbClr val="102B46"/>
                </a:solidFill>
                <a:latin typeface="Bitstream Charter"/>
                <a:ea typeface="Bitstream Charter"/>
                <a:cs typeface="Bitstream Charter"/>
              </a:rPr>
              <a:t>ORB on CPU with unchanged relaxation settings</a:t>
            </a:r>
          </a:p>
        </p:txBody>
      </p:sp>
    </p:spTree>
    <p:extLst>
      <p:ext uri="{BB962C8B-B14F-4D97-AF65-F5344CB8AC3E}">
        <p14:creationId xmlns:p14="http://schemas.microsoft.com/office/powerpoint/2010/main" val="6876394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7EDE31D-3D00-461A-B0C2-3009EB1B3047}"/>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300" b="1">
                <a:solidFill>
                  <a:srgbClr val="102B46"/>
                </a:solidFill>
                <a:latin typeface="Bitstream Charter"/>
                <a:ea typeface="Bitstream Charter"/>
                <a:cs typeface="Bitstream Charter"/>
              </a:defRPr>
            </a:defPPr>
            <a:lvl1pPr>
              <a:defRPr sz="3300" b="1">
                <a:solidFill>
                  <a:srgbClr val="102B46"/>
                </a:solidFill>
                <a:latin typeface="Bitstream Charter"/>
                <a:ea typeface="Bitstream Charter"/>
                <a:cs typeface="Bitstream Charter"/>
              </a:defRPr>
            </a:lvl1pPr>
            <a:lvl2pPr>
              <a:defRPr sz="3300" b="1">
                <a:solidFill>
                  <a:srgbClr val="102B46"/>
                </a:solidFill>
                <a:latin typeface="Bitstream Charter"/>
                <a:ea typeface="Bitstream Charter"/>
                <a:cs typeface="Bitstream Charter"/>
              </a:defRPr>
            </a:lvl2pPr>
            <a:lvl3pPr>
              <a:defRPr sz="3300" b="1">
                <a:solidFill>
                  <a:srgbClr val="102B46"/>
                </a:solidFill>
                <a:latin typeface="Bitstream Charter"/>
                <a:ea typeface="Bitstream Charter"/>
                <a:cs typeface="Bitstream Charter"/>
              </a:defRPr>
            </a:lvl3pPr>
            <a:lvl4pPr>
              <a:defRPr sz="3300" b="1">
                <a:solidFill>
                  <a:srgbClr val="102B46"/>
                </a:solidFill>
                <a:latin typeface="Bitstream Charter"/>
                <a:ea typeface="Bitstream Charter"/>
                <a:cs typeface="Bitstream Charter"/>
              </a:defRPr>
            </a:lvl4pPr>
            <a:lvl5pPr>
              <a:defRPr sz="3300" b="1">
                <a:solidFill>
                  <a:srgbClr val="102B46"/>
                </a:solidFill>
                <a:latin typeface="Bitstream Charter"/>
                <a:ea typeface="Bitstream Charter"/>
                <a:cs typeface="Bitstream Charter"/>
              </a:defRPr>
            </a:lvl5pPr>
            <a:lvl6pPr>
              <a:defRPr sz="3300" b="1">
                <a:solidFill>
                  <a:srgbClr val="102B46"/>
                </a:solidFill>
                <a:latin typeface="Bitstream Charter"/>
                <a:ea typeface="Bitstream Charter"/>
                <a:cs typeface="Bitstream Charter"/>
              </a:defRPr>
            </a:lvl6pPr>
            <a:lvl7pPr>
              <a:defRPr sz="3300" b="1">
                <a:solidFill>
                  <a:srgbClr val="102B46"/>
                </a:solidFill>
                <a:latin typeface="Bitstream Charter"/>
                <a:ea typeface="Bitstream Charter"/>
                <a:cs typeface="Bitstream Charter"/>
              </a:defRPr>
            </a:lvl7pPr>
            <a:lvl8pPr>
              <a:defRPr sz="3300" b="1">
                <a:solidFill>
                  <a:srgbClr val="102B46"/>
                </a:solidFill>
                <a:latin typeface="Bitstream Charter"/>
                <a:ea typeface="Bitstream Charter"/>
                <a:cs typeface="Bitstream Charter"/>
              </a:defRPr>
            </a:lvl8pPr>
            <a:lvl9pPr>
              <a:defRPr sz="3300" b="1">
                <a:solidFill>
                  <a:srgbClr val="102B46"/>
                </a:solidFill>
                <a:latin typeface="Bitstream Charter"/>
                <a:ea typeface="Bitstream Charter"/>
                <a:cs typeface="Bitstream Charter"/>
              </a:defRPr>
            </a:lvl9pPr>
          </a:lstStyle>
          <a:p xmlns:a="http://schemas.openxmlformats.org/drawingml/2006/main">
            <a:pPr>
              <a:defRPr sz="3300" b="1">
                <a:solidFill>
                  <a:srgbClr val="102B46"/>
                </a:solidFill>
                <a:latin typeface="Bitstream Charter"/>
                <a:ea typeface="Bitstream Charter"/>
                <a:cs typeface="Bitstream Charter"/>
              </a:defRPr>
            </a:pPr>
            <a:r>
              <a:rPr sz="3300" b="1">
                <a:solidFill>
                  <a:srgbClr val="102B46"/>
                </a:solidFill>
                <a:latin typeface="Bitstream Charter"/>
                <a:ea typeface="Bitstream Charter"/>
                <a:cs typeface="Bitstream Charter"/>
              </a:rPr>
              <a:t>Chemeleon used more compute in the verified pair</a:t>
            </a:r>
          </a:p>
        </p:txBody>
      </p:sp>
      <p:sp>
        <p:nvSpPr>
          <p:cNvPr id="2" name="">
            <a:extLst xmlns:a="http://schemas.openxmlformats.org/drawingml/2006/main">
              <a:ext uri="{FF2B5EF4-FFF2-40B4-BE49-F238E27FC236}">
                <a16:creationId xmlns:a16="http://schemas.microsoft.com/office/drawing/2014/main" id="{E44D6F49-E211-4DFB-B56E-7B80165AA501}"/>
              </a:ext>
            </a:extLst>
          </p:cNvPr>
          <p:cNvSpPr>
            <a:spLocks xmlns:a="http://schemas.openxmlformats.org/drawingml/2006/main" noGrp="1"/>
          </p:cNvSpPr>
          <p:nvPr/>
        </p:nvSpPr>
        <p:spPr>
          <a:xfrm xmlns:a="http://schemas.openxmlformats.org/drawingml/2006/main">
            <a:off x="609600" y="622935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b="0">
                <a:solidFill>
                  <a:srgbClr val="52657A"/>
                </a:solidFill>
                <a:latin typeface="Bitstream Charter"/>
                <a:ea typeface="Bitstream Charter"/>
                <a:cs typeface="Bitstream Charter"/>
              </a:defRPr>
            </a:defPPr>
            <a:lvl1pPr>
              <a:defRPr sz="1500" b="0">
                <a:solidFill>
                  <a:srgbClr val="52657A"/>
                </a:solidFill>
                <a:latin typeface="Bitstream Charter"/>
                <a:ea typeface="Bitstream Charter"/>
                <a:cs typeface="Bitstream Charter"/>
              </a:defRPr>
            </a:lvl1pPr>
            <a:lvl2pPr>
              <a:defRPr sz="1500" b="0">
                <a:solidFill>
                  <a:srgbClr val="52657A"/>
                </a:solidFill>
                <a:latin typeface="Bitstream Charter"/>
                <a:ea typeface="Bitstream Charter"/>
                <a:cs typeface="Bitstream Charter"/>
              </a:defRPr>
            </a:lvl2pPr>
            <a:lvl3pPr>
              <a:defRPr sz="1500" b="0">
                <a:solidFill>
                  <a:srgbClr val="52657A"/>
                </a:solidFill>
                <a:latin typeface="Bitstream Charter"/>
                <a:ea typeface="Bitstream Charter"/>
                <a:cs typeface="Bitstream Charter"/>
              </a:defRPr>
            </a:lvl3pPr>
            <a:lvl4pPr>
              <a:defRPr sz="1500" b="0">
                <a:solidFill>
                  <a:srgbClr val="52657A"/>
                </a:solidFill>
                <a:latin typeface="Bitstream Charter"/>
                <a:ea typeface="Bitstream Charter"/>
                <a:cs typeface="Bitstream Charter"/>
              </a:defRPr>
            </a:lvl4pPr>
            <a:lvl5pPr>
              <a:defRPr sz="1500" b="0">
                <a:solidFill>
                  <a:srgbClr val="52657A"/>
                </a:solidFill>
                <a:latin typeface="Bitstream Charter"/>
                <a:ea typeface="Bitstream Charter"/>
                <a:cs typeface="Bitstream Charter"/>
              </a:defRPr>
            </a:lvl5pPr>
            <a:lvl6pPr>
              <a:defRPr sz="1500" b="0">
                <a:solidFill>
                  <a:srgbClr val="52657A"/>
                </a:solidFill>
                <a:latin typeface="Bitstream Charter"/>
                <a:ea typeface="Bitstream Charter"/>
                <a:cs typeface="Bitstream Charter"/>
              </a:defRPr>
            </a:lvl6pPr>
            <a:lvl7pPr>
              <a:defRPr sz="1500" b="0">
                <a:solidFill>
                  <a:srgbClr val="52657A"/>
                </a:solidFill>
                <a:latin typeface="Bitstream Charter"/>
                <a:ea typeface="Bitstream Charter"/>
                <a:cs typeface="Bitstream Charter"/>
              </a:defRPr>
            </a:lvl7pPr>
            <a:lvl8pPr>
              <a:defRPr sz="1500" b="0">
                <a:solidFill>
                  <a:srgbClr val="52657A"/>
                </a:solidFill>
                <a:latin typeface="Bitstream Charter"/>
                <a:ea typeface="Bitstream Charter"/>
                <a:cs typeface="Bitstream Charter"/>
              </a:defRPr>
            </a:lvl8pPr>
            <a:lvl9pPr>
              <a:defRPr sz="1500" b="0">
                <a:solidFill>
                  <a:srgbClr val="52657A"/>
                </a:solidFill>
                <a:latin typeface="Bitstream Charter"/>
                <a:ea typeface="Bitstream Charter"/>
                <a:cs typeface="Bitstream Charter"/>
              </a:defRPr>
            </a:lvl9pPr>
          </a:lstStyle>
          <a:p xmlns:a="http://schemas.openxmlformats.org/drawingml/2006/main">
            <a:pPr>
              <a:defRPr sz="1500" b="0">
                <a:solidFill>
                  <a:srgbClr val="52657A"/>
                </a:solidFill>
                <a:latin typeface="Bitstream Charter"/>
                <a:ea typeface="Bitstream Charter"/>
                <a:cs typeface="Bitstream Charter"/>
              </a:defRPr>
            </a:pPr>
            <a:r>
              <a:rPr sz="1500" b="0">
                <a:solidFill>
                  <a:srgbClr val="52657A"/>
                </a:solidFill>
                <a:latin typeface="Bitstream Charter"/>
                <a:ea typeface="Bitstream Charter"/>
                <a:cs typeface="Bitstream Charter"/>
              </a:rPr>
              <a:t>Public development: Mg-Sn-Sr, seed 17, B=20. One pair. Values refer to successful units only.</a:t>
            </a:r>
          </a:p>
        </p:txBody>
      </p:sp>
      <p:graphicFrame>
        <p:nvGraphicFramePr>
          <p:cNvPr id="3" name="">
            <a:extLst xmlns:a="http://schemas.openxmlformats.org/drawingml/2006/main">
              <a:ext uri="{FF2B5EF4-FFF2-40B4-BE49-F238E27FC236}">
                <a16:creationId xmlns:a16="http://schemas.microsoft.com/office/drawing/2014/main" id="{B6BB24C0-5F01-4815-8802-9FDE48ACF985}"/>
              </a:ext>
            </a:extLst>
          </p:cNvPr>
          <p:cNvGraphicFramePr/>
          <p:nvPr/>
        </p:nvGraphicFramePr>
        <p:xfrm>
          <a:off xmlns:a="http://schemas.openxmlformats.org/drawingml/2006/main" x="609600" y="1952625"/>
          <a:ext xmlns:a="http://schemas.openxmlformats.org/drawingml/2006/main" cx="10972800" cy="2190750"/>
        </p:xfrm>
        <a:graphic xmlns:a="http://schemas.openxmlformats.org/drawingml/2006/main">
          <a:graphicData uri="http://schemas.openxmlformats.org/drawingml/2006/table">
            <a:tbl>
              <a:tblPr/>
              <a:tblGrid>
                <a:gridCol w="2552700"/>
                <a:gridCol w="1714500"/>
                <a:gridCol w="1714500"/>
                <a:gridCol w="2514600"/>
                <a:gridCol w="2476500"/>
              </a:tblGrid>
              <a:tr h="730250">
                <a:tc>
                  <a:txBody>
                    <a:bodyPr/>
                    <a:lstStyle/>
                    <a:p>
                      <a:r>
                        <a:rPr sz="2100" b="1">
                          <a:solidFill>
                            <a:srgbClr val="FFFFFF"/>
                          </a:solidFill>
                          <a:latin typeface="Bitstream Charter"/>
                          <a:ea typeface="Bitstream Charter"/>
                          <a:cs typeface="Bitstream Charter"/>
                        </a:rPr>
                        <a:t>Method</a:t>
                      </a:r>
                    </a:p>
                  </a:txBody>
                  <a:tcPr marL="91440" marR="91440" marT="45720" marB="45720">
                    <a:solidFill>
                      <a:srgbClr val="102B46"/>
                    </a:solidFill>
                  </a:tcPr>
                </a:tc>
                <a:tc>
                  <a:txBody>
                    <a:bodyPr/>
                    <a:lstStyle/>
                    <a:p>
                      <a:r>
                        <a:rPr sz="2100" b="1">
                          <a:solidFill>
                            <a:srgbClr val="FFFFFF"/>
                          </a:solidFill>
                          <a:latin typeface="Bitstream Charter"/>
                          <a:ea typeface="Bitstream Charter"/>
                          <a:cs typeface="Bitstream Charter"/>
                        </a:rPr>
                        <a:t>mSUN@20</a:t>
                      </a:r>
                    </a:p>
                  </a:txBody>
                  <a:tcPr marL="91440" marR="91440" marT="45720" marB="45720">
                    <a:solidFill>
                      <a:srgbClr val="102B46"/>
                    </a:solidFill>
                  </a:tcPr>
                </a:tc>
                <a:tc>
                  <a:txBody>
                    <a:bodyPr/>
                    <a:lstStyle/>
                    <a:p>
                      <a:r>
                        <a:rPr sz="2100" b="1">
                          <a:solidFill>
                            <a:srgbClr val="FFFFFF"/>
                          </a:solidFill>
                          <a:latin typeface="Bitstream Charter"/>
                          <a:ea typeface="Bitstream Charter"/>
                          <a:cs typeface="Bitstream Charter"/>
                        </a:rPr>
                        <a:t>AUDC</a:t>
                      </a:r>
                    </a:p>
                  </a:txBody>
                  <a:tcPr marL="91440" marR="91440" marT="45720" marB="45720">
                    <a:solidFill>
                      <a:srgbClr val="102B46"/>
                    </a:solidFill>
                  </a:tcPr>
                </a:tc>
                <a:tc>
                  <a:txBody>
                    <a:bodyPr/>
                    <a:lstStyle/>
                    <a:p>
                      <a:r>
                        <a:rPr sz="2100" b="1">
                          <a:solidFill>
                            <a:srgbClr val="FFFFFF"/>
                          </a:solidFill>
                          <a:latin typeface="Bitstream Charter"/>
                          <a:ea typeface="Bitstream Charter"/>
                          <a:cs typeface="Bitstream Charter"/>
                        </a:rPr>
                        <a:t>Driver minutes</a:t>
                      </a:r>
                    </a:p>
                  </a:txBody>
                  <a:tcPr marL="91440" marR="91440" marT="45720" marB="45720">
                    <a:solidFill>
                      <a:srgbClr val="102B46"/>
                    </a:solidFill>
                  </a:tcPr>
                </a:tc>
                <a:tc>
                  <a:txBody>
                    <a:bodyPr/>
                    <a:lstStyle/>
                    <a:p>
                      <a:r>
                        <a:rPr sz="2100" b="1">
                          <a:solidFill>
                            <a:srgbClr val="FFFFFF"/>
                          </a:solidFill>
                          <a:latin typeface="Bitstream Charter"/>
                          <a:ea typeface="Bitstream Charter"/>
                          <a:cs typeface="Bitstream Charter"/>
                        </a:rPr>
                        <a:t>Known fees</a:t>
                      </a:r>
                    </a:p>
                  </a:txBody>
                  <a:tcPr marL="91440" marR="91440" marT="45720" marB="45720">
                    <a:solidFill>
                      <a:srgbClr val="102B46"/>
                    </a:solidFill>
                  </a:tcPr>
                </a:tc>
              </a:tr>
              <a:tr h="730250">
                <a:tc>
                  <a:txBody>
                    <a:bodyPr/>
                    <a:lstStyle/>
                    <a:p>
                      <a:r>
                        <a:rPr sz="2100" b="0">
                          <a:solidFill>
                            <a:srgbClr val="102B46"/>
                          </a:solidFill>
                          <a:latin typeface="Bitstream Charter"/>
                          <a:ea typeface="Bitstream Charter"/>
                          <a:cs typeface="Bitstream Charter"/>
                        </a:rPr>
                        <a:t>Random</a:t>
                      </a:r>
                    </a:p>
                  </a:txBody>
                  <a:tcPr marL="91440" marR="91440" marT="45720" marB="45720">
                    <a:solidFill>
                      <a:srgbClr val="FFFFFF"/>
                    </a:solidFill>
                  </a:tcPr>
                </a:tc>
                <a:tc>
                  <a:txBody>
                    <a:bodyPr/>
                    <a:lstStyle/>
                    <a:p>
                      <a:r>
                        <a:rPr sz="2100" b="0">
                          <a:solidFill>
                            <a:srgbClr val="102B46"/>
                          </a:solidFill>
                          <a:latin typeface="Bitstream Charter"/>
                          <a:ea typeface="Bitstream Charter"/>
                          <a:cs typeface="Bitstream Charter"/>
                        </a:rPr>
                        <a:t>7</a:t>
                      </a:r>
                    </a:p>
                  </a:txBody>
                  <a:tcPr marL="91440" marR="91440" marT="45720" marB="45720">
                    <a:solidFill>
                      <a:srgbClr val="FFFFFF"/>
                    </a:solidFill>
                  </a:tcPr>
                </a:tc>
                <a:tc>
                  <a:txBody>
                    <a:bodyPr/>
                    <a:lstStyle/>
                    <a:p>
                      <a:r>
                        <a:rPr sz="2100" b="0">
                          <a:solidFill>
                            <a:srgbClr val="102B46"/>
                          </a:solidFill>
                          <a:latin typeface="Bitstream Charter"/>
                          <a:ea typeface="Bitstream Charter"/>
                          <a:cs typeface="Bitstream Charter"/>
                        </a:rPr>
                        <a:t>55.5</a:t>
                      </a:r>
                    </a:p>
                  </a:txBody>
                  <a:tcPr marL="91440" marR="91440" marT="45720" marB="45720">
                    <a:solidFill>
                      <a:srgbClr val="FFFFFF"/>
                    </a:solidFill>
                  </a:tcPr>
                </a:tc>
                <a:tc>
                  <a:txBody>
                    <a:bodyPr/>
                    <a:lstStyle/>
                    <a:p>
                      <a:r>
                        <a:rPr sz="2100" b="0">
                          <a:solidFill>
                            <a:srgbClr val="102B46"/>
                          </a:solidFill>
                          <a:latin typeface="Bitstream Charter"/>
                          <a:ea typeface="Bitstream Charter"/>
                          <a:cs typeface="Bitstream Charter"/>
                        </a:rPr>
                        <a:t>15.9</a:t>
                      </a:r>
                    </a:p>
                  </a:txBody>
                  <a:tcPr marL="91440" marR="91440" marT="45720" marB="45720">
                    <a:solidFill>
                      <a:srgbClr val="FFFFFF"/>
                    </a:solidFill>
                  </a:tcPr>
                </a:tc>
                <a:tc>
                  <a:txBody>
                    <a:bodyPr/>
                    <a:lstStyle/>
                    <a:p>
                      <a:r>
                        <a:rPr sz="2100" b="0">
                          <a:solidFill>
                            <a:srgbClr val="102B46"/>
                          </a:solidFill>
                          <a:latin typeface="Bitstream Charter"/>
                          <a:ea typeface="Bitstream Charter"/>
                          <a:cs typeface="Bitstream Charter"/>
                        </a:rPr>
                        <a:t>USD 0</a:t>
                      </a:r>
                    </a:p>
                  </a:txBody>
                  <a:tcPr marL="91440" marR="91440" marT="45720" marB="45720">
                    <a:solidFill>
                      <a:srgbClr val="FFFFFF"/>
                    </a:solidFill>
                  </a:tcPr>
                </a:tc>
              </a:tr>
              <a:tr h="730250">
                <a:tc>
                  <a:txBody>
                    <a:bodyPr/>
                    <a:lstStyle/>
                    <a:p>
                      <a:r>
                        <a:rPr sz="2100" b="0">
                          <a:solidFill>
                            <a:srgbClr val="102B46"/>
                          </a:solidFill>
                          <a:latin typeface="Bitstream Charter"/>
                          <a:ea typeface="Bitstream Charter"/>
                          <a:cs typeface="Bitstream Charter"/>
                        </a:rPr>
                        <a:t>Chemeleon</a:t>
                      </a:r>
                    </a:p>
                  </a:txBody>
                  <a:tcPr marL="91440" marR="91440" marT="45720" marB="45720">
                    <a:solidFill>
                      <a:srgbClr val="FFFFFF"/>
                    </a:solidFill>
                  </a:tcPr>
                </a:tc>
                <a:tc>
                  <a:txBody>
                    <a:bodyPr/>
                    <a:lstStyle/>
                    <a:p>
                      <a:r>
                        <a:rPr sz="2100" b="0">
                          <a:solidFill>
                            <a:srgbClr val="102B46"/>
                          </a:solidFill>
                          <a:latin typeface="Bitstream Charter"/>
                          <a:ea typeface="Bitstream Charter"/>
                          <a:cs typeface="Bitstream Charter"/>
                        </a:rPr>
                        <a:t>16</a:t>
                      </a:r>
                    </a:p>
                  </a:txBody>
                  <a:tcPr marL="91440" marR="91440" marT="45720" marB="45720">
                    <a:solidFill>
                      <a:srgbClr val="FFFFFF"/>
                    </a:solidFill>
                  </a:tcPr>
                </a:tc>
                <a:tc>
                  <a:txBody>
                    <a:bodyPr/>
                    <a:lstStyle/>
                    <a:p>
                      <a:r>
                        <a:rPr sz="2100" b="0">
                          <a:solidFill>
                            <a:srgbClr val="102B46"/>
                          </a:solidFill>
                          <a:latin typeface="Bitstream Charter"/>
                          <a:ea typeface="Bitstream Charter"/>
                          <a:cs typeface="Bitstream Charter"/>
                        </a:rPr>
                        <a:t>161</a:t>
                      </a:r>
                    </a:p>
                  </a:txBody>
                  <a:tcPr marL="91440" marR="91440" marT="45720" marB="45720">
                    <a:solidFill>
                      <a:srgbClr val="FFFFFF"/>
                    </a:solidFill>
                  </a:tcPr>
                </a:tc>
                <a:tc>
                  <a:txBody>
                    <a:bodyPr/>
                    <a:lstStyle/>
                    <a:p>
                      <a:r>
                        <a:rPr sz="2100" b="0">
                          <a:solidFill>
                            <a:srgbClr val="102B46"/>
                          </a:solidFill>
                          <a:latin typeface="Bitstream Charter"/>
                          <a:ea typeface="Bitstream Charter"/>
                          <a:cs typeface="Bitstream Charter"/>
                        </a:rPr>
                        <a:t>262.8</a:t>
                      </a:r>
                    </a:p>
                  </a:txBody>
                  <a:tcPr marL="91440" marR="91440" marT="45720" marB="45720">
                    <a:solidFill>
                      <a:srgbClr val="FFFFFF"/>
                    </a:solidFill>
                  </a:tcPr>
                </a:tc>
                <a:tc>
                  <a:txBody>
                    <a:bodyPr/>
                    <a:lstStyle/>
                    <a:p>
                      <a:r>
                        <a:rPr sz="2100" b="0">
                          <a:solidFill>
                            <a:srgbClr val="102B46"/>
                          </a:solidFill>
                          <a:latin typeface="Bitstream Charter"/>
                          <a:ea typeface="Bitstream Charter"/>
                          <a:cs typeface="Bitstream Charter"/>
                        </a:rPr>
                        <a:t>USD 0</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FBF1663-B0D2-4E6C-B9A2-004253B953F5}"/>
              </a:ext>
            </a:extLst>
          </p:cNvPr>
          <p:cNvSpPr>
            <a:spLocks xmlns:a="http://schemas.openxmlformats.org/drawingml/2006/main" noGrp="1"/>
          </p:cNvSpPr>
          <p:nvPr/>
        </p:nvSpPr>
        <p:spPr>
          <a:xfrm xmlns:a="http://schemas.openxmlformats.org/drawingml/2006/main">
            <a:off x="609600" y="4714875"/>
            <a:ext cx="109728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175" b="0">
                <a:solidFill>
                  <a:srgbClr val="52657A"/>
                </a:solidFill>
                <a:latin typeface="Bitstream Charter"/>
                <a:ea typeface="Bitstream Charter"/>
                <a:cs typeface="Bitstream Charter"/>
              </a:defRPr>
            </a:defPPr>
            <a:lvl1pPr>
              <a:defRPr sz="2175" b="0">
                <a:solidFill>
                  <a:srgbClr val="52657A"/>
                </a:solidFill>
                <a:latin typeface="Bitstream Charter"/>
                <a:ea typeface="Bitstream Charter"/>
                <a:cs typeface="Bitstream Charter"/>
              </a:defRPr>
            </a:lvl1pPr>
            <a:lvl2pPr>
              <a:defRPr sz="2175" b="0">
                <a:solidFill>
                  <a:srgbClr val="52657A"/>
                </a:solidFill>
                <a:latin typeface="Bitstream Charter"/>
                <a:ea typeface="Bitstream Charter"/>
                <a:cs typeface="Bitstream Charter"/>
              </a:defRPr>
            </a:lvl2pPr>
            <a:lvl3pPr>
              <a:defRPr sz="2175" b="0">
                <a:solidFill>
                  <a:srgbClr val="52657A"/>
                </a:solidFill>
                <a:latin typeface="Bitstream Charter"/>
                <a:ea typeface="Bitstream Charter"/>
                <a:cs typeface="Bitstream Charter"/>
              </a:defRPr>
            </a:lvl3pPr>
            <a:lvl4pPr>
              <a:defRPr sz="2175" b="0">
                <a:solidFill>
                  <a:srgbClr val="52657A"/>
                </a:solidFill>
                <a:latin typeface="Bitstream Charter"/>
                <a:ea typeface="Bitstream Charter"/>
                <a:cs typeface="Bitstream Charter"/>
              </a:defRPr>
            </a:lvl4pPr>
            <a:lvl5pPr>
              <a:defRPr sz="2175" b="0">
                <a:solidFill>
                  <a:srgbClr val="52657A"/>
                </a:solidFill>
                <a:latin typeface="Bitstream Charter"/>
                <a:ea typeface="Bitstream Charter"/>
                <a:cs typeface="Bitstream Charter"/>
              </a:defRPr>
            </a:lvl5pPr>
            <a:lvl6pPr>
              <a:defRPr sz="2175" b="0">
                <a:solidFill>
                  <a:srgbClr val="52657A"/>
                </a:solidFill>
                <a:latin typeface="Bitstream Charter"/>
                <a:ea typeface="Bitstream Charter"/>
                <a:cs typeface="Bitstream Charter"/>
              </a:defRPr>
            </a:lvl6pPr>
            <a:lvl7pPr>
              <a:defRPr sz="2175" b="0">
                <a:solidFill>
                  <a:srgbClr val="52657A"/>
                </a:solidFill>
                <a:latin typeface="Bitstream Charter"/>
                <a:ea typeface="Bitstream Charter"/>
                <a:cs typeface="Bitstream Charter"/>
              </a:defRPr>
            </a:lvl7pPr>
            <a:lvl8pPr>
              <a:defRPr sz="2175" b="0">
                <a:solidFill>
                  <a:srgbClr val="52657A"/>
                </a:solidFill>
                <a:latin typeface="Bitstream Charter"/>
                <a:ea typeface="Bitstream Charter"/>
                <a:cs typeface="Bitstream Charter"/>
              </a:defRPr>
            </a:lvl8pPr>
            <a:lvl9pPr>
              <a:defRPr sz="2175" b="0">
                <a:solidFill>
                  <a:srgbClr val="52657A"/>
                </a:solidFill>
                <a:latin typeface="Bitstream Charter"/>
                <a:ea typeface="Bitstream Charter"/>
                <a:cs typeface="Bitstream Charter"/>
              </a:defRPr>
            </a:lvl9pPr>
          </a:lstStyle>
          <a:p xmlns:a="http://schemas.openxmlformats.org/drawingml/2006/main">
            <a:pPr>
              <a:defRPr sz="2175" b="0">
                <a:solidFill>
                  <a:srgbClr val="52657A"/>
                </a:solidFill>
                <a:latin typeface="Bitstream Charter"/>
                <a:ea typeface="Bitstream Charter"/>
                <a:cs typeface="Bitstream Charter"/>
              </a:defRPr>
            </a:pPr>
            <a:r>
              <a:rPr sz="2175" b="0">
                <a:solidFill>
                  <a:srgbClr val="52657A"/>
                </a:solidFill>
                <a:latin typeface="Bitstream Charter"/>
                <a:ea typeface="Bitstream Charter"/>
                <a:cs typeface="Bitstream Charter"/>
              </a:rPr>
              <a:t>Hardware, electricity and interrupted-attempt charges remain unmeasured.</a:t>
            </a:r>
          </a:p>
        </p:txBody>
      </p:sp>
    </p:spTree>
    <p:extLst>
      <p:ext uri="{BB962C8B-B14F-4D97-AF65-F5344CB8AC3E}">
        <p14:creationId xmlns:p14="http://schemas.microsoft.com/office/powerpoint/2010/main" val="9370907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2026-10-19T16:21:20.0110000Z</dcterms:created>
  <dcterms:modified xsi:type="dcterms:W3CDTF">2026-10-19T16:21:20.0110000Z</dcterms:modified>
</coreProperties>
</file>