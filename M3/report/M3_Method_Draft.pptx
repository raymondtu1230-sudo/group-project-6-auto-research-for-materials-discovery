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ethod" id="{e6403c03-d2ab-9761-d8d0-89f191b72f6d}">
          <p14:sldIdLst>
            <p14:sldId id="256"/>
            <p14:sldId id="257"/>
          </p14:sldIdLst>
        </p14:section>
        <p14:section name="Evaluation" id="{45239ec6-7b5c-9bd0-deb8-9f9d9a0d98c2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M3 decides where the agent spends its 20 oracle queries. I split a chemical system into sub-goals, one per subset of its elements, so a ternary has three binary edges and the ternary interior. The planner works in batches of four queries on one sub-goal, choosing the least-tried, most novel compositions that pass the charge-balance check. After each batch it reviews every sub-goal: smoothed success rate from what it has observed, plus memory from M4 when that is on, plus a bonus for unexplored compositions. The best sub-goal becomes the next target. It uses no language model, so it adds no API cost, and it never sees hidden labels.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part checks every plan before it is used. It declares the search stuck if six queries in a row found nothing new, or if the plan would repeat a formula already tried twice. Then it swaps in compositions that have been visited least and are farthest from what we just tried. If the stall continues, it widens generation; that costs no extra oracle queries, and M1 still caps the plan at the remaining budget. In this scripted demo on lithium-iron-oxygen, new phases appear only at queries 3 and 13, and self-correction re-plans three times in the dry stretch between them. Every re-plan is logged, so in the real runs we can trace which discoveries followed a re-plan.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measure M3 against M1's reference agent, which already ran on all six development systems and three seeds and found 5 stable, unique, novel structures per run on average, with a wide spread. M3 adds three configurations on exactly the same systems, seeds, budget and oracle: full M3, M3 with planning off, and M3 with self-correction off. Each is paired with the reference by system and seed. The difference between full M3 and each ablation isolates what planning and self-correction contribute. Those 54 runs happen on the 26th and 27th; this slide will then show the paired differences and one or two traced re-plan cases. No result is claimed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3 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PE6203 Group 6 · M3 planning and self-correction · draft for M6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in sub-goals, review after every batch</a:t>
            </a:r>
            <a:endParaRPr lang="en-US" sz="2800" dirty="0"/>
          </a:p>
        </p:txBody>
      </p:sp>
      <p:sp>
        <p:nvSpPr>
          <p:cNvPr id="3" name="ternary interior"/>
          <p:cNvSpPr/>
          <p:nvPr/>
        </p:nvSpPr>
        <p:spPr>
          <a:xfrm>
            <a:off x="914400" y="1463040"/>
            <a:ext cx="2377440" cy="2514600"/>
          </a:xfrm>
          <a:prstGeom prst="triangle">
            <a:avLst/>
          </a:prstGeom>
          <a:solidFill>
            <a:schemeClr val="accent1">
              <a:alpha val="18000"/>
            </a:schemeClr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4" name="vertex A"/>
          <p:cNvSpPr txBox="1"/>
          <p:nvPr/>
        </p:nvSpPr>
        <p:spPr>
          <a:xfrm>
            <a:off x="5943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</a:t>
            </a:r>
            <a:endParaRPr lang="en-US" sz="1600" dirty="0"/>
          </a:p>
        </p:txBody>
      </p:sp>
      <p:sp>
        <p:nvSpPr>
          <p:cNvPr id="5" name="vertex B"/>
          <p:cNvSpPr txBox="1"/>
          <p:nvPr/>
        </p:nvSpPr>
        <p:spPr>
          <a:xfrm>
            <a:off x="33375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vertex C"/>
          <p:cNvSpPr txBox="1"/>
          <p:nvPr/>
        </p:nvSpPr>
        <p:spPr>
          <a:xfrm>
            <a:off x="1965960" y="1097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</a:t>
            </a:r>
            <a:endParaRPr lang="en-US" sz="1600" dirty="0"/>
          </a:p>
        </p:txBody>
      </p:sp>
      <p:sp>
        <p:nvSpPr>
          <p:cNvPr id="7" name="interior label"/>
          <p:cNvSpPr txBox="1"/>
          <p:nvPr/>
        </p:nvSpPr>
        <p:spPr>
          <a:xfrm>
            <a:off x="141732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A-B-C interior</a:t>
            </a:r>
            <a:endParaRPr lang="en-US" sz="1200" dirty="0"/>
          </a:p>
        </p:txBody>
      </p:sp>
      <p:sp>
        <p:nvSpPr>
          <p:cNvPr id="8" name="subgoal caption"/>
          <p:cNvSpPr txBox="1"/>
          <p:nvPr/>
        </p:nvSpPr>
        <p:spPr>
          <a:xfrm>
            <a:off x="548640" y="4114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Sub-goals = element subsets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binary edges + 1 ternary interior</a:t>
            </a:r>
            <a:endParaRPr lang="en-US" sz="1200" dirty="0"/>
          </a:p>
        </p:txBody>
      </p:sp>
      <p:sp>
        <p:nvSpPr>
          <p:cNvPr id="9" name="step 1 card"/>
          <p:cNvSpPr/>
          <p:nvPr/>
        </p:nvSpPr>
        <p:spPr>
          <a:xfrm>
            <a:off x="4206240" y="1188720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1 badge"/>
          <p:cNvSpPr/>
          <p:nvPr/>
        </p:nvSpPr>
        <p:spPr>
          <a:xfrm>
            <a:off x="434340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1 number"/>
          <p:cNvSpPr txBox="1"/>
          <p:nvPr/>
        </p:nvSpPr>
        <p:spPr>
          <a:xfrm>
            <a:off x="4343400" y="1344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step 1 text"/>
          <p:cNvSpPr txBox="1"/>
          <p:nvPr/>
        </p:nvSpPr>
        <p:spPr>
          <a:xfrm>
            <a:off x="4937760" y="1188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Split the system into sub-goals</a:t>
            </a:r>
            <a:endParaRPr lang="en-US" sz="1500" dirty="0"/>
          </a:p>
        </p:txBody>
      </p:sp>
      <p:sp>
        <p:nvSpPr>
          <p:cNvPr id="13" name="step 2 card"/>
          <p:cNvSpPr/>
          <p:nvPr/>
        </p:nvSpPr>
        <p:spPr>
          <a:xfrm>
            <a:off x="4206240" y="2039112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2 badge"/>
          <p:cNvSpPr/>
          <p:nvPr/>
        </p:nvSpPr>
        <p:spPr>
          <a:xfrm>
            <a:off x="4343400" y="21945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 2 number"/>
          <p:cNvSpPr txBox="1"/>
          <p:nvPr/>
        </p:nvSpPr>
        <p:spPr>
          <a:xfrm>
            <a:off x="434340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step 2 text"/>
          <p:cNvSpPr txBox="1"/>
          <p:nvPr/>
        </p:nvSpPr>
        <p:spPr>
          <a:xfrm>
            <a:off x="4937760" y="203911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Propose batch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queries on one sub-goal: least-tried, most novel valid compositions</a:t>
            </a:r>
            <a:endParaRPr lang="en-US" sz="1500" dirty="0"/>
          </a:p>
        </p:txBody>
      </p:sp>
      <p:sp>
        <p:nvSpPr>
          <p:cNvPr id="17" name="step 3 card"/>
          <p:cNvSpPr/>
          <p:nvPr/>
        </p:nvSpPr>
        <p:spPr>
          <a:xfrm>
            <a:off x="4206240" y="2889504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tep 3 badge"/>
          <p:cNvSpPr/>
          <p:nvPr/>
        </p:nvSpPr>
        <p:spPr>
          <a:xfrm>
            <a:off x="4343400" y="3044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tep 3 number"/>
          <p:cNvSpPr txBox="1"/>
          <p:nvPr/>
        </p:nvSpPr>
        <p:spPr>
          <a:xfrm>
            <a:off x="4343400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step 3 text"/>
          <p:cNvSpPr txBox="1"/>
          <p:nvPr/>
        </p:nvSpPr>
        <p:spPr>
          <a:xfrm>
            <a:off x="4937760" y="288950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Review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Score each sub-goal from observed successes, M4 memory and unexplored share</a:t>
            </a:r>
            <a:endParaRPr lang="en-US" sz="1500" dirty="0"/>
          </a:p>
        </p:txBody>
      </p:sp>
      <p:sp>
        <p:nvSpPr>
          <p:cNvPr id="21" name="step 4 card"/>
          <p:cNvSpPr/>
          <p:nvPr/>
        </p:nvSpPr>
        <p:spPr>
          <a:xfrm>
            <a:off x="4206240" y="3739896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 4 badge"/>
          <p:cNvSpPr/>
          <p:nvPr/>
        </p:nvSpPr>
        <p:spPr>
          <a:xfrm>
            <a:off x="4343400" y="389534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tep 4 number"/>
          <p:cNvSpPr txBox="1"/>
          <p:nvPr/>
        </p:nvSpPr>
        <p:spPr>
          <a:xfrm>
            <a:off x="434340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tep 4 text"/>
          <p:cNvSpPr txBox="1"/>
          <p:nvPr/>
        </p:nvSpPr>
        <p:spPr>
          <a:xfrm>
            <a:off x="4937760" y="373989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Update plan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Best-scoring sub-goal becomes the next target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Detect a stalled search and re-plan</a:t>
            </a:r>
            <a:endParaRPr lang="en-US" sz="2800" dirty="0"/>
          </a:p>
        </p:txBody>
      </p:sp>
      <p:sp>
        <p:nvSpPr>
          <p:cNvPr id="3" name="trigger 1"/>
          <p:cNvSpPr/>
          <p:nvPr/>
        </p:nvSpPr>
        <p:spPr>
          <a:xfrm>
            <a:off x="457200" y="1188720"/>
            <a:ext cx="32918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igger 1 text"/>
          <p:cNvSpPr txBox="1"/>
          <p:nvPr/>
        </p:nvSpPr>
        <p:spPr>
          <a:xfrm>
            <a:off x="594360" y="11887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 progress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new phase in the last 6 queries</a:t>
            </a:r>
            <a:endParaRPr lang="en-US" sz="1500" dirty="0"/>
          </a:p>
        </p:txBody>
      </p:sp>
      <p:sp>
        <p:nvSpPr>
          <p:cNvPr id="5" name="trigger 2"/>
          <p:cNvSpPr/>
          <p:nvPr/>
        </p:nvSpPr>
        <p:spPr>
          <a:xfrm>
            <a:off x="457200" y="2057400"/>
            <a:ext cx="32918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rigger 2 text"/>
          <p:cNvSpPr txBox="1"/>
          <p:nvPr/>
        </p:nvSpPr>
        <p:spPr>
          <a:xfrm>
            <a:off x="594360" y="20574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Repetition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repeats a formula already tried twice</a:t>
            </a:r>
            <a:endParaRPr lang="en-US" sz="1500" dirty="0"/>
          </a:p>
        </p:txBody>
      </p:sp>
      <p:sp>
        <p:nvSpPr>
          <p:cNvPr id="7" name="replan card"/>
          <p:cNvSpPr/>
          <p:nvPr/>
        </p:nvSpPr>
        <p:spPr>
          <a:xfrm>
            <a:off x="457200" y="2971800"/>
            <a:ext cx="329184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replan text"/>
          <p:cNvSpPr txBox="1"/>
          <p:nvPr/>
        </p:nvSpPr>
        <p:spPr>
          <a:xfrm>
            <a:off x="594360" y="30175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Re-plan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Least-visited compositions farthest from recent queries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Repeated stalls double candidates per composition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3-query cooldown; a discovery resets it</a:t>
            </a:r>
            <a:endParaRPr lang="en-US" sz="1500" dirty="0"/>
          </a:p>
        </p:txBody>
      </p:sp>
      <p:sp>
        <p:nvSpPr>
          <p:cNvPr id="9" name="timeline title"/>
          <p:cNvSpPr txBox="1"/>
          <p:nvPr/>
        </p:nvSpPr>
        <p:spPr>
          <a:xfrm>
            <a:off x="4206240" y="11887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Synthetic demo, Li-Fe-O, 16 queries</a:t>
            </a:r>
            <a:endParaRPr lang="en-US" sz="1400" dirty="0"/>
          </a:p>
        </p:txBody>
      </p:sp>
      <p:sp>
        <p:nvSpPr>
          <p:cNvPr id="10" name="query 1"/>
          <p:cNvSpPr/>
          <p:nvPr/>
        </p:nvSpPr>
        <p:spPr>
          <a:xfrm>
            <a:off x="43434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query 1 label"/>
          <p:cNvSpPr txBox="1"/>
          <p:nvPr/>
        </p:nvSpPr>
        <p:spPr>
          <a:xfrm>
            <a:off x="427024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query 2"/>
          <p:cNvSpPr/>
          <p:nvPr/>
        </p:nvSpPr>
        <p:spPr>
          <a:xfrm>
            <a:off x="461772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query 3"/>
          <p:cNvSpPr/>
          <p:nvPr/>
        </p:nvSpPr>
        <p:spPr>
          <a:xfrm>
            <a:off x="4892040" y="1783080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query 4"/>
          <p:cNvSpPr/>
          <p:nvPr/>
        </p:nvSpPr>
        <p:spPr>
          <a:xfrm>
            <a:off x="516636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query 4 label"/>
          <p:cNvSpPr txBox="1"/>
          <p:nvPr/>
        </p:nvSpPr>
        <p:spPr>
          <a:xfrm>
            <a:off x="509320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16" name="query 5"/>
          <p:cNvSpPr/>
          <p:nvPr/>
        </p:nvSpPr>
        <p:spPr>
          <a:xfrm>
            <a:off x="544068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query 6"/>
          <p:cNvSpPr/>
          <p:nvPr/>
        </p:nvSpPr>
        <p:spPr>
          <a:xfrm>
            <a:off x="57150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query 7"/>
          <p:cNvSpPr/>
          <p:nvPr/>
        </p:nvSpPr>
        <p:spPr>
          <a:xfrm>
            <a:off x="598932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query 8"/>
          <p:cNvSpPr/>
          <p:nvPr/>
        </p:nvSpPr>
        <p:spPr>
          <a:xfrm>
            <a:off x="6263640" y="178308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query 8 label"/>
          <p:cNvSpPr txBox="1"/>
          <p:nvPr/>
        </p:nvSpPr>
        <p:spPr>
          <a:xfrm>
            <a:off x="619048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21" name="query 9"/>
          <p:cNvSpPr/>
          <p:nvPr/>
        </p:nvSpPr>
        <p:spPr>
          <a:xfrm>
            <a:off x="653796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query 10"/>
          <p:cNvSpPr/>
          <p:nvPr/>
        </p:nvSpPr>
        <p:spPr>
          <a:xfrm>
            <a:off x="6812280" y="178308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query 11"/>
          <p:cNvSpPr/>
          <p:nvPr/>
        </p:nvSpPr>
        <p:spPr>
          <a:xfrm>
            <a:off x="70866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query 12"/>
          <p:cNvSpPr/>
          <p:nvPr/>
        </p:nvSpPr>
        <p:spPr>
          <a:xfrm>
            <a:off x="7360920" y="178308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query 12 label"/>
          <p:cNvSpPr txBox="1"/>
          <p:nvPr/>
        </p:nvSpPr>
        <p:spPr>
          <a:xfrm>
            <a:off x="728776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26" name="query 13"/>
          <p:cNvSpPr/>
          <p:nvPr/>
        </p:nvSpPr>
        <p:spPr>
          <a:xfrm>
            <a:off x="7635240" y="1783080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query 14"/>
          <p:cNvSpPr/>
          <p:nvPr/>
        </p:nvSpPr>
        <p:spPr>
          <a:xfrm>
            <a:off x="790956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query 15"/>
          <p:cNvSpPr/>
          <p:nvPr/>
        </p:nvSpPr>
        <p:spPr>
          <a:xfrm>
            <a:off x="818388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query 16"/>
          <p:cNvSpPr/>
          <p:nvPr/>
        </p:nvSpPr>
        <p:spPr>
          <a:xfrm>
            <a:off x="84582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query 16 label"/>
          <p:cNvSpPr txBox="1"/>
          <p:nvPr/>
        </p:nvSpPr>
        <p:spPr>
          <a:xfrm>
            <a:off x="838504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31" name="legend 1 dot"/>
          <p:cNvSpPr/>
          <p:nvPr/>
        </p:nvSpPr>
        <p:spPr>
          <a:xfrm>
            <a:off x="4343400" y="256032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legend 1"/>
          <p:cNvSpPr txBox="1"/>
          <p:nvPr/>
        </p:nvSpPr>
        <p:spPr>
          <a:xfrm>
            <a:off x="46177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phase found (queries 3, 13)</a:t>
            </a:r>
            <a:endParaRPr lang="en-US" sz="1200" dirty="0"/>
          </a:p>
        </p:txBody>
      </p:sp>
      <p:sp>
        <p:nvSpPr>
          <p:cNvPr id="33" name="legend 2 dot"/>
          <p:cNvSpPr/>
          <p:nvPr/>
        </p:nvSpPr>
        <p:spPr>
          <a:xfrm>
            <a:off x="4343400" y="292608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legend 2"/>
          <p:cNvSpPr txBox="1"/>
          <p:nvPr/>
        </p:nvSpPr>
        <p:spPr>
          <a:xfrm>
            <a:off x="4617720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Self-correction re-planned (queries 8, 10, 12)</a:t>
            </a:r>
            <a:endParaRPr lang="en-US" sz="1200" dirty="0"/>
          </a:p>
        </p:txBody>
      </p:sp>
      <p:sp>
        <p:nvSpPr>
          <p:cNvPr id="35" name="timeline caveat"/>
          <p:cNvSpPr txBox="1"/>
          <p:nvPr/>
        </p:nvSpPr>
        <p:spPr>
          <a:xfrm>
            <a:off x="4343400" y="3337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Scripted feedback: shows the mechanism, not performance.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Two ablations against M1's reference</a:t>
            </a:r>
            <a:endParaRPr lang="en-US" sz="2800" dirty="0"/>
          </a:p>
        </p:txBody>
      </p:sp>
      <p:graphicFrame>
        <p:nvGraphicFramePr>
          <p:cNvPr id="4" name="abla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914400"/>
                <a:gridCol w="114300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Planning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Self-correction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m1_baseline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diversity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Reference (done)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m3_full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Full M3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m3_planning_off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Planning ablation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m3_self_correction_off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Self-corr. ablation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protocol note"/>
          <p:cNvSpPr txBox="1"/>
          <p:nvPr/>
        </p:nvSpPr>
        <p:spPr>
          <a:xfrm>
            <a:off x="457200" y="3291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Same 6 dev systems, seeds 17/29/43, 20 queries, ORB v3 oracle. Paired by system and seed; primary metric mSUN@20, plus AUDC, AF, EF.</a:t>
            </a:r>
            <a:endParaRPr lang="en-US" sz="1200" dirty="0"/>
          </a:p>
        </p:txBody>
      </p:sp>
      <p:sp>
        <p:nvSpPr>
          <p:cNvPr id="5" name="stat card"/>
          <p:cNvSpPr/>
          <p:nvPr/>
        </p:nvSpPr>
        <p:spPr>
          <a:xfrm>
            <a:off x="5943600" y="1188720"/>
            <a:ext cx="2743200" cy="278892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seline stat"/>
          <p:cNvSpPr txBox="1"/>
          <p:nvPr/>
        </p:nvSpPr>
        <p:spPr>
          <a:xfrm>
            <a:off x="6035040" y="1325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5.0</a:t>
            </a:r>
            <a:endParaRPr lang="en-US" sz="5400" dirty="0"/>
          </a:p>
        </p:txBody>
      </p:sp>
      <p:sp>
        <p:nvSpPr>
          <p:cNvPr id="7" name="baseline stat label"/>
          <p:cNvSpPr txBox="1"/>
          <p:nvPr/>
        </p:nvSpPr>
        <p:spPr>
          <a:xfrm>
            <a:off x="612648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mean mSUN@20 of M1's reference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± 4.4 over 18 runs</a:t>
            </a:r>
            <a:endParaRPr lang="en-US" sz="1200" dirty="0"/>
          </a:p>
        </p:txBody>
      </p:sp>
      <p:sp>
        <p:nvSpPr>
          <p:cNvPr id="8" name="pending label"/>
          <p:cNvSpPr txBox="1"/>
          <p:nvPr/>
        </p:nvSpPr>
        <p:spPr>
          <a:xfrm>
            <a:off x="6126480" y="3017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M3 results: 54 runs, 26–27 Oct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3 Graphite Teal">
  <a:themeElements>
    <a:clrScheme name="M3 Graphite Teal">
      <a:dk1>
        <a:srgbClr val="1E272C"/>
      </a:dk1>
      <a:lt1>
        <a:srgbClr val="FFFFFF"/>
      </a:lt1>
      <a:dk2>
        <a:srgbClr val="0E4D5A"/>
      </a:dk2>
      <a:lt2>
        <a:srgbClr val="EEF3F4"/>
      </a:lt2>
      <a:accent1>
        <a:srgbClr val="0F7C8C"/>
      </a:accent1>
      <a:accent2>
        <a:srgbClr val="E39B2D"/>
      </a:accent2>
      <a:accent3>
        <a:srgbClr val="B5523B"/>
      </a:accent3>
      <a:accent4>
        <a:srgbClr val="5B8E7D"/>
      </a:accent4>
      <a:accent5>
        <a:srgbClr val="8A9BA3"/>
      </a:accent5>
      <a:accent6>
        <a:srgbClr val="2F4858"/>
      </a:accent6>
      <a:hlink>
        <a:srgbClr val="0F7C8C"/>
      </a:hlink>
      <a:folHlink>
        <a:srgbClr val="6B5B95"/>
      </a:folHlink>
    </a:clrScheme>
    <a:fontScheme name="M3 Graphite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planning and self-correction</dc:title>
  <dc:subject>PptxGenJS Presentation</dc:subject>
  <dc:creator>PE6203 Group 6, M3</dc:creator>
  <cp:lastModifiedBy>PE6203 Group 6, M3</cp:lastModifiedBy>
  <cp:revision>1</cp:revision>
  <dcterms:created xsi:type="dcterms:W3CDTF">2026-10-19T11:12:26Z</dcterms:created>
  <dcterms:modified xsi:type="dcterms:W3CDTF">2026-10-19T11:12:26Z</dcterms:modified>
</cp:coreProperties>
</file>