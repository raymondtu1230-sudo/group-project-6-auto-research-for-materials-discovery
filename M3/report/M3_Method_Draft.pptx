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ethod" id="{1c9e9ce5-0399-8b4a-03f9-6b00c394e0b5}">
          <p14:sldIdLst>
            <p14:sldId id="256"/>
            <p14:sldId id="257"/>
          </p14:sldIdLst>
        </p14:section>
        <p14:section name="Evaluation" id="{8bad32d9-36a5-cb4f-0f34-0759b88c83af}">
          <p14:sldIdLst>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decides where the agent spends its 20 oracle queries. I split a chemical system into sub-goals, one per subset of its elements, so a ternary has three binary edges and the ternary interior. The planner works in batches of four queries on one sub-goal, choosing the least-tried, most novel compositions that pass the charge-balance check. After each batch it reviews every sub-goal: smoothed success rate from what it has observed, plus memory from M4 when that is on, plus a bonus for unexplored compositions. The best sub-goal becomes the next target. It uses no language model, so it adds no API cost, and it never sees hidden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part checks every plan before it is used. It declares the search stuck if six queries in a row found nothing new, or if the plan would repeat a formula already tried twice. Then it swaps in compositions that have been visited least and are farthest from what we just tried. If the stall continues, it widens generation; that costs no extra oracle queries, and M1 still caps the plan at the remaining budget. In this scripted demo on lithium-iron-oxygen, new phases appear only at queries 3 and 13, and self-correction re-plans three times in the dry stretch between them. Every re-plan is logged, so in the real runs we can trace which discoveries followed a re-plan.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72 runs finished. The re-run reference matches M1's recorded numbers exactly, so the comparison is clean. Full M3 finds 1.5 more stable, unique, novel structures per run than the reference, but the spread is larger than the mean, and the effect depends on the system. On the three systems where the reference finds almost nothing, M3 goes from about 1 to about 7. On the three where the reference already does well, M3 drops from about 9 to about 6. The reason is the planner: it commits to binary edges and gives the ternary interior at most two of its five batches. That pays off when the stable phases sit on an edge, like gold-terbium, and costs discoveries in hafnium-nickel-zirconium, where the interior is rich. Planning adds 1.4 over planning off. Self-correction adds 0.7: it re-planned 16 times, all for no progress, and the clearest case is cobalt-magnesium-sodium, where re-plans at queries 6 and 13 lift the three seeds from 3 structures in total to 13. Next step: keep a minimum share of queries for the ternary interior.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3 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chemeClr val="accent5"/>
                </a:solidFill>
              </a:rPr>
              <a:t>PE6203 Group 6 · M3 planning and self-correction · draft for M6</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Plan in sub-goals, review after every batch</a:t>
            </a:r>
            <a:endParaRPr lang="en-US" sz="2800" dirty="0"/>
          </a:p>
        </p:txBody>
      </p:sp>
      <p:sp>
        <p:nvSpPr>
          <p:cNvPr id="3" name="ternary interior"/>
          <p:cNvSpPr/>
          <p:nvPr/>
        </p:nvSpPr>
        <p:spPr>
          <a:xfrm>
            <a:off x="914400" y="1463040"/>
            <a:ext cx="2377440" cy="2514600"/>
          </a:xfrm>
          <a:prstGeom prst="triangle">
            <a:avLst/>
          </a:prstGeom>
          <a:solidFill>
            <a:schemeClr val="accent1">
              <a:alpha val="18000"/>
            </a:schemeClr>
          </a:solidFill>
          <a:ln w="31750">
            <a:solidFill>
              <a:schemeClr val="accent1"/>
            </a:solidFill>
            <a:prstDash val="solid"/>
          </a:ln>
        </p:spPr>
      </p:sp>
      <p:sp>
        <p:nvSpPr>
          <p:cNvPr id="4" name="vertex A"/>
          <p:cNvSpPr txBox="1"/>
          <p:nvPr/>
        </p:nvSpPr>
        <p:spPr>
          <a:xfrm>
            <a:off x="594360" y="3931920"/>
            <a:ext cx="274320" cy="274320"/>
          </a:xfrm>
          <a:prstGeom prst="rect">
            <a:avLst/>
          </a:prstGeom>
          <a:noFill/>
          <a:ln/>
        </p:spPr>
        <p:txBody>
          <a:bodyPr wrap="square" lIns="0" tIns="0" rIns="0" bIns="0" rtlCol="0" anchor="ctr"/>
          <a:lstStyle/>
          <a:p>
            <a:pPr algn="ctr" indent="0" marL="0">
              <a:buNone/>
            </a:pPr>
            <a:r>
              <a:rPr lang="en-US" sz="1600" b="1" dirty="0">
                <a:solidFill>
                  <a:schemeClr val="tx2"/>
                </a:solidFill>
              </a:rPr>
              <a:t>A</a:t>
            </a:r>
            <a:endParaRPr lang="en-US" sz="1600" dirty="0"/>
          </a:p>
        </p:txBody>
      </p:sp>
      <p:sp>
        <p:nvSpPr>
          <p:cNvPr id="5" name="vertex B"/>
          <p:cNvSpPr txBox="1"/>
          <p:nvPr/>
        </p:nvSpPr>
        <p:spPr>
          <a:xfrm>
            <a:off x="3337560" y="3931920"/>
            <a:ext cx="274320" cy="274320"/>
          </a:xfrm>
          <a:prstGeom prst="rect">
            <a:avLst/>
          </a:prstGeom>
          <a:noFill/>
          <a:ln/>
        </p:spPr>
        <p:txBody>
          <a:bodyPr wrap="square" lIns="0" tIns="0" rIns="0" bIns="0" rtlCol="0" anchor="ctr"/>
          <a:lstStyle/>
          <a:p>
            <a:pPr algn="ctr" indent="0" marL="0">
              <a:buNone/>
            </a:pPr>
            <a:r>
              <a:rPr lang="en-US" sz="1600" b="1" dirty="0">
                <a:solidFill>
                  <a:schemeClr val="tx2"/>
                </a:solidFill>
              </a:rPr>
              <a:t>B</a:t>
            </a:r>
            <a:endParaRPr lang="en-US" sz="1600" dirty="0"/>
          </a:p>
        </p:txBody>
      </p:sp>
      <p:sp>
        <p:nvSpPr>
          <p:cNvPr id="6" name="vertex C"/>
          <p:cNvSpPr txBox="1"/>
          <p:nvPr/>
        </p:nvSpPr>
        <p:spPr>
          <a:xfrm>
            <a:off x="1965960" y="1097280"/>
            <a:ext cx="274320" cy="274320"/>
          </a:xfrm>
          <a:prstGeom prst="rect">
            <a:avLst/>
          </a:prstGeom>
          <a:noFill/>
          <a:ln/>
        </p:spPr>
        <p:txBody>
          <a:bodyPr wrap="square" lIns="0" tIns="0" rIns="0" bIns="0" rtlCol="0" anchor="ctr"/>
          <a:lstStyle/>
          <a:p>
            <a:pPr algn="ctr" indent="0" marL="0">
              <a:buNone/>
            </a:pPr>
            <a:r>
              <a:rPr lang="en-US" sz="1600" b="1" dirty="0">
                <a:solidFill>
                  <a:schemeClr val="tx2"/>
                </a:solidFill>
              </a:rPr>
              <a:t>C</a:t>
            </a:r>
            <a:endParaRPr lang="en-US" sz="1600" dirty="0"/>
          </a:p>
        </p:txBody>
      </p:sp>
      <p:sp>
        <p:nvSpPr>
          <p:cNvPr id="7" name="interior label"/>
          <p:cNvSpPr txBox="1"/>
          <p:nvPr/>
        </p:nvSpPr>
        <p:spPr>
          <a:xfrm>
            <a:off x="1417320" y="3154680"/>
            <a:ext cx="1371600" cy="274320"/>
          </a:xfrm>
          <a:prstGeom prst="rect">
            <a:avLst/>
          </a:prstGeom>
          <a:noFill/>
          <a:ln/>
        </p:spPr>
        <p:txBody>
          <a:bodyPr wrap="square" lIns="0" tIns="0" rIns="0" bIns="0" rtlCol="0" anchor="ctr"/>
          <a:lstStyle/>
          <a:p>
            <a:pPr algn="ctr" indent="0" marL="0">
              <a:buNone/>
            </a:pPr>
            <a:r>
              <a:rPr lang="en-US" sz="1200" b="1" dirty="0">
                <a:solidFill>
                  <a:schemeClr val="tx2"/>
                </a:solidFill>
              </a:rPr>
              <a:t>A-B-C interior</a:t>
            </a:r>
            <a:endParaRPr lang="en-US" sz="1200" dirty="0"/>
          </a:p>
        </p:txBody>
      </p:sp>
      <p:sp>
        <p:nvSpPr>
          <p:cNvPr id="8" name="subgoal caption"/>
          <p:cNvSpPr txBox="1"/>
          <p:nvPr/>
        </p:nvSpPr>
        <p:spPr>
          <a:xfrm>
            <a:off x="548640" y="4114800"/>
            <a:ext cx="3108960" cy="502920"/>
          </a:xfrm>
          <a:prstGeom prst="rect">
            <a:avLst/>
          </a:prstGeom>
          <a:noFill/>
          <a:ln/>
        </p:spPr>
        <p:txBody>
          <a:bodyPr wrap="square" lIns="0" tIns="0" rIns="0" bIns="0" rtlCol="0" anchor="ctr"/>
          <a:lstStyle/>
          <a:p>
            <a:pPr algn="ctr" indent="0" marL="0">
              <a:buNone/>
            </a:pPr>
            <a:r>
              <a:rPr lang="en-US" sz="1200" b="1" dirty="0">
                <a:solidFill>
                  <a:schemeClr val="tx1"/>
                </a:solidFill>
              </a:rPr>
              <a:t>Sub-goals = element subsets</a:t>
            </a:r>
            <a:endParaRPr lang="en-US" sz="1200" dirty="0"/>
          </a:p>
          <a:p>
            <a:pPr algn="ctr" indent="0" marL="0">
              <a:buNone/>
            </a:pPr>
            <a:r>
              <a:rPr lang="en-US" sz="1200" dirty="0">
                <a:solidFill>
                  <a:schemeClr val="tx1"/>
                </a:solidFill>
              </a:rPr>
              <a:t>3 binary edges + 1 ternary interior</a:t>
            </a:r>
            <a:endParaRPr lang="en-US" sz="1200" dirty="0"/>
          </a:p>
        </p:txBody>
      </p:sp>
      <p:sp>
        <p:nvSpPr>
          <p:cNvPr id="9" name="step 1 card"/>
          <p:cNvSpPr/>
          <p:nvPr/>
        </p:nvSpPr>
        <p:spPr>
          <a:xfrm>
            <a:off x="4206240" y="1188720"/>
            <a:ext cx="4480560" cy="731520"/>
          </a:xfrm>
          <a:prstGeom prst="roundRect">
            <a:avLst>
              <a:gd name="adj" fmla="val 10000"/>
            </a:avLst>
          </a:prstGeom>
          <a:solidFill>
            <a:schemeClr val="bg2"/>
          </a:solidFill>
          <a:ln w="12700">
            <a:solidFill>
              <a:schemeClr val="bg2"/>
            </a:solidFill>
            <a:prstDash val="solid"/>
          </a:ln>
        </p:spPr>
      </p:sp>
      <p:sp>
        <p:nvSpPr>
          <p:cNvPr id="10" name="step 1 badge"/>
          <p:cNvSpPr/>
          <p:nvPr/>
        </p:nvSpPr>
        <p:spPr>
          <a:xfrm>
            <a:off x="4343400" y="1344168"/>
            <a:ext cx="420624" cy="420624"/>
          </a:xfrm>
          <a:prstGeom prst="ellipse">
            <a:avLst/>
          </a:prstGeom>
          <a:solidFill>
            <a:schemeClr val="accent1"/>
          </a:solidFill>
          <a:ln w="12700">
            <a:solidFill>
              <a:schemeClr val="accent1"/>
            </a:solidFill>
            <a:prstDash val="solid"/>
          </a:ln>
        </p:spPr>
      </p:sp>
      <p:sp>
        <p:nvSpPr>
          <p:cNvPr id="11" name="step 1 number"/>
          <p:cNvSpPr txBox="1"/>
          <p:nvPr/>
        </p:nvSpPr>
        <p:spPr>
          <a:xfrm>
            <a:off x="4343400" y="13441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tep 1 text"/>
          <p:cNvSpPr txBox="1"/>
          <p:nvPr/>
        </p:nvSpPr>
        <p:spPr>
          <a:xfrm>
            <a:off x="4937760" y="1188720"/>
            <a:ext cx="3657600" cy="731520"/>
          </a:xfrm>
          <a:prstGeom prst="rect">
            <a:avLst/>
          </a:prstGeom>
          <a:noFill/>
          <a:ln/>
        </p:spPr>
        <p:txBody>
          <a:bodyPr wrap="square" lIns="0" tIns="0" rIns="0" bIns="0" rtlCol="0" anchor="ctr"/>
          <a:lstStyle/>
          <a:p>
            <a:pPr indent="0" marL="0">
              <a:buNone/>
            </a:pPr>
            <a:r>
              <a:rPr lang="en-US" sz="1500" b="1" dirty="0">
                <a:solidFill>
                  <a:schemeClr val="tx2"/>
                </a:solidFill>
              </a:rPr>
              <a:t>Plan</a:t>
            </a:r>
            <a:endParaRPr lang="en-US" sz="1500" dirty="0"/>
          </a:p>
          <a:p>
            <a:pPr indent="0" marL="0">
              <a:buNone/>
            </a:pPr>
            <a:r>
              <a:rPr lang="en-US" sz="1200" dirty="0">
                <a:solidFill>
                  <a:schemeClr val="tx1"/>
                </a:solidFill>
              </a:rPr>
              <a:t>Split the system into sub-goals</a:t>
            </a:r>
            <a:endParaRPr lang="en-US" sz="1500" dirty="0"/>
          </a:p>
        </p:txBody>
      </p:sp>
      <p:sp>
        <p:nvSpPr>
          <p:cNvPr id="13" name="step 2 card"/>
          <p:cNvSpPr/>
          <p:nvPr/>
        </p:nvSpPr>
        <p:spPr>
          <a:xfrm>
            <a:off x="4206240" y="2039112"/>
            <a:ext cx="4480560" cy="731520"/>
          </a:xfrm>
          <a:prstGeom prst="roundRect">
            <a:avLst>
              <a:gd name="adj" fmla="val 10000"/>
            </a:avLst>
          </a:prstGeom>
          <a:solidFill>
            <a:schemeClr val="bg2"/>
          </a:solidFill>
          <a:ln w="12700">
            <a:solidFill>
              <a:schemeClr val="bg2"/>
            </a:solidFill>
            <a:prstDash val="solid"/>
          </a:ln>
        </p:spPr>
      </p:sp>
      <p:sp>
        <p:nvSpPr>
          <p:cNvPr id="14" name="step 2 badge"/>
          <p:cNvSpPr/>
          <p:nvPr/>
        </p:nvSpPr>
        <p:spPr>
          <a:xfrm>
            <a:off x="4343400" y="2194560"/>
            <a:ext cx="420624" cy="420624"/>
          </a:xfrm>
          <a:prstGeom prst="ellipse">
            <a:avLst/>
          </a:prstGeom>
          <a:solidFill>
            <a:schemeClr val="accent1"/>
          </a:solidFill>
          <a:ln w="12700">
            <a:solidFill>
              <a:schemeClr val="accent1"/>
            </a:solidFill>
            <a:prstDash val="solid"/>
          </a:ln>
        </p:spPr>
      </p:sp>
      <p:sp>
        <p:nvSpPr>
          <p:cNvPr id="15" name="step 2 number"/>
          <p:cNvSpPr txBox="1"/>
          <p:nvPr/>
        </p:nvSpPr>
        <p:spPr>
          <a:xfrm>
            <a:off x="4343400" y="21945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6" name="step 2 text"/>
          <p:cNvSpPr txBox="1"/>
          <p:nvPr/>
        </p:nvSpPr>
        <p:spPr>
          <a:xfrm>
            <a:off x="4937760" y="2039112"/>
            <a:ext cx="3657600" cy="731520"/>
          </a:xfrm>
          <a:prstGeom prst="rect">
            <a:avLst/>
          </a:prstGeom>
          <a:noFill/>
          <a:ln/>
        </p:spPr>
        <p:txBody>
          <a:bodyPr wrap="square" lIns="0" tIns="0" rIns="0" bIns="0" rtlCol="0" anchor="ctr"/>
          <a:lstStyle/>
          <a:p>
            <a:pPr indent="0" marL="0">
              <a:buNone/>
            </a:pPr>
            <a:r>
              <a:rPr lang="en-US" sz="1500" b="1" dirty="0">
                <a:solidFill>
                  <a:schemeClr val="tx2"/>
                </a:solidFill>
              </a:rPr>
              <a:t>Propose batch</a:t>
            </a:r>
            <a:endParaRPr lang="en-US" sz="1500" dirty="0"/>
          </a:p>
          <a:p>
            <a:pPr indent="0" marL="0">
              <a:buNone/>
            </a:pPr>
            <a:r>
              <a:rPr lang="en-US" sz="1200" dirty="0">
                <a:solidFill>
                  <a:schemeClr val="tx1"/>
                </a:solidFill>
              </a:rPr>
              <a:t>4 queries on one sub-goal: least-tried, most novel valid compositions</a:t>
            </a:r>
            <a:endParaRPr lang="en-US" sz="1500" dirty="0"/>
          </a:p>
        </p:txBody>
      </p:sp>
      <p:sp>
        <p:nvSpPr>
          <p:cNvPr id="17" name="step 3 card"/>
          <p:cNvSpPr/>
          <p:nvPr/>
        </p:nvSpPr>
        <p:spPr>
          <a:xfrm>
            <a:off x="4206240" y="2889504"/>
            <a:ext cx="4480560" cy="731520"/>
          </a:xfrm>
          <a:prstGeom prst="roundRect">
            <a:avLst>
              <a:gd name="adj" fmla="val 10000"/>
            </a:avLst>
          </a:prstGeom>
          <a:solidFill>
            <a:schemeClr val="bg2"/>
          </a:solidFill>
          <a:ln w="12700">
            <a:solidFill>
              <a:schemeClr val="bg2"/>
            </a:solidFill>
            <a:prstDash val="solid"/>
          </a:ln>
        </p:spPr>
      </p:sp>
      <p:sp>
        <p:nvSpPr>
          <p:cNvPr id="18" name="step 3 badge"/>
          <p:cNvSpPr/>
          <p:nvPr/>
        </p:nvSpPr>
        <p:spPr>
          <a:xfrm>
            <a:off x="4343400" y="3044952"/>
            <a:ext cx="420624" cy="420624"/>
          </a:xfrm>
          <a:prstGeom prst="ellipse">
            <a:avLst/>
          </a:prstGeom>
          <a:solidFill>
            <a:schemeClr val="accent1"/>
          </a:solidFill>
          <a:ln w="12700">
            <a:solidFill>
              <a:schemeClr val="accent1"/>
            </a:solidFill>
            <a:prstDash val="solid"/>
          </a:ln>
        </p:spPr>
      </p:sp>
      <p:sp>
        <p:nvSpPr>
          <p:cNvPr id="19" name="step 3 number"/>
          <p:cNvSpPr txBox="1"/>
          <p:nvPr/>
        </p:nvSpPr>
        <p:spPr>
          <a:xfrm>
            <a:off x="4343400" y="3044952"/>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0" name="step 3 text"/>
          <p:cNvSpPr txBox="1"/>
          <p:nvPr/>
        </p:nvSpPr>
        <p:spPr>
          <a:xfrm>
            <a:off x="4937760" y="2889504"/>
            <a:ext cx="3657600" cy="731520"/>
          </a:xfrm>
          <a:prstGeom prst="rect">
            <a:avLst/>
          </a:prstGeom>
          <a:noFill/>
          <a:ln/>
        </p:spPr>
        <p:txBody>
          <a:bodyPr wrap="square" lIns="0" tIns="0" rIns="0" bIns="0" rtlCol="0" anchor="ctr"/>
          <a:lstStyle/>
          <a:p>
            <a:pPr indent="0" marL="0">
              <a:buNone/>
            </a:pPr>
            <a:r>
              <a:rPr lang="en-US" sz="1500" b="1" dirty="0">
                <a:solidFill>
                  <a:schemeClr val="tx2"/>
                </a:solidFill>
              </a:rPr>
              <a:t>Review</a:t>
            </a:r>
            <a:endParaRPr lang="en-US" sz="1500" dirty="0"/>
          </a:p>
          <a:p>
            <a:pPr indent="0" marL="0">
              <a:buNone/>
            </a:pPr>
            <a:r>
              <a:rPr lang="en-US" sz="1200" dirty="0">
                <a:solidFill>
                  <a:schemeClr val="tx1"/>
                </a:solidFill>
              </a:rPr>
              <a:t>Score each sub-goal from observed successes, M4 memory and unexplored share</a:t>
            </a:r>
            <a:endParaRPr lang="en-US" sz="1500" dirty="0"/>
          </a:p>
        </p:txBody>
      </p:sp>
      <p:sp>
        <p:nvSpPr>
          <p:cNvPr id="21" name="step 4 card"/>
          <p:cNvSpPr/>
          <p:nvPr/>
        </p:nvSpPr>
        <p:spPr>
          <a:xfrm>
            <a:off x="4206240" y="3739896"/>
            <a:ext cx="4480560" cy="731520"/>
          </a:xfrm>
          <a:prstGeom prst="roundRect">
            <a:avLst>
              <a:gd name="adj" fmla="val 10000"/>
            </a:avLst>
          </a:prstGeom>
          <a:solidFill>
            <a:schemeClr val="bg2"/>
          </a:solidFill>
          <a:ln w="12700">
            <a:solidFill>
              <a:schemeClr val="bg2"/>
            </a:solidFill>
            <a:prstDash val="solid"/>
          </a:ln>
        </p:spPr>
      </p:sp>
      <p:sp>
        <p:nvSpPr>
          <p:cNvPr id="22" name="step 4 badge"/>
          <p:cNvSpPr/>
          <p:nvPr/>
        </p:nvSpPr>
        <p:spPr>
          <a:xfrm>
            <a:off x="4343400" y="3895344"/>
            <a:ext cx="420624" cy="420624"/>
          </a:xfrm>
          <a:prstGeom prst="ellipse">
            <a:avLst/>
          </a:prstGeom>
          <a:solidFill>
            <a:schemeClr val="accent1"/>
          </a:solidFill>
          <a:ln w="12700">
            <a:solidFill>
              <a:schemeClr val="accent1"/>
            </a:solidFill>
            <a:prstDash val="solid"/>
          </a:ln>
        </p:spPr>
      </p:sp>
      <p:sp>
        <p:nvSpPr>
          <p:cNvPr id="23" name="step 4 number"/>
          <p:cNvSpPr txBox="1"/>
          <p:nvPr/>
        </p:nvSpPr>
        <p:spPr>
          <a:xfrm>
            <a:off x="4343400" y="3895344"/>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step 4 text"/>
          <p:cNvSpPr txBox="1"/>
          <p:nvPr/>
        </p:nvSpPr>
        <p:spPr>
          <a:xfrm>
            <a:off x="4937760" y="3739896"/>
            <a:ext cx="3657600" cy="731520"/>
          </a:xfrm>
          <a:prstGeom prst="rect">
            <a:avLst/>
          </a:prstGeom>
          <a:noFill/>
          <a:ln/>
        </p:spPr>
        <p:txBody>
          <a:bodyPr wrap="square" lIns="0" tIns="0" rIns="0" bIns="0" rtlCol="0" anchor="ctr"/>
          <a:lstStyle/>
          <a:p>
            <a:pPr indent="0" marL="0">
              <a:buNone/>
            </a:pPr>
            <a:r>
              <a:rPr lang="en-US" sz="1500" b="1" dirty="0">
                <a:solidFill>
                  <a:schemeClr val="tx2"/>
                </a:solidFill>
              </a:rPr>
              <a:t>Update plan</a:t>
            </a:r>
            <a:endParaRPr lang="en-US" sz="1500" dirty="0"/>
          </a:p>
          <a:p>
            <a:pPr indent="0" marL="0">
              <a:buNone/>
            </a:pPr>
            <a:r>
              <a:rPr lang="en-US" sz="1200" dirty="0">
                <a:solidFill>
                  <a:schemeClr val="tx1"/>
                </a:solidFill>
              </a:rPr>
              <a:t>Best-scoring sub-goal becomes the next target</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Detect a stalled search and re-plan</a:t>
            </a:r>
            <a:endParaRPr lang="en-US" sz="2800" dirty="0"/>
          </a:p>
        </p:txBody>
      </p:sp>
      <p:sp>
        <p:nvSpPr>
          <p:cNvPr id="3" name="trigger 1"/>
          <p:cNvSpPr/>
          <p:nvPr/>
        </p:nvSpPr>
        <p:spPr>
          <a:xfrm>
            <a:off x="457200" y="1188720"/>
            <a:ext cx="3291840" cy="731520"/>
          </a:xfrm>
          <a:prstGeom prst="roundRect">
            <a:avLst>
              <a:gd name="adj" fmla="val 10000"/>
            </a:avLst>
          </a:prstGeom>
          <a:solidFill>
            <a:schemeClr val="bg2"/>
          </a:solidFill>
          <a:ln w="12700">
            <a:solidFill>
              <a:schemeClr val="bg2"/>
            </a:solidFill>
            <a:prstDash val="solid"/>
          </a:ln>
        </p:spPr>
      </p:sp>
      <p:sp>
        <p:nvSpPr>
          <p:cNvPr id="4" name="trigger 1 text"/>
          <p:cNvSpPr txBox="1"/>
          <p:nvPr/>
        </p:nvSpPr>
        <p:spPr>
          <a:xfrm>
            <a:off x="594360" y="1188720"/>
            <a:ext cx="3063240" cy="731520"/>
          </a:xfrm>
          <a:prstGeom prst="rect">
            <a:avLst/>
          </a:prstGeom>
          <a:noFill/>
          <a:ln/>
        </p:spPr>
        <p:txBody>
          <a:bodyPr wrap="square" lIns="0" tIns="0" rIns="0" bIns="0" rtlCol="0" anchor="ctr"/>
          <a:lstStyle/>
          <a:p>
            <a:pPr indent="0" marL="0">
              <a:buNone/>
            </a:pPr>
            <a:r>
              <a:rPr lang="en-US" sz="1500" b="1" dirty="0">
                <a:solidFill>
                  <a:schemeClr val="accent3"/>
                </a:solidFill>
              </a:rPr>
              <a:t>No progress</a:t>
            </a:r>
            <a:endParaRPr lang="en-US" sz="1500" dirty="0"/>
          </a:p>
          <a:p>
            <a:pPr indent="0" marL="0">
              <a:buNone/>
            </a:pPr>
            <a:r>
              <a:rPr lang="en-US" sz="1200" dirty="0">
                <a:solidFill>
                  <a:schemeClr val="tx1"/>
                </a:solidFill>
              </a:rPr>
              <a:t>No new phase in the last 6 queries</a:t>
            </a:r>
            <a:endParaRPr lang="en-US" sz="1500" dirty="0"/>
          </a:p>
        </p:txBody>
      </p:sp>
      <p:sp>
        <p:nvSpPr>
          <p:cNvPr id="5" name="trigger 2"/>
          <p:cNvSpPr/>
          <p:nvPr/>
        </p:nvSpPr>
        <p:spPr>
          <a:xfrm>
            <a:off x="457200" y="2057400"/>
            <a:ext cx="3291840" cy="731520"/>
          </a:xfrm>
          <a:prstGeom prst="roundRect">
            <a:avLst>
              <a:gd name="adj" fmla="val 10000"/>
            </a:avLst>
          </a:prstGeom>
          <a:solidFill>
            <a:schemeClr val="bg2"/>
          </a:solidFill>
          <a:ln w="12700">
            <a:solidFill>
              <a:schemeClr val="bg2"/>
            </a:solidFill>
            <a:prstDash val="solid"/>
          </a:ln>
        </p:spPr>
      </p:sp>
      <p:sp>
        <p:nvSpPr>
          <p:cNvPr id="6" name="trigger 2 text"/>
          <p:cNvSpPr txBox="1"/>
          <p:nvPr/>
        </p:nvSpPr>
        <p:spPr>
          <a:xfrm>
            <a:off x="594360" y="2057400"/>
            <a:ext cx="3063240" cy="731520"/>
          </a:xfrm>
          <a:prstGeom prst="rect">
            <a:avLst/>
          </a:prstGeom>
          <a:noFill/>
          <a:ln/>
        </p:spPr>
        <p:txBody>
          <a:bodyPr wrap="square" lIns="0" tIns="0" rIns="0" bIns="0" rtlCol="0" anchor="ctr"/>
          <a:lstStyle/>
          <a:p>
            <a:pPr indent="0" marL="0">
              <a:buNone/>
            </a:pPr>
            <a:r>
              <a:rPr lang="en-US" sz="1500" b="1" dirty="0">
                <a:solidFill>
                  <a:schemeClr val="accent3"/>
                </a:solidFill>
              </a:rPr>
              <a:t>Repetition</a:t>
            </a:r>
            <a:endParaRPr lang="en-US" sz="1500" dirty="0"/>
          </a:p>
          <a:p>
            <a:pPr indent="0" marL="0">
              <a:buNone/>
            </a:pPr>
            <a:r>
              <a:rPr lang="en-US" sz="1200" dirty="0">
                <a:solidFill>
                  <a:schemeClr val="tx1"/>
                </a:solidFill>
              </a:rPr>
              <a:t>Plan repeats a formula already tried twice</a:t>
            </a:r>
            <a:endParaRPr lang="en-US" sz="1500" dirty="0"/>
          </a:p>
        </p:txBody>
      </p:sp>
      <p:sp>
        <p:nvSpPr>
          <p:cNvPr id="7" name="replan card"/>
          <p:cNvSpPr/>
          <p:nvPr/>
        </p:nvSpPr>
        <p:spPr>
          <a:xfrm>
            <a:off x="457200" y="2971800"/>
            <a:ext cx="3291840" cy="1508760"/>
          </a:xfrm>
          <a:prstGeom prst="roundRect">
            <a:avLst>
              <a:gd name="adj" fmla="val 4848"/>
            </a:avLst>
          </a:prstGeom>
          <a:solidFill>
            <a:schemeClr val="accent1"/>
          </a:solidFill>
          <a:ln w="12700">
            <a:solidFill>
              <a:schemeClr val="accent1"/>
            </a:solidFill>
            <a:prstDash val="solid"/>
          </a:ln>
        </p:spPr>
      </p:sp>
      <p:sp>
        <p:nvSpPr>
          <p:cNvPr id="8" name="replan text"/>
          <p:cNvSpPr txBox="1"/>
          <p:nvPr/>
        </p:nvSpPr>
        <p:spPr>
          <a:xfrm>
            <a:off x="594360" y="3017520"/>
            <a:ext cx="3063240" cy="1417320"/>
          </a:xfrm>
          <a:prstGeom prst="rect">
            <a:avLst/>
          </a:prstGeom>
          <a:noFill/>
          <a:ln/>
        </p:spPr>
        <p:txBody>
          <a:bodyPr wrap="square" lIns="0" tIns="0" rIns="0" bIns="0" rtlCol="0" anchor="ctr"/>
          <a:lstStyle/>
          <a:p>
            <a:pPr indent="0" marL="0">
              <a:spcAft>
                <a:spcPts val="200"/>
              </a:spcAft>
              <a:buNone/>
            </a:pPr>
            <a:r>
              <a:rPr lang="en-US" sz="1500" b="1" dirty="0">
                <a:solidFill>
                  <a:schemeClr val="bg1"/>
                </a:solidFill>
              </a:rPr>
              <a:t>Re-plan</a:t>
            </a:r>
            <a:endParaRPr lang="en-US" sz="1500" dirty="0"/>
          </a:p>
          <a:p>
            <a:pPr marL="342900" indent="-342900">
              <a:spcAft>
                <a:spcPts val="200"/>
              </a:spcAft>
              <a:buSzPct val="100000"/>
              <a:buChar char="•"/>
            </a:pPr>
            <a:r>
              <a:rPr lang="en-US" sz="1200" dirty="0">
                <a:solidFill>
                  <a:schemeClr val="bg1"/>
                </a:solidFill>
              </a:rPr>
              <a:t>Least-visited compositions farthest from recent queries</a:t>
            </a:r>
            <a:endParaRPr lang="en-US" sz="1500" dirty="0"/>
          </a:p>
          <a:p>
            <a:pPr marL="342900" indent="-342900">
              <a:spcAft>
                <a:spcPts val="200"/>
              </a:spcAft>
              <a:buSzPct val="100000"/>
              <a:buChar char="•"/>
            </a:pPr>
            <a:r>
              <a:rPr lang="en-US" sz="1200" dirty="0">
                <a:solidFill>
                  <a:schemeClr val="bg1"/>
                </a:solidFill>
              </a:rPr>
              <a:t>Repeated stalls double candidates per composition</a:t>
            </a:r>
            <a:endParaRPr lang="en-US" sz="1500" dirty="0"/>
          </a:p>
          <a:p>
            <a:pPr marL="342900" indent="-342900">
              <a:spcAft>
                <a:spcPts val="200"/>
              </a:spcAft>
              <a:buSzPct val="100000"/>
              <a:buChar char="•"/>
            </a:pPr>
            <a:r>
              <a:rPr lang="en-US" sz="1200" dirty="0">
                <a:solidFill>
                  <a:schemeClr val="bg1"/>
                </a:solidFill>
              </a:rPr>
              <a:t>3-query cooldown; a discovery resets it</a:t>
            </a:r>
            <a:endParaRPr lang="en-US" sz="1500" dirty="0"/>
          </a:p>
        </p:txBody>
      </p:sp>
      <p:sp>
        <p:nvSpPr>
          <p:cNvPr id="9" name="timeline title"/>
          <p:cNvSpPr txBox="1"/>
          <p:nvPr/>
        </p:nvSpPr>
        <p:spPr>
          <a:xfrm>
            <a:off x="4206240" y="1188720"/>
            <a:ext cx="4480560" cy="320040"/>
          </a:xfrm>
          <a:prstGeom prst="rect">
            <a:avLst/>
          </a:prstGeom>
          <a:noFill/>
          <a:ln/>
        </p:spPr>
        <p:txBody>
          <a:bodyPr wrap="square" lIns="0" tIns="0" rIns="0" bIns="0" rtlCol="0" anchor="ctr"/>
          <a:lstStyle/>
          <a:p>
            <a:pPr indent="0" marL="0">
              <a:buNone/>
            </a:pPr>
            <a:r>
              <a:rPr lang="en-US" sz="1400" b="1" dirty="0">
                <a:solidFill>
                  <a:schemeClr val="tx2"/>
                </a:solidFill>
              </a:rPr>
              <a:t>Synthetic demo, Li-Fe-O, 16 queries</a:t>
            </a:r>
            <a:endParaRPr lang="en-US" sz="1400" dirty="0"/>
          </a:p>
        </p:txBody>
      </p:sp>
      <p:sp>
        <p:nvSpPr>
          <p:cNvPr id="10" name="query 1"/>
          <p:cNvSpPr/>
          <p:nvPr/>
        </p:nvSpPr>
        <p:spPr>
          <a:xfrm>
            <a:off x="4343400" y="1783080"/>
            <a:ext cx="219456" cy="219456"/>
          </a:xfrm>
          <a:prstGeom prst="ellipse">
            <a:avLst/>
          </a:prstGeom>
          <a:solidFill>
            <a:schemeClr val="bg2"/>
          </a:solidFill>
          <a:ln w="12700">
            <a:solidFill>
              <a:schemeClr val="accent5"/>
            </a:solidFill>
            <a:prstDash val="solid"/>
          </a:ln>
        </p:spPr>
      </p:sp>
      <p:sp>
        <p:nvSpPr>
          <p:cNvPr id="11" name="query 1 label"/>
          <p:cNvSpPr txBox="1"/>
          <p:nvPr/>
        </p:nvSpPr>
        <p:spPr>
          <a:xfrm>
            <a:off x="4270248" y="2039112"/>
            <a:ext cx="365760" cy="228600"/>
          </a:xfrm>
          <a:prstGeom prst="rect">
            <a:avLst/>
          </a:prstGeom>
          <a:noFill/>
          <a:ln/>
        </p:spPr>
        <p:txBody>
          <a:bodyPr wrap="square" lIns="0" tIns="0" rIns="0" bIns="0" rtlCol="0" anchor="ctr"/>
          <a:lstStyle/>
          <a:p>
            <a:pPr algn="ctr" indent="0" marL="0">
              <a:buNone/>
            </a:pPr>
            <a:r>
              <a:rPr lang="en-US" sz="1000" dirty="0">
                <a:solidFill>
                  <a:schemeClr val="accent5"/>
                </a:solidFill>
              </a:rPr>
              <a:t>1</a:t>
            </a:r>
            <a:endParaRPr lang="en-US" sz="1000" dirty="0"/>
          </a:p>
        </p:txBody>
      </p:sp>
      <p:sp>
        <p:nvSpPr>
          <p:cNvPr id="12" name="query 2"/>
          <p:cNvSpPr/>
          <p:nvPr/>
        </p:nvSpPr>
        <p:spPr>
          <a:xfrm>
            <a:off x="4617720" y="1783080"/>
            <a:ext cx="219456" cy="219456"/>
          </a:xfrm>
          <a:prstGeom prst="ellipse">
            <a:avLst/>
          </a:prstGeom>
          <a:solidFill>
            <a:schemeClr val="bg2"/>
          </a:solidFill>
          <a:ln w="12700">
            <a:solidFill>
              <a:schemeClr val="accent5"/>
            </a:solidFill>
            <a:prstDash val="solid"/>
          </a:ln>
        </p:spPr>
      </p:sp>
      <p:sp>
        <p:nvSpPr>
          <p:cNvPr id="13" name="query 3"/>
          <p:cNvSpPr/>
          <p:nvPr/>
        </p:nvSpPr>
        <p:spPr>
          <a:xfrm>
            <a:off x="4892040" y="1783080"/>
            <a:ext cx="219456" cy="219456"/>
          </a:xfrm>
          <a:prstGeom prst="ellipse">
            <a:avLst/>
          </a:prstGeom>
          <a:solidFill>
            <a:schemeClr val="accent2"/>
          </a:solidFill>
          <a:ln w="12700">
            <a:solidFill>
              <a:schemeClr val="accent2"/>
            </a:solidFill>
            <a:prstDash val="solid"/>
          </a:ln>
        </p:spPr>
      </p:sp>
      <p:sp>
        <p:nvSpPr>
          <p:cNvPr id="14" name="query 4"/>
          <p:cNvSpPr/>
          <p:nvPr/>
        </p:nvSpPr>
        <p:spPr>
          <a:xfrm>
            <a:off x="5166360" y="1783080"/>
            <a:ext cx="219456" cy="219456"/>
          </a:xfrm>
          <a:prstGeom prst="ellipse">
            <a:avLst/>
          </a:prstGeom>
          <a:solidFill>
            <a:schemeClr val="bg2"/>
          </a:solidFill>
          <a:ln w="12700">
            <a:solidFill>
              <a:schemeClr val="accent5"/>
            </a:solidFill>
            <a:prstDash val="solid"/>
          </a:ln>
        </p:spPr>
      </p:sp>
      <p:sp>
        <p:nvSpPr>
          <p:cNvPr id="15" name="query 4 label"/>
          <p:cNvSpPr txBox="1"/>
          <p:nvPr/>
        </p:nvSpPr>
        <p:spPr>
          <a:xfrm>
            <a:off x="5093208" y="2039112"/>
            <a:ext cx="365760" cy="228600"/>
          </a:xfrm>
          <a:prstGeom prst="rect">
            <a:avLst/>
          </a:prstGeom>
          <a:noFill/>
          <a:ln/>
        </p:spPr>
        <p:txBody>
          <a:bodyPr wrap="square" lIns="0" tIns="0" rIns="0" bIns="0" rtlCol="0" anchor="ctr"/>
          <a:lstStyle/>
          <a:p>
            <a:pPr algn="ctr" indent="0" marL="0">
              <a:buNone/>
            </a:pPr>
            <a:r>
              <a:rPr lang="en-US" sz="1000" dirty="0">
                <a:solidFill>
                  <a:schemeClr val="accent5"/>
                </a:solidFill>
              </a:rPr>
              <a:t>4</a:t>
            </a:r>
            <a:endParaRPr lang="en-US" sz="1000" dirty="0"/>
          </a:p>
        </p:txBody>
      </p:sp>
      <p:sp>
        <p:nvSpPr>
          <p:cNvPr id="16" name="query 5"/>
          <p:cNvSpPr/>
          <p:nvPr/>
        </p:nvSpPr>
        <p:spPr>
          <a:xfrm>
            <a:off x="5440680" y="1783080"/>
            <a:ext cx="219456" cy="219456"/>
          </a:xfrm>
          <a:prstGeom prst="ellipse">
            <a:avLst/>
          </a:prstGeom>
          <a:solidFill>
            <a:schemeClr val="bg2"/>
          </a:solidFill>
          <a:ln w="12700">
            <a:solidFill>
              <a:schemeClr val="accent5"/>
            </a:solidFill>
            <a:prstDash val="solid"/>
          </a:ln>
        </p:spPr>
      </p:sp>
      <p:sp>
        <p:nvSpPr>
          <p:cNvPr id="17" name="query 6"/>
          <p:cNvSpPr/>
          <p:nvPr/>
        </p:nvSpPr>
        <p:spPr>
          <a:xfrm>
            <a:off x="5715000" y="1783080"/>
            <a:ext cx="219456" cy="219456"/>
          </a:xfrm>
          <a:prstGeom prst="ellipse">
            <a:avLst/>
          </a:prstGeom>
          <a:solidFill>
            <a:schemeClr val="bg2"/>
          </a:solidFill>
          <a:ln w="12700">
            <a:solidFill>
              <a:schemeClr val="accent5"/>
            </a:solidFill>
            <a:prstDash val="solid"/>
          </a:ln>
        </p:spPr>
      </p:sp>
      <p:sp>
        <p:nvSpPr>
          <p:cNvPr id="18" name="query 7"/>
          <p:cNvSpPr/>
          <p:nvPr/>
        </p:nvSpPr>
        <p:spPr>
          <a:xfrm>
            <a:off x="5989320" y="1783080"/>
            <a:ext cx="219456" cy="219456"/>
          </a:xfrm>
          <a:prstGeom prst="ellipse">
            <a:avLst/>
          </a:prstGeom>
          <a:solidFill>
            <a:schemeClr val="bg2"/>
          </a:solidFill>
          <a:ln w="12700">
            <a:solidFill>
              <a:schemeClr val="accent5"/>
            </a:solidFill>
            <a:prstDash val="solid"/>
          </a:ln>
        </p:spPr>
      </p:sp>
      <p:sp>
        <p:nvSpPr>
          <p:cNvPr id="19" name="query 8"/>
          <p:cNvSpPr/>
          <p:nvPr/>
        </p:nvSpPr>
        <p:spPr>
          <a:xfrm>
            <a:off x="6263640" y="1783080"/>
            <a:ext cx="219456" cy="219456"/>
          </a:xfrm>
          <a:prstGeom prst="ellipse">
            <a:avLst/>
          </a:prstGeom>
          <a:solidFill>
            <a:schemeClr val="accent3"/>
          </a:solidFill>
          <a:ln w="12700">
            <a:solidFill>
              <a:schemeClr val="accent3"/>
            </a:solidFill>
            <a:prstDash val="solid"/>
          </a:ln>
        </p:spPr>
      </p:sp>
      <p:sp>
        <p:nvSpPr>
          <p:cNvPr id="20" name="query 8 label"/>
          <p:cNvSpPr txBox="1"/>
          <p:nvPr/>
        </p:nvSpPr>
        <p:spPr>
          <a:xfrm>
            <a:off x="6190488" y="2039112"/>
            <a:ext cx="365760" cy="228600"/>
          </a:xfrm>
          <a:prstGeom prst="rect">
            <a:avLst/>
          </a:prstGeom>
          <a:noFill/>
          <a:ln/>
        </p:spPr>
        <p:txBody>
          <a:bodyPr wrap="square" lIns="0" tIns="0" rIns="0" bIns="0" rtlCol="0" anchor="ctr"/>
          <a:lstStyle/>
          <a:p>
            <a:pPr algn="ctr" indent="0" marL="0">
              <a:buNone/>
            </a:pPr>
            <a:r>
              <a:rPr lang="en-US" sz="1000" dirty="0">
                <a:solidFill>
                  <a:schemeClr val="accent5"/>
                </a:solidFill>
              </a:rPr>
              <a:t>8</a:t>
            </a:r>
            <a:endParaRPr lang="en-US" sz="1000" dirty="0"/>
          </a:p>
        </p:txBody>
      </p:sp>
      <p:sp>
        <p:nvSpPr>
          <p:cNvPr id="21" name="query 9"/>
          <p:cNvSpPr/>
          <p:nvPr/>
        </p:nvSpPr>
        <p:spPr>
          <a:xfrm>
            <a:off x="6537960" y="1783080"/>
            <a:ext cx="219456" cy="219456"/>
          </a:xfrm>
          <a:prstGeom prst="ellipse">
            <a:avLst/>
          </a:prstGeom>
          <a:solidFill>
            <a:schemeClr val="bg2"/>
          </a:solidFill>
          <a:ln w="12700">
            <a:solidFill>
              <a:schemeClr val="accent5"/>
            </a:solidFill>
            <a:prstDash val="solid"/>
          </a:ln>
        </p:spPr>
      </p:sp>
      <p:sp>
        <p:nvSpPr>
          <p:cNvPr id="22" name="query 10"/>
          <p:cNvSpPr/>
          <p:nvPr/>
        </p:nvSpPr>
        <p:spPr>
          <a:xfrm>
            <a:off x="6812280" y="1783080"/>
            <a:ext cx="219456" cy="219456"/>
          </a:xfrm>
          <a:prstGeom prst="ellipse">
            <a:avLst/>
          </a:prstGeom>
          <a:solidFill>
            <a:schemeClr val="accent3"/>
          </a:solidFill>
          <a:ln w="12700">
            <a:solidFill>
              <a:schemeClr val="accent3"/>
            </a:solidFill>
            <a:prstDash val="solid"/>
          </a:ln>
        </p:spPr>
      </p:sp>
      <p:sp>
        <p:nvSpPr>
          <p:cNvPr id="23" name="query 11"/>
          <p:cNvSpPr/>
          <p:nvPr/>
        </p:nvSpPr>
        <p:spPr>
          <a:xfrm>
            <a:off x="7086600" y="1783080"/>
            <a:ext cx="219456" cy="219456"/>
          </a:xfrm>
          <a:prstGeom prst="ellipse">
            <a:avLst/>
          </a:prstGeom>
          <a:solidFill>
            <a:schemeClr val="bg2"/>
          </a:solidFill>
          <a:ln w="12700">
            <a:solidFill>
              <a:schemeClr val="accent5"/>
            </a:solidFill>
            <a:prstDash val="solid"/>
          </a:ln>
        </p:spPr>
      </p:sp>
      <p:sp>
        <p:nvSpPr>
          <p:cNvPr id="24" name="query 12"/>
          <p:cNvSpPr/>
          <p:nvPr/>
        </p:nvSpPr>
        <p:spPr>
          <a:xfrm>
            <a:off x="7360920" y="1783080"/>
            <a:ext cx="219456" cy="219456"/>
          </a:xfrm>
          <a:prstGeom prst="ellipse">
            <a:avLst/>
          </a:prstGeom>
          <a:solidFill>
            <a:schemeClr val="accent3"/>
          </a:solidFill>
          <a:ln w="12700">
            <a:solidFill>
              <a:schemeClr val="accent3"/>
            </a:solidFill>
            <a:prstDash val="solid"/>
          </a:ln>
        </p:spPr>
      </p:sp>
      <p:sp>
        <p:nvSpPr>
          <p:cNvPr id="25" name="query 12 label"/>
          <p:cNvSpPr txBox="1"/>
          <p:nvPr/>
        </p:nvSpPr>
        <p:spPr>
          <a:xfrm>
            <a:off x="7287768" y="2039112"/>
            <a:ext cx="365760" cy="228600"/>
          </a:xfrm>
          <a:prstGeom prst="rect">
            <a:avLst/>
          </a:prstGeom>
          <a:noFill/>
          <a:ln/>
        </p:spPr>
        <p:txBody>
          <a:bodyPr wrap="square" lIns="0" tIns="0" rIns="0" bIns="0" rtlCol="0" anchor="ctr"/>
          <a:lstStyle/>
          <a:p>
            <a:pPr algn="ctr" indent="0" marL="0">
              <a:buNone/>
            </a:pPr>
            <a:r>
              <a:rPr lang="en-US" sz="1000" dirty="0">
                <a:solidFill>
                  <a:schemeClr val="accent5"/>
                </a:solidFill>
              </a:rPr>
              <a:t>12</a:t>
            </a:r>
            <a:endParaRPr lang="en-US" sz="1000" dirty="0"/>
          </a:p>
        </p:txBody>
      </p:sp>
      <p:sp>
        <p:nvSpPr>
          <p:cNvPr id="26" name="query 13"/>
          <p:cNvSpPr/>
          <p:nvPr/>
        </p:nvSpPr>
        <p:spPr>
          <a:xfrm>
            <a:off x="7635240" y="1783080"/>
            <a:ext cx="219456" cy="219456"/>
          </a:xfrm>
          <a:prstGeom prst="ellipse">
            <a:avLst/>
          </a:prstGeom>
          <a:solidFill>
            <a:schemeClr val="accent2"/>
          </a:solidFill>
          <a:ln w="12700">
            <a:solidFill>
              <a:schemeClr val="accent2"/>
            </a:solidFill>
            <a:prstDash val="solid"/>
          </a:ln>
        </p:spPr>
      </p:sp>
      <p:sp>
        <p:nvSpPr>
          <p:cNvPr id="27" name="query 14"/>
          <p:cNvSpPr/>
          <p:nvPr/>
        </p:nvSpPr>
        <p:spPr>
          <a:xfrm>
            <a:off x="7909560" y="1783080"/>
            <a:ext cx="219456" cy="219456"/>
          </a:xfrm>
          <a:prstGeom prst="ellipse">
            <a:avLst/>
          </a:prstGeom>
          <a:solidFill>
            <a:schemeClr val="bg2"/>
          </a:solidFill>
          <a:ln w="12700">
            <a:solidFill>
              <a:schemeClr val="accent5"/>
            </a:solidFill>
            <a:prstDash val="solid"/>
          </a:ln>
        </p:spPr>
      </p:sp>
      <p:sp>
        <p:nvSpPr>
          <p:cNvPr id="28" name="query 15"/>
          <p:cNvSpPr/>
          <p:nvPr/>
        </p:nvSpPr>
        <p:spPr>
          <a:xfrm>
            <a:off x="8183880" y="1783080"/>
            <a:ext cx="219456" cy="219456"/>
          </a:xfrm>
          <a:prstGeom prst="ellipse">
            <a:avLst/>
          </a:prstGeom>
          <a:solidFill>
            <a:schemeClr val="bg2"/>
          </a:solidFill>
          <a:ln w="12700">
            <a:solidFill>
              <a:schemeClr val="accent5"/>
            </a:solidFill>
            <a:prstDash val="solid"/>
          </a:ln>
        </p:spPr>
      </p:sp>
      <p:sp>
        <p:nvSpPr>
          <p:cNvPr id="29" name="query 16"/>
          <p:cNvSpPr/>
          <p:nvPr/>
        </p:nvSpPr>
        <p:spPr>
          <a:xfrm>
            <a:off x="8458200" y="1783080"/>
            <a:ext cx="219456" cy="219456"/>
          </a:xfrm>
          <a:prstGeom prst="ellipse">
            <a:avLst/>
          </a:prstGeom>
          <a:solidFill>
            <a:schemeClr val="bg2"/>
          </a:solidFill>
          <a:ln w="12700">
            <a:solidFill>
              <a:schemeClr val="accent5"/>
            </a:solidFill>
            <a:prstDash val="solid"/>
          </a:ln>
        </p:spPr>
      </p:sp>
      <p:sp>
        <p:nvSpPr>
          <p:cNvPr id="30" name="query 16 label"/>
          <p:cNvSpPr txBox="1"/>
          <p:nvPr/>
        </p:nvSpPr>
        <p:spPr>
          <a:xfrm>
            <a:off x="8385048" y="2039112"/>
            <a:ext cx="365760" cy="228600"/>
          </a:xfrm>
          <a:prstGeom prst="rect">
            <a:avLst/>
          </a:prstGeom>
          <a:noFill/>
          <a:ln/>
        </p:spPr>
        <p:txBody>
          <a:bodyPr wrap="square" lIns="0" tIns="0" rIns="0" bIns="0" rtlCol="0" anchor="ctr"/>
          <a:lstStyle/>
          <a:p>
            <a:pPr algn="ctr" indent="0" marL="0">
              <a:buNone/>
            </a:pPr>
            <a:r>
              <a:rPr lang="en-US" sz="1000" dirty="0">
                <a:solidFill>
                  <a:schemeClr val="accent5"/>
                </a:solidFill>
              </a:rPr>
              <a:t>16</a:t>
            </a:r>
            <a:endParaRPr lang="en-US" sz="1000" dirty="0"/>
          </a:p>
        </p:txBody>
      </p:sp>
      <p:sp>
        <p:nvSpPr>
          <p:cNvPr id="31" name="legend 1 dot"/>
          <p:cNvSpPr/>
          <p:nvPr/>
        </p:nvSpPr>
        <p:spPr>
          <a:xfrm>
            <a:off x="4343400" y="2560320"/>
            <a:ext cx="182880" cy="182880"/>
          </a:xfrm>
          <a:prstGeom prst="ellipse">
            <a:avLst/>
          </a:prstGeom>
          <a:solidFill>
            <a:schemeClr val="accent2"/>
          </a:solidFill>
          <a:ln w="12700">
            <a:solidFill>
              <a:schemeClr val="accent2"/>
            </a:solidFill>
            <a:prstDash val="solid"/>
          </a:ln>
        </p:spPr>
      </p:sp>
      <p:sp>
        <p:nvSpPr>
          <p:cNvPr id="32" name="legend 1"/>
          <p:cNvSpPr txBox="1"/>
          <p:nvPr/>
        </p:nvSpPr>
        <p:spPr>
          <a:xfrm>
            <a:off x="4617720" y="2514600"/>
            <a:ext cx="4023360" cy="274320"/>
          </a:xfrm>
          <a:prstGeom prst="rect">
            <a:avLst/>
          </a:prstGeom>
          <a:noFill/>
          <a:ln/>
        </p:spPr>
        <p:txBody>
          <a:bodyPr wrap="square" lIns="0" tIns="0" rIns="0" bIns="0" rtlCol="0" anchor="ctr"/>
          <a:lstStyle/>
          <a:p>
            <a:pPr indent="0" marL="0">
              <a:buNone/>
            </a:pPr>
            <a:r>
              <a:rPr lang="en-US" sz="1200" dirty="0">
                <a:solidFill>
                  <a:schemeClr val="tx1"/>
                </a:solidFill>
              </a:rPr>
              <a:t>New phase found (queries 3, 13)</a:t>
            </a:r>
            <a:endParaRPr lang="en-US" sz="1200" dirty="0"/>
          </a:p>
        </p:txBody>
      </p:sp>
      <p:sp>
        <p:nvSpPr>
          <p:cNvPr id="33" name="legend 2 dot"/>
          <p:cNvSpPr/>
          <p:nvPr/>
        </p:nvSpPr>
        <p:spPr>
          <a:xfrm>
            <a:off x="4343400" y="2926080"/>
            <a:ext cx="182880" cy="182880"/>
          </a:xfrm>
          <a:prstGeom prst="ellipse">
            <a:avLst/>
          </a:prstGeom>
          <a:solidFill>
            <a:schemeClr val="accent3"/>
          </a:solidFill>
          <a:ln w="12700">
            <a:solidFill>
              <a:schemeClr val="accent3"/>
            </a:solidFill>
            <a:prstDash val="solid"/>
          </a:ln>
        </p:spPr>
      </p:sp>
      <p:sp>
        <p:nvSpPr>
          <p:cNvPr id="34" name="legend 2"/>
          <p:cNvSpPr txBox="1"/>
          <p:nvPr/>
        </p:nvSpPr>
        <p:spPr>
          <a:xfrm>
            <a:off x="4617720" y="2880360"/>
            <a:ext cx="4023360" cy="274320"/>
          </a:xfrm>
          <a:prstGeom prst="rect">
            <a:avLst/>
          </a:prstGeom>
          <a:noFill/>
          <a:ln/>
        </p:spPr>
        <p:txBody>
          <a:bodyPr wrap="square" lIns="0" tIns="0" rIns="0" bIns="0" rtlCol="0" anchor="ctr"/>
          <a:lstStyle/>
          <a:p>
            <a:pPr indent="0" marL="0">
              <a:buNone/>
            </a:pPr>
            <a:r>
              <a:rPr lang="en-US" sz="1200" dirty="0">
                <a:solidFill>
                  <a:schemeClr val="tx1"/>
                </a:solidFill>
              </a:rPr>
              <a:t>Self-correction re-planned (queries 8, 10, 12)</a:t>
            </a:r>
            <a:endParaRPr lang="en-US" sz="1200" dirty="0"/>
          </a:p>
        </p:txBody>
      </p:sp>
      <p:sp>
        <p:nvSpPr>
          <p:cNvPr id="35" name="timeline caveat"/>
          <p:cNvSpPr txBox="1"/>
          <p:nvPr/>
        </p:nvSpPr>
        <p:spPr>
          <a:xfrm>
            <a:off x="4343400" y="3337560"/>
            <a:ext cx="4297680" cy="274320"/>
          </a:xfrm>
          <a:prstGeom prst="rect">
            <a:avLst/>
          </a:prstGeom>
          <a:noFill/>
          <a:ln/>
        </p:spPr>
        <p:txBody>
          <a:bodyPr wrap="square" lIns="0" tIns="0" rIns="0" bIns="0" rtlCol="0" anchor="ctr"/>
          <a:lstStyle/>
          <a:p>
            <a:pPr indent="0" marL="0">
              <a:buNone/>
            </a:pPr>
            <a:r>
              <a:rPr lang="en-US" sz="1100" i="1" dirty="0">
                <a:solidFill>
                  <a:schemeClr val="accent5"/>
                </a:solidFill>
              </a:rPr>
              <a:t>Scripted feedback: shows the mechanism, not performance.</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M3 lifts weak systems, loses on strong ones</a:t>
            </a:r>
            <a:endParaRPr lang="en-US" sz="2800" dirty="0"/>
          </a:p>
        </p:txBody>
      </p:sp>
      <p:graphicFrame>
        <p:nvGraphicFramePr>
          <p:cNvPr id="4" name="ablation table"/>
          <p:cNvGraphicFramePr>
            <a:graphicFrameLocks noGrp="1"/>
          </p:cNvGraphicFramePr>
          <p:nvPr>
            <p:extLst>
              <p:ext uri="{D42A27DB-BD31-4B8C-83A1-F6EECF244321}">
                <p14:modId xmlns:p14="http://schemas.microsoft.com/office/powerpoint/2010/main" val="1579011935"/>
              </p:ext>
            </p:extLst>
          </p:nvPr>
        </p:nvGraphicFramePr>
        <p:xfrm>
          <a:off x="457200" y="1188720"/>
          <a:ext cx="5120640" cy="914400"/>
        </p:xfrm>
        <a:graphic>
          <a:graphicData uri="http://schemas.openxmlformats.org/drawingml/2006/table">
            <a:tbl>
              <a:tblPr/>
              <a:tblGrid>
                <a:gridCol w="1783080"/>
                <a:gridCol w="914400"/>
                <a:gridCol w="1143000"/>
                <a:gridCol w="1280160"/>
              </a:tblGrid>
              <a:tr h="384048">
                <a:tc>
                  <a:txBody>
                    <a:bodyPr/>
                    <a:lstStyle/>
                    <a:p>
                      <a:pPr indent="0" marL="0">
                        <a:buNone/>
                      </a:pPr>
                      <a:r>
                        <a:rPr lang="en-US" sz="1200" b="1" dirty="0">
                          <a:solidFill>
                            <a:schemeClr val="bg1"/>
                          </a:solidFill>
                        </a:rPr>
                        <a:t>Run</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Planning</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Self-correction</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mSUN@20</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tx2"/>
                    </a:solidFill>
                  </a:tcPr>
                </a:tc>
              </a:tr>
              <a:tr h="384048">
                <a:tc>
                  <a:txBody>
                    <a:bodyPr/>
                    <a:lstStyle/>
                    <a:p>
                      <a:pPr indent="0" marL="0">
                        <a:buNone/>
                      </a:pPr>
                      <a:r>
                        <a:rPr lang="en-US" sz="1200" dirty="0">
                          <a:solidFill>
                            <a:schemeClr val="tx1"/>
                          </a:solidFill>
                        </a:rPr>
                        <a:t>m1_baseline</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diversity</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off</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5.0 ± 4.4</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r>
              <a:tr h="384048">
                <a:tc>
                  <a:txBody>
                    <a:bodyPr/>
                    <a:lstStyle/>
                    <a:p>
                      <a:pPr indent="0" marL="0">
                        <a:buNone/>
                      </a:pPr>
                      <a:r>
                        <a:rPr lang="en-US" sz="1200" dirty="0">
                          <a:solidFill>
                            <a:schemeClr val="tx1"/>
                          </a:solidFill>
                        </a:rPr>
                        <a:t>m3_full</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M3</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on</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6.5 ± 2.6</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r>
              <a:tr h="384048">
                <a:tc>
                  <a:txBody>
                    <a:bodyPr/>
                    <a:lstStyle/>
                    <a:p>
                      <a:pPr indent="0" marL="0">
                        <a:buNone/>
                      </a:pPr>
                      <a:r>
                        <a:rPr lang="en-US" sz="1200" dirty="0">
                          <a:solidFill>
                            <a:schemeClr val="tx1"/>
                          </a:solidFill>
                        </a:rPr>
                        <a:t>m3_planning_off</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off</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on</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5.1 ± 3.0</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r>
              <a:tr h="384048">
                <a:tc>
                  <a:txBody>
                    <a:bodyPr/>
                    <a:lstStyle/>
                    <a:p>
                      <a:pPr indent="0" marL="0">
                        <a:buNone/>
                      </a:pPr>
                      <a:r>
                        <a:rPr lang="en-US" sz="1200" dirty="0">
                          <a:solidFill>
                            <a:schemeClr val="tx1"/>
                          </a:solidFill>
                        </a:rPr>
                        <a:t>m3_self_correction_off</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M3</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off</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5.8 ± 3.1</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r>
            </a:tbl>
          </a:graphicData>
        </a:graphic>
      </p:graphicFrame>
      <p:sp>
        <p:nvSpPr>
          <p:cNvPr id="4" name="protocol note"/>
          <p:cNvSpPr txBox="1"/>
          <p:nvPr/>
        </p:nvSpPr>
        <p:spPr>
          <a:xfrm>
            <a:off x="457200" y="3291840"/>
            <a:ext cx="5120640" cy="685800"/>
          </a:xfrm>
          <a:prstGeom prst="rect">
            <a:avLst/>
          </a:prstGeom>
          <a:noFill/>
          <a:ln/>
        </p:spPr>
        <p:txBody>
          <a:bodyPr wrap="square" lIns="0" tIns="0" rIns="0" bIns="0" rtlCol="0" anchor="ctr"/>
          <a:lstStyle/>
          <a:p>
            <a:pPr indent="0" marL="0">
              <a:buNone/>
            </a:pPr>
            <a:r>
              <a:rPr lang="en-US" sz="1200" dirty="0">
                <a:solidFill>
                  <a:schemeClr val="tx1"/>
                </a:solidFill>
              </a:rPr>
              <a:t>72 of 72 runs completed: 6 dev systems, seeds 17/29/43, 20 queries, ORB v3 oracle, M4 memory on in every arm. Paired by system and seed; the re-run reference matches M1's recorded runs in all 18 pairs.</a:t>
            </a:r>
            <a:endParaRPr lang="en-US" sz="1200" dirty="0"/>
          </a:p>
        </p:txBody>
      </p:sp>
      <p:sp>
        <p:nvSpPr>
          <p:cNvPr id="5" name="stat card"/>
          <p:cNvSpPr/>
          <p:nvPr/>
        </p:nvSpPr>
        <p:spPr>
          <a:xfrm>
            <a:off x="5943600" y="1188720"/>
            <a:ext cx="2743200" cy="2788920"/>
          </a:xfrm>
          <a:prstGeom prst="roundRect">
            <a:avLst>
              <a:gd name="adj" fmla="val 2667"/>
            </a:avLst>
          </a:prstGeom>
          <a:solidFill>
            <a:schemeClr val="bg2"/>
          </a:solidFill>
          <a:ln w="12700">
            <a:solidFill>
              <a:schemeClr val="bg2"/>
            </a:solidFill>
            <a:prstDash val="solid"/>
          </a:ln>
        </p:spPr>
      </p:sp>
      <p:sp>
        <p:nvSpPr>
          <p:cNvPr id="6" name="baseline stat"/>
          <p:cNvSpPr txBox="1"/>
          <p:nvPr/>
        </p:nvSpPr>
        <p:spPr>
          <a:xfrm>
            <a:off x="6035040" y="1325880"/>
            <a:ext cx="2560320" cy="822960"/>
          </a:xfrm>
          <a:prstGeom prst="rect">
            <a:avLst/>
          </a:prstGeom>
          <a:noFill/>
          <a:ln/>
        </p:spPr>
        <p:txBody>
          <a:bodyPr wrap="square" lIns="0" tIns="0" rIns="0" bIns="0" rtlCol="0" anchor="ctr"/>
          <a:lstStyle/>
          <a:p>
            <a:pPr algn="ctr" indent="0" marL="0">
              <a:buNone/>
            </a:pPr>
            <a:r>
              <a:rPr lang="en-US" sz="5400" b="1" dirty="0">
                <a:solidFill>
                  <a:schemeClr val="accent1"/>
                </a:solidFill>
              </a:rPr>
              <a:t>+1.5</a:t>
            </a:r>
            <a:endParaRPr lang="en-US" sz="5400" dirty="0"/>
          </a:p>
        </p:txBody>
      </p:sp>
      <p:sp>
        <p:nvSpPr>
          <p:cNvPr id="7" name="baseline stat label"/>
          <p:cNvSpPr txBox="1"/>
          <p:nvPr/>
        </p:nvSpPr>
        <p:spPr>
          <a:xfrm>
            <a:off x="6126480" y="2194560"/>
            <a:ext cx="2377440" cy="548640"/>
          </a:xfrm>
          <a:prstGeom prst="rect">
            <a:avLst/>
          </a:prstGeom>
          <a:noFill/>
          <a:ln/>
        </p:spPr>
        <p:txBody>
          <a:bodyPr wrap="square" lIns="0" tIns="0" rIns="0" bIns="0" rtlCol="0" anchor="ctr"/>
          <a:lstStyle/>
          <a:p>
            <a:pPr algn="ctr" indent="0" marL="0">
              <a:buNone/>
            </a:pPr>
            <a:r>
              <a:rPr lang="en-US" sz="1200" dirty="0">
                <a:solidFill>
                  <a:schemeClr val="tx1"/>
                </a:solidFill>
              </a:rPr>
              <a:t>mSUN@20 per run vs reference</a:t>
            </a:r>
            <a:endParaRPr lang="en-US" sz="1200" dirty="0"/>
          </a:p>
          <a:p>
            <a:pPr algn="ctr" indent="0" marL="0">
              <a:buNone/>
            </a:pPr>
            <a:r>
              <a:rPr lang="en-US" sz="1200" dirty="0">
                <a:solidFill>
                  <a:schemeClr val="tx1"/>
                </a:solidFill>
              </a:rPr>
              <a:t>9 better, 3 same, 6 worse</a:t>
            </a:r>
            <a:endParaRPr lang="en-US" sz="1200" dirty="0"/>
          </a:p>
        </p:txBody>
      </p:sp>
      <p:sp>
        <p:nvSpPr>
          <p:cNvPr id="8" name="pending label"/>
          <p:cNvSpPr txBox="1"/>
          <p:nvPr/>
        </p:nvSpPr>
        <p:spPr>
          <a:xfrm>
            <a:off x="6126480" y="3017520"/>
            <a:ext cx="2377440" cy="731520"/>
          </a:xfrm>
          <a:prstGeom prst="rect">
            <a:avLst/>
          </a:prstGeom>
          <a:noFill/>
          <a:ln/>
        </p:spPr>
        <p:txBody>
          <a:bodyPr wrap="square" lIns="0" tIns="0" rIns="0" bIns="0" rtlCol="0" anchor="ctr"/>
          <a:lstStyle/>
          <a:p>
            <a:pPr algn="ctr" indent="0" marL="0">
              <a:buNone/>
            </a:pPr>
            <a:r>
              <a:rPr lang="en-US" sz="1400" b="1" dirty="0">
                <a:solidFill>
                  <a:schemeClr val="accent3"/>
                </a:solidFill>
              </a:rPr>
              <a:t>Weak systems 1.1 → 6.7</a:t>
            </a:r>
            <a:endParaRPr lang="en-US" sz="1400" dirty="0"/>
          </a:p>
          <a:p>
            <a:pPr algn="ctr" indent="0" marL="0">
              <a:buNone/>
            </a:pPr>
            <a:r>
              <a:rPr lang="en-US" sz="1400" b="1" dirty="0">
                <a:solidFill>
                  <a:schemeClr val="accent3"/>
                </a:solidFill>
              </a:rPr>
              <a:t>Strong systems 8.9 → 6.3</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
        <p:nvSpPr>
          <p:cNvPr id="26" name="ablation effects"/>
          <p:cNvSpPr txBox="1"/>
          <p:nvPr/>
        </p:nvSpPr>
        <p:spPr>
          <a:xfrm>
            <a:off x="457200" y="4069080"/>
            <a:ext cx="5120640" cy="548640"/>
          </a:xfrm>
          <a:prstGeom prst="rect">
            <a:avLst/>
          </a:prstGeom>
          <a:noFill/>
          <a:ln/>
        </p:spPr>
        <p:txBody>
          <a:bodyPr wrap="square" lIns="0" tIns="0" rIns="0" bIns="0" rtlCol="0" anchor="ctr"/>
          <a:lstStyle/>
          <a:p>
            <a:pPr indent="0" marL="0">
              <a:buNone/>
            </a:pPr>
            <a:r>
              <a:rPr lang="en-US" sz="1200" dirty="0">
                <a:solidFill>
                  <a:schemeClr val="tx1"/>
                </a:solidFill>
              </a:rPr>
              <a:t>Planning: +1.4 vs planning off (better/same/worse 12/1/5). Self-correction: +0.7 vs off (7/10/1); 16 re-plans, all for no progress.</a:t>
            </a:r>
            <a:endParaRPr lang="en-US" sz="1200" dirty="0"/>
          </a:p>
        </p:txBody>
      </p:sp>
    </p:spTree>
  </p:cSld>
  <p:clrMapOvr>
    <a:masterClrMapping/>
  </p:clrMapOvr>
</p:sld>
</file>

<file path=ppt/theme/theme1.xml><?xml version="1.0" encoding="utf-8"?>
<a:theme xmlns:a="http://schemas.openxmlformats.org/drawingml/2006/main" name="M3 Graphite Teal">
  <a:themeElements>
    <a:clrScheme name="M3 Graphite Teal">
      <a:dk1>
        <a:srgbClr val="1E272C"/>
      </a:dk1>
      <a:lt1>
        <a:srgbClr val="FFFFFF"/>
      </a:lt1>
      <a:dk2>
        <a:srgbClr val="0E4D5A"/>
      </a:dk2>
      <a:lt2>
        <a:srgbClr val="EEF3F4"/>
      </a:lt2>
      <a:accent1>
        <a:srgbClr val="0F7C8C"/>
      </a:accent1>
      <a:accent2>
        <a:srgbClr val="E39B2D"/>
      </a:accent2>
      <a:accent3>
        <a:srgbClr val="B5523B"/>
      </a:accent3>
      <a:accent4>
        <a:srgbClr val="5B8E7D"/>
      </a:accent4>
      <a:accent5>
        <a:srgbClr val="8A9BA3"/>
      </a:accent5>
      <a:accent6>
        <a:srgbClr val="2F4858"/>
      </a:accent6>
      <a:hlink>
        <a:srgbClr val="0F7C8C"/>
      </a:hlink>
      <a:folHlink>
        <a:srgbClr val="6B5B95"/>
      </a:folHlink>
    </a:clrScheme>
    <a:fontScheme name="M3 Graphite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M3 planning and self-correction</dc:title>
  <dc:subject>PptxGenJS Presentation</dc:subject>
  <dc:creator>PE6203 Group 6, M3</dc:creator>
  <cp:lastModifiedBy>PE6203 Group 6, M3</cp:lastModifiedBy>
  <cp:revision>1</cp:revision>
  <dcterms:created xsi:type="dcterms:W3CDTF">2026-10-20T06:15:35Z</dcterms:created>
  <dcterms:modified xsi:type="dcterms:W3CDTF">2026-10-20T06:15:35Z</dcterms:modified>
</cp:coreProperties>
</file>