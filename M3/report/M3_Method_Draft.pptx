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ethod" id="{1c9e9ce5-0399-8b4a-03f9-6b00c394e0b5}">
          <p14:sldIdLst>
            <p14:sldId id="256"/>
            <p14:sldId id="257"/>
          </p14:sldIdLst>
        </p14:section>
        <p14:section name="Evaluation" id="{8bad32d9-36a5-cb4f-0f34-0759b88c83af}">
          <p14:sldIdLst>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agent only gets 20 tries to find new materials, so my first part decides where those tries go. Each search uses three elements, for example magnesium, tin and strontium. A new material can combine any two of them, or all three. So I split the search into four areas: the three pairs, and the three-element mix. The agent spends four tries at a time in one area. Within that area, it picks recipes it hasn't tried yet, choosing ones that are as different as possible from earlier tries, and skips recipes that fail a basic chemistry check. After every four tries, it compares the areas: how many stable materials each has produced, what our shared memory says, and how much is still untried. It then moves to the most promising area. It's a set of simple rules, not an AI model, so it costs nothing to run, and it never looks at the answers.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second part checks the plan before every try, looking for two signs that the search is stuck: six tries in a row with no new stable material, or a plan to repeat a recipe that's already been tried twice. When either happens, it changes course. It swaps in the recipes that have been tried least and are most different from the recent ones. If the search stays stuck, it also generates more candidate structures for each recipe. That doesn't use up any of the 20 tries. This small demo shows the idea with made-up results: finds only at tries 3 and 13. In the empty stretch between them, the agent changed course three times. Every change of course is recorded, so in the real runs we can see what happened after each 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M1's full frozen agent, with every part on, the agent finds 10 new stable materials per run. Switching off only my planner drops that to 5.3, lower in 15 of 18 paired runs: the largest effect of any part. Switching off only self-correction gives 9.5, with as many runs better as worse, so it shows no clear effect there. The table is my earlier component study, with exploration and tool routing off. There, both my parts together beat the reference by 1.5 per run, and the gain came from the hard systems: about 1 to 7 on the three hard ones, but about 9 to 6 on the three easy ones, because the planner rarely tries all three elements together. Next step: always save some tries for the three-element mix.</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3 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2800" b="1" dirty="0">
                <a:solidFill>
                  <a:schemeClr val="tx2"/>
                </a:solidFill>
              </a:defRPr>
            </a:lvl1pPr>
          </a:lstStyle>
          <a:p>
            <a:pPr indent="0" marL="0">
              <a:buNone/>
            </a:pPr>
            <a:endParaRPr lang="en-US" sz="2800" dirty="0"/>
          </a:p>
        </p:txBody>
      </p:sp>
      <p:sp>
        <p:nvSpPr>
          <p:cNvPr id="3" name="Text 0"/>
          <p:cNvSpPr/>
          <p:nvPr/>
        </p:nvSpPr>
        <p:spPr>
          <a:xfrm>
            <a:off x="457200" y="4754880"/>
            <a:ext cx="6858000" cy="274320"/>
          </a:xfrm>
          <a:prstGeom prst="rect">
            <a:avLst/>
          </a:prstGeom>
          <a:noFill/>
          <a:ln/>
        </p:spPr>
        <p:txBody>
          <a:bodyPr wrap="square" lIns="0" tIns="0" rIns="0" bIns="0" rtlCol="0" anchor="ctr"/>
          <a:lstStyle/>
          <a:p>
            <a:pPr indent="0" marL="0">
              <a:buNone/>
            </a:pPr>
            <a:r>
              <a:rPr lang="en-US" sz="1000" dirty="0">
                <a:solidFill>
                  <a:schemeClr val="accent5"/>
                </a:solidFill>
              </a:rPr>
              <a:t>PE6203 Group 6 · M3 planning and self-correction · draft for M6</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2"/>
                </a:solidFill>
              </a:rPr>
              <a:t>Plan the search in parts</a:t>
            </a:r>
            <a:endParaRPr lang="en-US" sz="2800" dirty="0"/>
          </a:p>
        </p:txBody>
      </p:sp>
      <p:sp>
        <p:nvSpPr>
          <p:cNvPr id="3" name="ternary interior"/>
          <p:cNvSpPr/>
          <p:nvPr/>
        </p:nvSpPr>
        <p:spPr>
          <a:xfrm>
            <a:off x="914400" y="1463040"/>
            <a:ext cx="2377440" cy="2514600"/>
          </a:xfrm>
          <a:prstGeom prst="triangle">
            <a:avLst/>
          </a:prstGeom>
          <a:solidFill>
            <a:schemeClr val="accent1">
              <a:alpha val="18000"/>
            </a:schemeClr>
          </a:solidFill>
          <a:ln w="31750">
            <a:solidFill>
              <a:schemeClr val="accent1"/>
            </a:solidFill>
            <a:prstDash val="solid"/>
          </a:ln>
        </p:spPr>
      </p:sp>
      <p:sp>
        <p:nvSpPr>
          <p:cNvPr id="4" name="vertex A"/>
          <p:cNvSpPr txBox="1"/>
          <p:nvPr/>
        </p:nvSpPr>
        <p:spPr>
          <a:xfrm>
            <a:off x="594360" y="3931920"/>
            <a:ext cx="274320" cy="274320"/>
          </a:xfrm>
          <a:prstGeom prst="rect">
            <a:avLst/>
          </a:prstGeom>
          <a:no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5" name="vertex B"/>
          <p:cNvSpPr txBox="1"/>
          <p:nvPr/>
        </p:nvSpPr>
        <p:spPr>
          <a:xfrm>
            <a:off x="3337560" y="3931920"/>
            <a:ext cx="274320" cy="274320"/>
          </a:xfrm>
          <a:prstGeom prst="rect">
            <a:avLst/>
          </a:prstGeom>
          <a:no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6" name="vertex C"/>
          <p:cNvSpPr txBox="1"/>
          <p:nvPr/>
        </p:nvSpPr>
        <p:spPr>
          <a:xfrm>
            <a:off x="1965960" y="1097280"/>
            <a:ext cx="274320" cy="274320"/>
          </a:xfrm>
          <a:prstGeom prst="rect">
            <a:avLst/>
          </a:prstGeom>
          <a:no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7" name="interior label"/>
          <p:cNvSpPr txBox="1"/>
          <p:nvPr/>
        </p:nvSpPr>
        <p:spPr>
          <a:xfrm>
            <a:off x="1417320" y="3154680"/>
            <a:ext cx="1371600" cy="274320"/>
          </a:xfrm>
          <a:prstGeom prst="rect">
            <a:avLst/>
          </a:prstGeom>
          <a:noFill/>
          <a:ln/>
        </p:spPr>
        <p:txBody>
          <a:bodyPr wrap="square" lIns="0" tIns="0" rIns="0" bIns="0" rtlCol="0" anchor="ctr"/>
          <a:lstStyle/>
          <a:p>
            <a:pPr algn="ctr" indent="0" marL="0">
              <a:buNone/>
            </a:pPr>
            <a:r>
              <a:rPr lang="en-US" sz="1200" b="1" dirty="0">
                <a:solidFill>
                  <a:schemeClr val="tx2"/>
                </a:solidFill>
              </a:rPr>
              <a:t>All three mixed</a:t>
            </a:r>
            <a:endParaRPr lang="en-US" sz="1200" dirty="0"/>
          </a:p>
        </p:txBody>
      </p:sp>
      <p:sp>
        <p:nvSpPr>
          <p:cNvPr id="8" name="subgoal caption"/>
          <p:cNvSpPr txBox="1"/>
          <p:nvPr/>
        </p:nvSpPr>
        <p:spPr>
          <a:xfrm>
            <a:off x="548640" y="4114800"/>
            <a:ext cx="3108960" cy="502920"/>
          </a:xfrm>
          <a:prstGeom prst="rect">
            <a:avLst/>
          </a:prstGeom>
          <a:noFill/>
          <a:ln/>
        </p:spPr>
        <p:txBody>
          <a:bodyPr wrap="square" lIns="0" tIns="0" rIns="0" bIns="0" rtlCol="0" anchor="ctr"/>
          <a:lstStyle/>
          <a:p>
            <a:pPr algn="ctr" indent="0" marL="0">
              <a:buNone/>
            </a:pPr>
            <a:r>
              <a:rPr lang="en-US" sz="1200" b="1" dirty="0">
                <a:solidFill>
                  <a:schemeClr val="tx1"/>
                </a:solidFill>
              </a:rPr>
              <a:t>4 search areas:</a:t>
            </a:r>
            <a:endParaRPr lang="en-US" sz="1200" dirty="0"/>
          </a:p>
          <a:p>
            <a:pPr algn="ctr" indent="0" marL="0">
              <a:buNone/>
            </a:pPr>
            <a:r>
              <a:rPr lang="en-US" sz="1200" dirty="0">
                <a:solidFill>
                  <a:schemeClr val="tx1"/>
                </a:solidFill>
              </a:rPr>
              <a:t>3 pairs + the three-element mix</a:t>
            </a:r>
            <a:endParaRPr lang="en-US" sz="1200" dirty="0"/>
          </a:p>
        </p:txBody>
      </p:sp>
      <p:sp>
        <p:nvSpPr>
          <p:cNvPr id="9" name="step 1 card"/>
          <p:cNvSpPr/>
          <p:nvPr/>
        </p:nvSpPr>
        <p:spPr>
          <a:xfrm>
            <a:off x="4206240" y="1188720"/>
            <a:ext cx="4480560" cy="731520"/>
          </a:xfrm>
          <a:prstGeom prst="roundRect">
            <a:avLst>
              <a:gd name="adj" fmla="val 10000"/>
            </a:avLst>
          </a:prstGeom>
          <a:solidFill>
            <a:schemeClr val="bg2"/>
          </a:solidFill>
          <a:ln w="12700">
            <a:solidFill>
              <a:schemeClr val="bg2"/>
            </a:solidFill>
            <a:prstDash val="solid"/>
          </a:ln>
        </p:spPr>
      </p:sp>
      <p:sp>
        <p:nvSpPr>
          <p:cNvPr id="10" name="step 1 badge"/>
          <p:cNvSpPr/>
          <p:nvPr/>
        </p:nvSpPr>
        <p:spPr>
          <a:xfrm>
            <a:off x="4343400" y="1344168"/>
            <a:ext cx="420624" cy="420624"/>
          </a:xfrm>
          <a:prstGeom prst="ellipse">
            <a:avLst/>
          </a:prstGeom>
          <a:solidFill>
            <a:schemeClr val="accent1"/>
          </a:solidFill>
          <a:ln w="12700">
            <a:solidFill>
              <a:schemeClr val="accent1"/>
            </a:solidFill>
            <a:prstDash val="solid"/>
          </a:ln>
        </p:spPr>
      </p:sp>
      <p:sp>
        <p:nvSpPr>
          <p:cNvPr id="11" name="step 1 number"/>
          <p:cNvSpPr txBox="1"/>
          <p:nvPr/>
        </p:nvSpPr>
        <p:spPr>
          <a:xfrm>
            <a:off x="4343400" y="13441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2" name="step 1 text"/>
          <p:cNvSpPr txBox="1"/>
          <p:nvPr/>
        </p:nvSpPr>
        <p:spPr>
          <a:xfrm>
            <a:off x="4937760" y="1188720"/>
            <a:ext cx="3657600" cy="731520"/>
          </a:xfrm>
          <a:prstGeom prst="rect">
            <a:avLst/>
          </a:prstGeom>
          <a:noFill/>
          <a:ln/>
        </p:spPr>
        <p:txBody>
          <a:bodyPr wrap="square" lIns="0" tIns="0" rIns="0" bIns="0" rtlCol="0" anchor="ctr"/>
          <a:lstStyle/>
          <a:p>
            <a:pPr indent="0" marL="0">
              <a:buNone/>
            </a:pPr>
            <a:r>
              <a:rPr lang="en-US" sz="1500" b="1" dirty="0">
                <a:solidFill>
                  <a:schemeClr val="tx2"/>
                </a:solidFill>
              </a:rPr>
              <a:t>Split</a:t>
            </a:r>
            <a:endParaRPr lang="en-US" sz="1500" dirty="0"/>
          </a:p>
          <a:p>
            <a:pPr indent="0" marL="0">
              <a:buNone/>
            </a:pPr>
            <a:r>
              <a:rPr lang="en-US" sz="1200" dirty="0">
                <a:solidFill>
                  <a:schemeClr val="tx1"/>
                </a:solidFill>
              </a:rPr>
              <a:t>Divide the search into 4 areas</a:t>
            </a:r>
            <a:endParaRPr lang="en-US" sz="1500" dirty="0"/>
          </a:p>
        </p:txBody>
      </p:sp>
      <p:sp>
        <p:nvSpPr>
          <p:cNvPr id="13" name="step 2 card"/>
          <p:cNvSpPr/>
          <p:nvPr/>
        </p:nvSpPr>
        <p:spPr>
          <a:xfrm>
            <a:off x="4206240" y="2039112"/>
            <a:ext cx="4480560" cy="731520"/>
          </a:xfrm>
          <a:prstGeom prst="roundRect">
            <a:avLst>
              <a:gd name="adj" fmla="val 10000"/>
            </a:avLst>
          </a:prstGeom>
          <a:solidFill>
            <a:schemeClr val="bg2"/>
          </a:solidFill>
          <a:ln w="12700">
            <a:solidFill>
              <a:schemeClr val="bg2"/>
            </a:solidFill>
            <a:prstDash val="solid"/>
          </a:ln>
        </p:spPr>
      </p:sp>
      <p:sp>
        <p:nvSpPr>
          <p:cNvPr id="14" name="step 2 badge"/>
          <p:cNvSpPr/>
          <p:nvPr/>
        </p:nvSpPr>
        <p:spPr>
          <a:xfrm>
            <a:off x="4343400" y="2194560"/>
            <a:ext cx="420624" cy="420624"/>
          </a:xfrm>
          <a:prstGeom prst="ellipse">
            <a:avLst/>
          </a:prstGeom>
          <a:solidFill>
            <a:schemeClr val="accent1"/>
          </a:solidFill>
          <a:ln w="12700">
            <a:solidFill>
              <a:schemeClr val="accent1"/>
            </a:solidFill>
            <a:prstDash val="solid"/>
          </a:ln>
        </p:spPr>
      </p:sp>
      <p:sp>
        <p:nvSpPr>
          <p:cNvPr id="15" name="step 2 number"/>
          <p:cNvSpPr txBox="1"/>
          <p:nvPr/>
        </p:nvSpPr>
        <p:spPr>
          <a:xfrm>
            <a:off x="4343400" y="21945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6" name="step 2 text"/>
          <p:cNvSpPr txBox="1"/>
          <p:nvPr/>
        </p:nvSpPr>
        <p:spPr>
          <a:xfrm>
            <a:off x="4937760" y="2039112"/>
            <a:ext cx="3657600" cy="731520"/>
          </a:xfrm>
          <a:prstGeom prst="rect">
            <a:avLst/>
          </a:prstGeom>
          <a:noFill/>
          <a:ln/>
        </p:spPr>
        <p:txBody>
          <a:bodyPr wrap="square" lIns="0" tIns="0" rIns="0" bIns="0" rtlCol="0" anchor="ctr"/>
          <a:lstStyle/>
          <a:p>
            <a:pPr indent="0" marL="0">
              <a:buNone/>
            </a:pPr>
            <a:r>
              <a:rPr lang="en-US" sz="1500" b="1" dirty="0">
                <a:solidFill>
                  <a:schemeClr val="tx2"/>
                </a:solidFill>
              </a:rPr>
              <a:t>Try</a:t>
            </a:r>
            <a:endParaRPr lang="en-US" sz="1500" dirty="0"/>
          </a:p>
          <a:p>
            <a:pPr indent="0" marL="0">
              <a:buNone/>
            </a:pPr>
            <a:r>
              <a:rPr lang="en-US" sz="1200" dirty="0">
                <a:solidFill>
                  <a:schemeClr val="tx1"/>
                </a:solidFill>
              </a:rPr>
              <a:t>4 tries in one area: untried recipes, unlike earlier ones</a:t>
            </a:r>
            <a:endParaRPr lang="en-US" sz="1500" dirty="0"/>
          </a:p>
        </p:txBody>
      </p:sp>
      <p:sp>
        <p:nvSpPr>
          <p:cNvPr id="17" name="step 3 card"/>
          <p:cNvSpPr/>
          <p:nvPr/>
        </p:nvSpPr>
        <p:spPr>
          <a:xfrm>
            <a:off x="4206240" y="2889504"/>
            <a:ext cx="4480560" cy="731520"/>
          </a:xfrm>
          <a:prstGeom prst="roundRect">
            <a:avLst>
              <a:gd name="adj" fmla="val 10000"/>
            </a:avLst>
          </a:prstGeom>
          <a:solidFill>
            <a:schemeClr val="bg2"/>
          </a:solidFill>
          <a:ln w="12700">
            <a:solidFill>
              <a:schemeClr val="bg2"/>
            </a:solidFill>
            <a:prstDash val="solid"/>
          </a:ln>
        </p:spPr>
      </p:sp>
      <p:sp>
        <p:nvSpPr>
          <p:cNvPr id="18" name="step 3 badge"/>
          <p:cNvSpPr/>
          <p:nvPr/>
        </p:nvSpPr>
        <p:spPr>
          <a:xfrm>
            <a:off x="4343400" y="3044952"/>
            <a:ext cx="420624" cy="420624"/>
          </a:xfrm>
          <a:prstGeom prst="ellipse">
            <a:avLst/>
          </a:prstGeom>
          <a:solidFill>
            <a:schemeClr val="accent1"/>
          </a:solidFill>
          <a:ln w="12700">
            <a:solidFill>
              <a:schemeClr val="accent1"/>
            </a:solidFill>
            <a:prstDash val="solid"/>
          </a:ln>
        </p:spPr>
      </p:sp>
      <p:sp>
        <p:nvSpPr>
          <p:cNvPr id="19" name="step 3 number"/>
          <p:cNvSpPr txBox="1"/>
          <p:nvPr/>
        </p:nvSpPr>
        <p:spPr>
          <a:xfrm>
            <a:off x="4343400" y="304495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step 3 text"/>
          <p:cNvSpPr txBox="1"/>
          <p:nvPr/>
        </p:nvSpPr>
        <p:spPr>
          <a:xfrm>
            <a:off x="4937760" y="2889504"/>
            <a:ext cx="3657600" cy="731520"/>
          </a:xfrm>
          <a:prstGeom prst="rect">
            <a:avLst/>
          </a:prstGeom>
          <a:noFill/>
          <a:ln/>
        </p:spPr>
        <p:txBody>
          <a:bodyPr wrap="square" lIns="0" tIns="0" rIns="0" bIns="0" rtlCol="0" anchor="ctr"/>
          <a:lstStyle/>
          <a:p>
            <a:pPr indent="0" marL="0">
              <a:buNone/>
            </a:pPr>
            <a:r>
              <a:rPr lang="en-US" sz="1500" b="1" dirty="0">
                <a:solidFill>
                  <a:schemeClr val="tx2"/>
                </a:solidFill>
              </a:rPr>
              <a:t>Compare</a:t>
            </a:r>
            <a:endParaRPr lang="en-US" sz="1500" dirty="0"/>
          </a:p>
          <a:p>
            <a:pPr indent="0" marL="0">
              <a:buNone/>
            </a:pPr>
            <a:r>
              <a:rPr lang="en-US" sz="1200" dirty="0">
                <a:solidFill>
                  <a:schemeClr val="tx1"/>
                </a:solidFill>
              </a:rPr>
              <a:t>Score each area: stable finds, memory, how much is untried</a:t>
            </a:r>
            <a:endParaRPr lang="en-US" sz="1500" dirty="0"/>
          </a:p>
        </p:txBody>
      </p:sp>
      <p:sp>
        <p:nvSpPr>
          <p:cNvPr id="21" name="step 4 card"/>
          <p:cNvSpPr/>
          <p:nvPr/>
        </p:nvSpPr>
        <p:spPr>
          <a:xfrm>
            <a:off x="4206240" y="3739896"/>
            <a:ext cx="4480560" cy="731520"/>
          </a:xfrm>
          <a:prstGeom prst="roundRect">
            <a:avLst>
              <a:gd name="adj" fmla="val 10000"/>
            </a:avLst>
          </a:prstGeom>
          <a:solidFill>
            <a:schemeClr val="bg2"/>
          </a:solidFill>
          <a:ln w="12700">
            <a:solidFill>
              <a:schemeClr val="bg2"/>
            </a:solidFill>
            <a:prstDash val="solid"/>
          </a:ln>
        </p:spPr>
      </p:sp>
      <p:sp>
        <p:nvSpPr>
          <p:cNvPr id="22" name="step 4 badge"/>
          <p:cNvSpPr/>
          <p:nvPr/>
        </p:nvSpPr>
        <p:spPr>
          <a:xfrm>
            <a:off x="4343400" y="3895344"/>
            <a:ext cx="420624" cy="420624"/>
          </a:xfrm>
          <a:prstGeom prst="ellipse">
            <a:avLst/>
          </a:prstGeom>
          <a:solidFill>
            <a:schemeClr val="accent1"/>
          </a:solidFill>
          <a:ln w="12700">
            <a:solidFill>
              <a:schemeClr val="accent1"/>
            </a:solidFill>
            <a:prstDash val="solid"/>
          </a:ln>
        </p:spPr>
      </p:sp>
      <p:sp>
        <p:nvSpPr>
          <p:cNvPr id="23" name="step 4 number"/>
          <p:cNvSpPr txBox="1"/>
          <p:nvPr/>
        </p:nvSpPr>
        <p:spPr>
          <a:xfrm>
            <a:off x="4343400" y="389534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step 4 text"/>
          <p:cNvSpPr txBox="1"/>
          <p:nvPr/>
        </p:nvSpPr>
        <p:spPr>
          <a:xfrm>
            <a:off x="4937760" y="3739896"/>
            <a:ext cx="3657600" cy="731520"/>
          </a:xfrm>
          <a:prstGeom prst="rect">
            <a:avLst/>
          </a:prstGeom>
          <a:noFill/>
          <a:ln/>
        </p:spPr>
        <p:txBody>
          <a:bodyPr wrap="square" lIns="0" tIns="0" rIns="0" bIns="0" rtlCol="0" anchor="ctr"/>
          <a:lstStyle/>
          <a:p>
            <a:pPr indent="0" marL="0">
              <a:buNone/>
            </a:pPr>
            <a:r>
              <a:rPr lang="en-US" sz="1500" b="1" dirty="0">
                <a:solidFill>
                  <a:schemeClr val="tx2"/>
                </a:solidFill>
              </a:rPr>
              <a:t>Move</a:t>
            </a:r>
            <a:endParaRPr lang="en-US" sz="1500" dirty="0"/>
          </a:p>
          <a:p>
            <a:pPr indent="0" marL="0">
              <a:buNone/>
            </a:pPr>
            <a:r>
              <a:rPr lang="en-US" sz="1200" dirty="0">
                <a:solidFill>
                  <a:schemeClr val="tx1"/>
                </a:solidFill>
              </a:rPr>
              <a:t>Go to the most promising area next</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2"/>
                </a:solidFill>
              </a:rPr>
              <a:t>Notice when the search is stuck</a:t>
            </a:r>
            <a:endParaRPr lang="en-US" sz="2800" dirty="0"/>
          </a:p>
        </p:txBody>
      </p:sp>
      <p:sp>
        <p:nvSpPr>
          <p:cNvPr id="3" name="trigger 1"/>
          <p:cNvSpPr/>
          <p:nvPr/>
        </p:nvSpPr>
        <p:spPr>
          <a:xfrm>
            <a:off x="457200" y="1188720"/>
            <a:ext cx="3291840" cy="731520"/>
          </a:xfrm>
          <a:prstGeom prst="roundRect">
            <a:avLst>
              <a:gd name="adj" fmla="val 10000"/>
            </a:avLst>
          </a:prstGeom>
          <a:solidFill>
            <a:schemeClr val="bg2"/>
          </a:solidFill>
          <a:ln w="12700">
            <a:solidFill>
              <a:schemeClr val="bg2"/>
            </a:solidFill>
            <a:prstDash val="solid"/>
          </a:ln>
        </p:spPr>
      </p:sp>
      <p:sp>
        <p:nvSpPr>
          <p:cNvPr id="4" name="trigger 1 text"/>
          <p:cNvSpPr txBox="1"/>
          <p:nvPr/>
        </p:nvSpPr>
        <p:spPr>
          <a:xfrm>
            <a:off x="594360" y="1188720"/>
            <a:ext cx="3063240" cy="731520"/>
          </a:xfrm>
          <a:prstGeom prst="rect">
            <a:avLst/>
          </a:prstGeom>
          <a:noFill/>
          <a:ln/>
        </p:spPr>
        <p:txBody>
          <a:bodyPr wrap="square" lIns="0" tIns="0" rIns="0" bIns="0" rtlCol="0" anchor="ctr"/>
          <a:lstStyle/>
          <a:p>
            <a:pPr indent="0" marL="0">
              <a:buNone/>
            </a:pPr>
            <a:r>
              <a:rPr lang="en-US" sz="1500" b="1" dirty="0">
                <a:solidFill>
                  <a:schemeClr val="accent3"/>
                </a:solidFill>
              </a:rPr>
              <a:t>No progress</a:t>
            </a:r>
            <a:endParaRPr lang="en-US" sz="1500" dirty="0"/>
          </a:p>
          <a:p>
            <a:pPr indent="0" marL="0">
              <a:buNone/>
            </a:pPr>
            <a:r>
              <a:rPr lang="en-US" sz="1200" dirty="0">
                <a:solidFill>
                  <a:schemeClr val="tx1"/>
                </a:solidFill>
              </a:rPr>
              <a:t>6 tries in a row with no new stable material</a:t>
            </a:r>
            <a:endParaRPr lang="en-US" sz="1500" dirty="0"/>
          </a:p>
        </p:txBody>
      </p:sp>
      <p:sp>
        <p:nvSpPr>
          <p:cNvPr id="5" name="trigger 2"/>
          <p:cNvSpPr/>
          <p:nvPr/>
        </p:nvSpPr>
        <p:spPr>
          <a:xfrm>
            <a:off x="457200" y="2057400"/>
            <a:ext cx="3291840" cy="731520"/>
          </a:xfrm>
          <a:prstGeom prst="roundRect">
            <a:avLst>
              <a:gd name="adj" fmla="val 10000"/>
            </a:avLst>
          </a:prstGeom>
          <a:solidFill>
            <a:schemeClr val="bg2"/>
          </a:solidFill>
          <a:ln w="12700">
            <a:solidFill>
              <a:schemeClr val="bg2"/>
            </a:solidFill>
            <a:prstDash val="solid"/>
          </a:ln>
        </p:spPr>
      </p:sp>
      <p:sp>
        <p:nvSpPr>
          <p:cNvPr id="6" name="trigger 2 text"/>
          <p:cNvSpPr txBox="1"/>
          <p:nvPr/>
        </p:nvSpPr>
        <p:spPr>
          <a:xfrm>
            <a:off x="594360" y="2057400"/>
            <a:ext cx="3063240" cy="731520"/>
          </a:xfrm>
          <a:prstGeom prst="rect">
            <a:avLst/>
          </a:prstGeom>
          <a:noFill/>
          <a:ln/>
        </p:spPr>
        <p:txBody>
          <a:bodyPr wrap="square" lIns="0" tIns="0" rIns="0" bIns="0" rtlCol="0" anchor="ctr"/>
          <a:lstStyle/>
          <a:p>
            <a:pPr indent="0" marL="0">
              <a:buNone/>
            </a:pPr>
            <a:r>
              <a:rPr lang="en-US" sz="1500" b="1" dirty="0">
                <a:solidFill>
                  <a:schemeClr val="accent3"/>
                </a:solidFill>
              </a:rPr>
              <a:t>Repeating</a:t>
            </a:r>
            <a:endParaRPr lang="en-US" sz="1500" dirty="0"/>
          </a:p>
          <a:p>
            <a:pPr indent="0" marL="0">
              <a:buNone/>
            </a:pPr>
            <a:r>
              <a:rPr lang="en-US" sz="1200" dirty="0">
                <a:solidFill>
                  <a:schemeClr val="tx1"/>
                </a:solidFill>
              </a:rPr>
              <a:t>Plan repeats a recipe already tried twice</a:t>
            </a:r>
            <a:endParaRPr lang="en-US" sz="1500" dirty="0"/>
          </a:p>
        </p:txBody>
      </p:sp>
      <p:sp>
        <p:nvSpPr>
          <p:cNvPr id="7" name="replan card"/>
          <p:cNvSpPr/>
          <p:nvPr/>
        </p:nvSpPr>
        <p:spPr>
          <a:xfrm>
            <a:off x="457200" y="2971800"/>
            <a:ext cx="3291840" cy="1508760"/>
          </a:xfrm>
          <a:prstGeom prst="roundRect">
            <a:avLst>
              <a:gd name="adj" fmla="val 4848"/>
            </a:avLst>
          </a:prstGeom>
          <a:solidFill>
            <a:schemeClr val="accent1"/>
          </a:solidFill>
          <a:ln w="12700">
            <a:solidFill>
              <a:schemeClr val="accent1"/>
            </a:solidFill>
            <a:prstDash val="solid"/>
          </a:ln>
        </p:spPr>
      </p:sp>
      <p:sp>
        <p:nvSpPr>
          <p:cNvPr id="8" name="replan text"/>
          <p:cNvSpPr txBox="1"/>
          <p:nvPr/>
        </p:nvSpPr>
        <p:spPr>
          <a:xfrm>
            <a:off x="594360" y="3017520"/>
            <a:ext cx="3063240" cy="1417320"/>
          </a:xfrm>
          <a:prstGeom prst="rect">
            <a:avLst/>
          </a:prstGeom>
          <a:noFill/>
          <a:ln/>
        </p:spPr>
        <p:txBody>
          <a:bodyPr wrap="square" lIns="0" tIns="0" rIns="0" bIns="0" rtlCol="0" anchor="ctr"/>
          <a:lstStyle/>
          <a:p>
            <a:pPr indent="0" marL="0">
              <a:spcAft>
                <a:spcPts val="200"/>
              </a:spcAft>
              <a:buNone/>
            </a:pPr>
            <a:r>
              <a:rPr lang="en-US" sz="1500" b="1" dirty="0">
                <a:solidFill>
                  <a:schemeClr val="bg1"/>
                </a:solidFill>
              </a:rPr>
              <a:t>Change course</a:t>
            </a:r>
            <a:endParaRPr lang="en-US" sz="1500" dirty="0"/>
          </a:p>
          <a:p>
            <a:pPr marL="342900" indent="-342900">
              <a:spcAft>
                <a:spcPts val="200"/>
              </a:spcAft>
              <a:buSzPct val="100000"/>
              <a:buChar char="•"/>
            </a:pPr>
            <a:r>
              <a:rPr lang="en-US" sz="1200" dirty="0">
                <a:solidFill>
                  <a:schemeClr val="bg1"/>
                </a:solidFill>
              </a:rPr>
              <a:t>Swap in the least-tried recipes, unlike recent ones</a:t>
            </a:r>
            <a:endParaRPr lang="en-US" sz="1500" dirty="0"/>
          </a:p>
          <a:p>
            <a:pPr marL="342900" indent="-342900">
              <a:spcAft>
                <a:spcPts val="200"/>
              </a:spcAft>
              <a:buSzPct val="100000"/>
              <a:buChar char="•"/>
            </a:pPr>
            <a:r>
              <a:rPr lang="en-US" sz="1200" dirty="0">
                <a:solidFill>
                  <a:schemeClr val="bg1"/>
                </a:solidFill>
              </a:rPr>
              <a:t>Still stuck: make more candidates (no extra tries)</a:t>
            </a:r>
            <a:endParaRPr lang="en-US" sz="1500" dirty="0"/>
          </a:p>
          <a:p>
            <a:pPr marL="342900" indent="-342900">
              <a:spcAft>
                <a:spcPts val="200"/>
              </a:spcAft>
              <a:buSzPct val="100000"/>
              <a:buChar char="•"/>
            </a:pPr>
            <a:r>
              <a:rPr lang="en-US" sz="1200" dirty="0">
                <a:solidFill>
                  <a:schemeClr val="bg1"/>
                </a:solidFill>
              </a:rPr>
              <a:t>Waits 3 tries between changes; a find resets it</a:t>
            </a:r>
            <a:endParaRPr lang="en-US" sz="1500" dirty="0"/>
          </a:p>
        </p:txBody>
      </p:sp>
      <p:sp>
        <p:nvSpPr>
          <p:cNvPr id="9" name="timeline title"/>
          <p:cNvSpPr txBox="1"/>
          <p:nvPr/>
        </p:nvSpPr>
        <p:spPr>
          <a:xfrm>
            <a:off x="4206240" y="1188720"/>
            <a:ext cx="4480560" cy="320040"/>
          </a:xfrm>
          <a:prstGeom prst="rect">
            <a:avLst/>
          </a:prstGeom>
          <a:noFill/>
          <a:ln/>
        </p:spPr>
        <p:txBody>
          <a:bodyPr wrap="square" lIns="0" tIns="0" rIns="0" bIns="0" rtlCol="0" anchor="ctr"/>
          <a:lstStyle/>
          <a:p>
            <a:pPr indent="0" marL="0">
              <a:buNone/>
            </a:pPr>
            <a:r>
              <a:rPr lang="en-US" sz="1400" b="1" dirty="0">
                <a:solidFill>
                  <a:schemeClr val="tx2"/>
                </a:solidFill>
              </a:rPr>
              <a:t>Demo with made-up results: Li-Fe-O, 16 tries</a:t>
            </a:r>
            <a:endParaRPr lang="en-US" sz="1400" dirty="0"/>
          </a:p>
        </p:txBody>
      </p:sp>
      <p:sp>
        <p:nvSpPr>
          <p:cNvPr id="10" name="query 1"/>
          <p:cNvSpPr/>
          <p:nvPr/>
        </p:nvSpPr>
        <p:spPr>
          <a:xfrm>
            <a:off x="4343400" y="1783080"/>
            <a:ext cx="219456" cy="219456"/>
          </a:xfrm>
          <a:prstGeom prst="ellipse">
            <a:avLst/>
          </a:prstGeom>
          <a:solidFill>
            <a:schemeClr val="bg2"/>
          </a:solidFill>
          <a:ln w="12700">
            <a:solidFill>
              <a:schemeClr val="accent5"/>
            </a:solidFill>
            <a:prstDash val="solid"/>
          </a:ln>
        </p:spPr>
      </p:sp>
      <p:sp>
        <p:nvSpPr>
          <p:cNvPr id="11" name="query 1 label"/>
          <p:cNvSpPr txBox="1"/>
          <p:nvPr/>
        </p:nvSpPr>
        <p:spPr>
          <a:xfrm>
            <a:off x="4270248" y="2039112"/>
            <a:ext cx="365760" cy="228600"/>
          </a:xfrm>
          <a:prstGeom prst="rect">
            <a:avLst/>
          </a:prstGeom>
          <a:noFill/>
          <a:ln/>
        </p:spPr>
        <p:txBody>
          <a:bodyPr wrap="square" lIns="0" tIns="0" rIns="0" bIns="0" rtlCol="0" anchor="ctr"/>
          <a:lstStyle/>
          <a:p>
            <a:pPr algn="ctr" indent="0" marL="0">
              <a:buNone/>
            </a:pPr>
            <a:r>
              <a:rPr lang="en-US" sz="1000" dirty="0">
                <a:solidFill>
                  <a:schemeClr val="accent5"/>
                </a:solidFill>
              </a:rPr>
              <a:t>1</a:t>
            </a:r>
            <a:endParaRPr lang="en-US" sz="1000" dirty="0"/>
          </a:p>
        </p:txBody>
      </p:sp>
      <p:sp>
        <p:nvSpPr>
          <p:cNvPr id="12" name="query 2"/>
          <p:cNvSpPr/>
          <p:nvPr/>
        </p:nvSpPr>
        <p:spPr>
          <a:xfrm>
            <a:off x="4617720" y="1783080"/>
            <a:ext cx="219456" cy="219456"/>
          </a:xfrm>
          <a:prstGeom prst="ellipse">
            <a:avLst/>
          </a:prstGeom>
          <a:solidFill>
            <a:schemeClr val="bg2"/>
          </a:solidFill>
          <a:ln w="12700">
            <a:solidFill>
              <a:schemeClr val="accent5"/>
            </a:solidFill>
            <a:prstDash val="solid"/>
          </a:ln>
        </p:spPr>
      </p:sp>
      <p:sp>
        <p:nvSpPr>
          <p:cNvPr id="13" name="query 3"/>
          <p:cNvSpPr/>
          <p:nvPr/>
        </p:nvSpPr>
        <p:spPr>
          <a:xfrm>
            <a:off x="4892040" y="1783080"/>
            <a:ext cx="219456" cy="219456"/>
          </a:xfrm>
          <a:prstGeom prst="ellipse">
            <a:avLst/>
          </a:prstGeom>
          <a:solidFill>
            <a:schemeClr val="accent2"/>
          </a:solidFill>
          <a:ln w="12700">
            <a:solidFill>
              <a:schemeClr val="accent2"/>
            </a:solidFill>
            <a:prstDash val="solid"/>
          </a:ln>
        </p:spPr>
      </p:sp>
      <p:sp>
        <p:nvSpPr>
          <p:cNvPr id="14" name="query 4"/>
          <p:cNvSpPr/>
          <p:nvPr/>
        </p:nvSpPr>
        <p:spPr>
          <a:xfrm>
            <a:off x="5166360" y="1783080"/>
            <a:ext cx="219456" cy="219456"/>
          </a:xfrm>
          <a:prstGeom prst="ellipse">
            <a:avLst/>
          </a:prstGeom>
          <a:solidFill>
            <a:schemeClr val="bg2"/>
          </a:solidFill>
          <a:ln w="12700">
            <a:solidFill>
              <a:schemeClr val="accent5"/>
            </a:solidFill>
            <a:prstDash val="solid"/>
          </a:ln>
        </p:spPr>
      </p:sp>
      <p:sp>
        <p:nvSpPr>
          <p:cNvPr id="15" name="query 4 label"/>
          <p:cNvSpPr txBox="1"/>
          <p:nvPr/>
        </p:nvSpPr>
        <p:spPr>
          <a:xfrm>
            <a:off x="5093208" y="2039112"/>
            <a:ext cx="365760" cy="228600"/>
          </a:xfrm>
          <a:prstGeom prst="rect">
            <a:avLst/>
          </a:prstGeom>
          <a:noFill/>
          <a:ln/>
        </p:spPr>
        <p:txBody>
          <a:bodyPr wrap="square" lIns="0" tIns="0" rIns="0" bIns="0" rtlCol="0" anchor="ctr"/>
          <a:lstStyle/>
          <a:p>
            <a:pPr algn="ctr" indent="0" marL="0">
              <a:buNone/>
            </a:pPr>
            <a:r>
              <a:rPr lang="en-US" sz="1000" dirty="0">
                <a:solidFill>
                  <a:schemeClr val="accent5"/>
                </a:solidFill>
              </a:rPr>
              <a:t>4</a:t>
            </a:r>
            <a:endParaRPr lang="en-US" sz="1000" dirty="0"/>
          </a:p>
        </p:txBody>
      </p:sp>
      <p:sp>
        <p:nvSpPr>
          <p:cNvPr id="16" name="query 5"/>
          <p:cNvSpPr/>
          <p:nvPr/>
        </p:nvSpPr>
        <p:spPr>
          <a:xfrm>
            <a:off x="5440680" y="1783080"/>
            <a:ext cx="219456" cy="219456"/>
          </a:xfrm>
          <a:prstGeom prst="ellipse">
            <a:avLst/>
          </a:prstGeom>
          <a:solidFill>
            <a:schemeClr val="bg2"/>
          </a:solidFill>
          <a:ln w="12700">
            <a:solidFill>
              <a:schemeClr val="accent5"/>
            </a:solidFill>
            <a:prstDash val="solid"/>
          </a:ln>
        </p:spPr>
      </p:sp>
      <p:sp>
        <p:nvSpPr>
          <p:cNvPr id="17" name="query 6"/>
          <p:cNvSpPr/>
          <p:nvPr/>
        </p:nvSpPr>
        <p:spPr>
          <a:xfrm>
            <a:off x="5715000" y="1783080"/>
            <a:ext cx="219456" cy="219456"/>
          </a:xfrm>
          <a:prstGeom prst="ellipse">
            <a:avLst/>
          </a:prstGeom>
          <a:solidFill>
            <a:schemeClr val="bg2"/>
          </a:solidFill>
          <a:ln w="12700">
            <a:solidFill>
              <a:schemeClr val="accent5"/>
            </a:solidFill>
            <a:prstDash val="solid"/>
          </a:ln>
        </p:spPr>
      </p:sp>
      <p:sp>
        <p:nvSpPr>
          <p:cNvPr id="18" name="query 7"/>
          <p:cNvSpPr/>
          <p:nvPr/>
        </p:nvSpPr>
        <p:spPr>
          <a:xfrm>
            <a:off x="5989320" y="1783080"/>
            <a:ext cx="219456" cy="219456"/>
          </a:xfrm>
          <a:prstGeom prst="ellipse">
            <a:avLst/>
          </a:prstGeom>
          <a:solidFill>
            <a:schemeClr val="bg2"/>
          </a:solidFill>
          <a:ln w="12700">
            <a:solidFill>
              <a:schemeClr val="accent5"/>
            </a:solidFill>
            <a:prstDash val="solid"/>
          </a:ln>
        </p:spPr>
      </p:sp>
      <p:sp>
        <p:nvSpPr>
          <p:cNvPr id="19" name="query 8"/>
          <p:cNvSpPr/>
          <p:nvPr/>
        </p:nvSpPr>
        <p:spPr>
          <a:xfrm>
            <a:off x="6263640" y="1783080"/>
            <a:ext cx="219456" cy="219456"/>
          </a:xfrm>
          <a:prstGeom prst="ellipse">
            <a:avLst/>
          </a:prstGeom>
          <a:solidFill>
            <a:schemeClr val="accent3"/>
          </a:solidFill>
          <a:ln w="12700">
            <a:solidFill>
              <a:schemeClr val="accent3"/>
            </a:solidFill>
            <a:prstDash val="solid"/>
          </a:ln>
        </p:spPr>
      </p:sp>
      <p:sp>
        <p:nvSpPr>
          <p:cNvPr id="20" name="query 8 label"/>
          <p:cNvSpPr txBox="1"/>
          <p:nvPr/>
        </p:nvSpPr>
        <p:spPr>
          <a:xfrm>
            <a:off x="6190488" y="2039112"/>
            <a:ext cx="365760" cy="228600"/>
          </a:xfrm>
          <a:prstGeom prst="rect">
            <a:avLst/>
          </a:prstGeom>
          <a:noFill/>
          <a:ln/>
        </p:spPr>
        <p:txBody>
          <a:bodyPr wrap="square" lIns="0" tIns="0" rIns="0" bIns="0" rtlCol="0" anchor="ctr"/>
          <a:lstStyle/>
          <a:p>
            <a:pPr algn="ctr" indent="0" marL="0">
              <a:buNone/>
            </a:pPr>
            <a:r>
              <a:rPr lang="en-US" sz="1000" dirty="0">
                <a:solidFill>
                  <a:schemeClr val="accent5"/>
                </a:solidFill>
              </a:rPr>
              <a:t>8</a:t>
            </a:r>
            <a:endParaRPr lang="en-US" sz="1000" dirty="0"/>
          </a:p>
        </p:txBody>
      </p:sp>
      <p:sp>
        <p:nvSpPr>
          <p:cNvPr id="21" name="query 9"/>
          <p:cNvSpPr/>
          <p:nvPr/>
        </p:nvSpPr>
        <p:spPr>
          <a:xfrm>
            <a:off x="6537960" y="1783080"/>
            <a:ext cx="219456" cy="219456"/>
          </a:xfrm>
          <a:prstGeom prst="ellipse">
            <a:avLst/>
          </a:prstGeom>
          <a:solidFill>
            <a:schemeClr val="bg2"/>
          </a:solidFill>
          <a:ln w="12700">
            <a:solidFill>
              <a:schemeClr val="accent5"/>
            </a:solidFill>
            <a:prstDash val="solid"/>
          </a:ln>
        </p:spPr>
      </p:sp>
      <p:sp>
        <p:nvSpPr>
          <p:cNvPr id="22" name="query 10"/>
          <p:cNvSpPr/>
          <p:nvPr/>
        </p:nvSpPr>
        <p:spPr>
          <a:xfrm>
            <a:off x="6812280" y="1783080"/>
            <a:ext cx="219456" cy="219456"/>
          </a:xfrm>
          <a:prstGeom prst="ellipse">
            <a:avLst/>
          </a:prstGeom>
          <a:solidFill>
            <a:schemeClr val="accent3"/>
          </a:solidFill>
          <a:ln w="12700">
            <a:solidFill>
              <a:schemeClr val="accent3"/>
            </a:solidFill>
            <a:prstDash val="solid"/>
          </a:ln>
        </p:spPr>
      </p:sp>
      <p:sp>
        <p:nvSpPr>
          <p:cNvPr id="23" name="query 11"/>
          <p:cNvSpPr/>
          <p:nvPr/>
        </p:nvSpPr>
        <p:spPr>
          <a:xfrm>
            <a:off x="7086600" y="1783080"/>
            <a:ext cx="219456" cy="219456"/>
          </a:xfrm>
          <a:prstGeom prst="ellipse">
            <a:avLst/>
          </a:prstGeom>
          <a:solidFill>
            <a:schemeClr val="bg2"/>
          </a:solidFill>
          <a:ln w="12700">
            <a:solidFill>
              <a:schemeClr val="accent5"/>
            </a:solidFill>
            <a:prstDash val="solid"/>
          </a:ln>
        </p:spPr>
      </p:sp>
      <p:sp>
        <p:nvSpPr>
          <p:cNvPr id="24" name="query 12"/>
          <p:cNvSpPr/>
          <p:nvPr/>
        </p:nvSpPr>
        <p:spPr>
          <a:xfrm>
            <a:off x="7360920" y="1783080"/>
            <a:ext cx="219456" cy="219456"/>
          </a:xfrm>
          <a:prstGeom prst="ellipse">
            <a:avLst/>
          </a:prstGeom>
          <a:solidFill>
            <a:schemeClr val="accent3"/>
          </a:solidFill>
          <a:ln w="12700">
            <a:solidFill>
              <a:schemeClr val="accent3"/>
            </a:solidFill>
            <a:prstDash val="solid"/>
          </a:ln>
        </p:spPr>
      </p:sp>
      <p:sp>
        <p:nvSpPr>
          <p:cNvPr id="25" name="query 12 label"/>
          <p:cNvSpPr txBox="1"/>
          <p:nvPr/>
        </p:nvSpPr>
        <p:spPr>
          <a:xfrm>
            <a:off x="7287768" y="2039112"/>
            <a:ext cx="365760" cy="228600"/>
          </a:xfrm>
          <a:prstGeom prst="rect">
            <a:avLst/>
          </a:prstGeom>
          <a:noFill/>
          <a:ln/>
        </p:spPr>
        <p:txBody>
          <a:bodyPr wrap="square" lIns="0" tIns="0" rIns="0" bIns="0" rtlCol="0" anchor="ctr"/>
          <a:lstStyle/>
          <a:p>
            <a:pPr algn="ctr" indent="0" marL="0">
              <a:buNone/>
            </a:pPr>
            <a:r>
              <a:rPr lang="en-US" sz="1000" dirty="0">
                <a:solidFill>
                  <a:schemeClr val="accent5"/>
                </a:solidFill>
              </a:rPr>
              <a:t>12</a:t>
            </a:r>
            <a:endParaRPr lang="en-US" sz="1000" dirty="0"/>
          </a:p>
        </p:txBody>
      </p:sp>
      <p:sp>
        <p:nvSpPr>
          <p:cNvPr id="26" name="query 13"/>
          <p:cNvSpPr/>
          <p:nvPr/>
        </p:nvSpPr>
        <p:spPr>
          <a:xfrm>
            <a:off x="7635240" y="1783080"/>
            <a:ext cx="219456" cy="219456"/>
          </a:xfrm>
          <a:prstGeom prst="ellipse">
            <a:avLst/>
          </a:prstGeom>
          <a:solidFill>
            <a:schemeClr val="accent2"/>
          </a:solidFill>
          <a:ln w="12700">
            <a:solidFill>
              <a:schemeClr val="accent2"/>
            </a:solidFill>
            <a:prstDash val="solid"/>
          </a:ln>
        </p:spPr>
      </p:sp>
      <p:sp>
        <p:nvSpPr>
          <p:cNvPr id="27" name="query 14"/>
          <p:cNvSpPr/>
          <p:nvPr/>
        </p:nvSpPr>
        <p:spPr>
          <a:xfrm>
            <a:off x="7909560" y="1783080"/>
            <a:ext cx="219456" cy="219456"/>
          </a:xfrm>
          <a:prstGeom prst="ellipse">
            <a:avLst/>
          </a:prstGeom>
          <a:solidFill>
            <a:schemeClr val="bg2"/>
          </a:solidFill>
          <a:ln w="12700">
            <a:solidFill>
              <a:schemeClr val="accent5"/>
            </a:solidFill>
            <a:prstDash val="solid"/>
          </a:ln>
        </p:spPr>
      </p:sp>
      <p:sp>
        <p:nvSpPr>
          <p:cNvPr id="28" name="query 15"/>
          <p:cNvSpPr/>
          <p:nvPr/>
        </p:nvSpPr>
        <p:spPr>
          <a:xfrm>
            <a:off x="8183880" y="1783080"/>
            <a:ext cx="219456" cy="219456"/>
          </a:xfrm>
          <a:prstGeom prst="ellipse">
            <a:avLst/>
          </a:prstGeom>
          <a:solidFill>
            <a:schemeClr val="bg2"/>
          </a:solidFill>
          <a:ln w="12700">
            <a:solidFill>
              <a:schemeClr val="accent5"/>
            </a:solidFill>
            <a:prstDash val="solid"/>
          </a:ln>
        </p:spPr>
      </p:sp>
      <p:sp>
        <p:nvSpPr>
          <p:cNvPr id="29" name="query 16"/>
          <p:cNvSpPr/>
          <p:nvPr/>
        </p:nvSpPr>
        <p:spPr>
          <a:xfrm>
            <a:off x="8458200" y="1783080"/>
            <a:ext cx="219456" cy="219456"/>
          </a:xfrm>
          <a:prstGeom prst="ellipse">
            <a:avLst/>
          </a:prstGeom>
          <a:solidFill>
            <a:schemeClr val="bg2"/>
          </a:solidFill>
          <a:ln w="12700">
            <a:solidFill>
              <a:schemeClr val="accent5"/>
            </a:solidFill>
            <a:prstDash val="solid"/>
          </a:ln>
        </p:spPr>
      </p:sp>
      <p:sp>
        <p:nvSpPr>
          <p:cNvPr id="30" name="query 16 label"/>
          <p:cNvSpPr txBox="1"/>
          <p:nvPr/>
        </p:nvSpPr>
        <p:spPr>
          <a:xfrm>
            <a:off x="8385048" y="2039112"/>
            <a:ext cx="365760" cy="228600"/>
          </a:xfrm>
          <a:prstGeom prst="rect">
            <a:avLst/>
          </a:prstGeom>
          <a:noFill/>
          <a:ln/>
        </p:spPr>
        <p:txBody>
          <a:bodyPr wrap="square" lIns="0" tIns="0" rIns="0" bIns="0" rtlCol="0" anchor="ctr"/>
          <a:lstStyle/>
          <a:p>
            <a:pPr algn="ctr" indent="0" marL="0">
              <a:buNone/>
            </a:pPr>
            <a:r>
              <a:rPr lang="en-US" sz="1000" dirty="0">
                <a:solidFill>
                  <a:schemeClr val="accent5"/>
                </a:solidFill>
              </a:rPr>
              <a:t>16</a:t>
            </a:r>
            <a:endParaRPr lang="en-US" sz="1000" dirty="0"/>
          </a:p>
        </p:txBody>
      </p:sp>
      <p:sp>
        <p:nvSpPr>
          <p:cNvPr id="31" name="legend 1 dot"/>
          <p:cNvSpPr/>
          <p:nvPr/>
        </p:nvSpPr>
        <p:spPr>
          <a:xfrm>
            <a:off x="4343400" y="2560320"/>
            <a:ext cx="182880" cy="182880"/>
          </a:xfrm>
          <a:prstGeom prst="ellipse">
            <a:avLst/>
          </a:prstGeom>
          <a:solidFill>
            <a:schemeClr val="accent2"/>
          </a:solidFill>
          <a:ln w="12700">
            <a:solidFill>
              <a:schemeClr val="accent2"/>
            </a:solidFill>
            <a:prstDash val="solid"/>
          </a:ln>
        </p:spPr>
      </p:sp>
      <p:sp>
        <p:nvSpPr>
          <p:cNvPr id="32" name="legend 1"/>
          <p:cNvSpPr txBox="1"/>
          <p:nvPr/>
        </p:nvSpPr>
        <p:spPr>
          <a:xfrm>
            <a:off x="4617720" y="2514600"/>
            <a:ext cx="4023360" cy="274320"/>
          </a:xfrm>
          <a:prstGeom prst="rect">
            <a:avLst/>
          </a:prstGeom>
          <a:noFill/>
          <a:ln/>
        </p:spPr>
        <p:txBody>
          <a:bodyPr wrap="square" lIns="0" tIns="0" rIns="0" bIns="0" rtlCol="0" anchor="ctr"/>
          <a:lstStyle/>
          <a:p>
            <a:pPr indent="0" marL="0">
              <a:buNone/>
            </a:pPr>
            <a:r>
              <a:rPr lang="en-US" sz="1200" dirty="0">
                <a:solidFill>
                  <a:schemeClr val="tx1"/>
                </a:solidFill>
              </a:rPr>
              <a:t>New stable material (tries 3, 13)</a:t>
            </a:r>
            <a:endParaRPr lang="en-US" sz="1200" dirty="0"/>
          </a:p>
        </p:txBody>
      </p:sp>
      <p:sp>
        <p:nvSpPr>
          <p:cNvPr id="33" name="legend 2 dot"/>
          <p:cNvSpPr/>
          <p:nvPr/>
        </p:nvSpPr>
        <p:spPr>
          <a:xfrm>
            <a:off x="4343400" y="2926080"/>
            <a:ext cx="182880" cy="182880"/>
          </a:xfrm>
          <a:prstGeom prst="ellipse">
            <a:avLst/>
          </a:prstGeom>
          <a:solidFill>
            <a:schemeClr val="accent3"/>
          </a:solidFill>
          <a:ln w="12700">
            <a:solidFill>
              <a:schemeClr val="accent3"/>
            </a:solidFill>
            <a:prstDash val="solid"/>
          </a:ln>
        </p:spPr>
      </p:sp>
      <p:sp>
        <p:nvSpPr>
          <p:cNvPr id="34" name="legend 2"/>
          <p:cNvSpPr txBox="1"/>
          <p:nvPr/>
        </p:nvSpPr>
        <p:spPr>
          <a:xfrm>
            <a:off x="4617720" y="2880360"/>
            <a:ext cx="4023360" cy="274320"/>
          </a:xfrm>
          <a:prstGeom prst="rect">
            <a:avLst/>
          </a:prstGeom>
          <a:noFill/>
          <a:ln/>
        </p:spPr>
        <p:txBody>
          <a:bodyPr wrap="square" lIns="0" tIns="0" rIns="0" bIns="0" rtlCol="0" anchor="ctr"/>
          <a:lstStyle/>
          <a:p>
            <a:pPr indent="0" marL="0">
              <a:buNone/>
            </a:pPr>
            <a:r>
              <a:rPr lang="en-US" sz="1200" dirty="0">
                <a:solidFill>
                  <a:schemeClr val="tx1"/>
                </a:solidFill>
              </a:rPr>
              <a:t>Changed course (tries 8, 10, 12)</a:t>
            </a:r>
            <a:endParaRPr lang="en-US" sz="1200" dirty="0"/>
          </a:p>
        </p:txBody>
      </p:sp>
      <p:sp>
        <p:nvSpPr>
          <p:cNvPr id="35" name="timeline caveat"/>
          <p:cNvSpPr txBox="1"/>
          <p:nvPr/>
        </p:nvSpPr>
        <p:spPr>
          <a:xfrm>
            <a:off x="4343400" y="3337560"/>
            <a:ext cx="4297680" cy="274320"/>
          </a:xfrm>
          <a:prstGeom prst="rect">
            <a:avLst/>
          </a:prstGeom>
          <a:noFill/>
          <a:ln/>
        </p:spPr>
        <p:txBody>
          <a:bodyPr wrap="square" lIns="0" tIns="0" rIns="0" bIns="0" rtlCol="0" anchor="ctr"/>
          <a:lstStyle/>
          <a:p>
            <a:pPr indent="0" marL="0">
              <a:buNone/>
            </a:pPr>
            <a:r>
              <a:rPr lang="en-US" sz="1100" i="1" dirty="0">
                <a:solidFill>
                  <a:schemeClr val="accent5"/>
                </a:solidFill>
              </a:rPr>
              <a:t>Made-up results: shows how it works, not how well.</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2"/>
                </a:solidFill>
              </a:rPr>
              <a:t>Planning matters most in the full agent</a:t>
            </a:r>
            <a:endParaRPr lang="en-US" sz="2800" dirty="0"/>
          </a:p>
        </p:txBody>
      </p:sp>
      <p:graphicFrame>
        <p:nvGraphicFramePr>
          <p:cNvPr id="4" name="ablation table"/>
          <p:cNvGraphicFramePr>
            <a:graphicFrameLocks noGrp="1"/>
          </p:cNvGraphicFramePr>
          <p:nvPr>
            <p:extLst>
              <p:ext uri="{D42A27DB-BD31-4B8C-83A1-F6EECF244321}">
                <p14:modId xmlns:p14="http://schemas.microsoft.com/office/powerpoint/2010/main" val="1579011935"/>
              </p:ext>
            </p:extLst>
          </p:nvPr>
        </p:nvGraphicFramePr>
        <p:xfrm>
          <a:off x="457200" y="1188720"/>
          <a:ext cx="5120640" cy="914400"/>
        </p:xfrm>
        <a:graphic>
          <a:graphicData uri="http://schemas.openxmlformats.org/drawingml/2006/table">
            <a:tbl>
              <a:tblPr/>
              <a:tblGrid>
                <a:gridCol w="1783080"/>
                <a:gridCol w="914400"/>
                <a:gridCol w="1143000"/>
                <a:gridCol w="1280160"/>
              </a:tblGrid>
              <a:tr h="384048">
                <a:tc>
                  <a:txBody>
                    <a:bodyPr/>
                    <a:lstStyle/>
                    <a:p>
                      <a:pPr indent="0" marL="0">
                        <a:buNone/>
                      </a:pPr>
                      <a:r>
                        <a:rPr lang="en-US" sz="1200" b="1" dirty="0">
                          <a:solidFill>
                            <a:schemeClr val="bg1"/>
                          </a:solidFill>
                        </a:rPr>
                        <a:t>Version</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Planning</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Self-correction</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Found / run</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tx2"/>
                    </a:solidFill>
                  </a:tcPr>
                </a:tc>
              </a:tr>
              <a:tr h="384048">
                <a:tc>
                  <a:txBody>
                    <a:bodyPr/>
                    <a:lstStyle/>
                    <a:p>
                      <a:pPr indent="0" marL="0">
                        <a:buNone/>
                      </a:pPr>
                      <a:r>
                        <a:rPr lang="en-US" sz="1200" dirty="0">
                          <a:solidFill>
                            <a:schemeClr val="tx1"/>
                          </a:solidFill>
                        </a:rPr>
                        <a:t>Reference (M1)</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M1's own</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off</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5.0</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M3 full</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M3</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on</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6.5</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Planning off</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off</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on</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5.1</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Self-correction off</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M3</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off</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5.8</a:t>
                      </a:r>
                      <a:endParaRPr lang="en-US" sz="1200" dirty="0"/>
                    </a:p>
                  </a:txBody>
                  <a:tcPr marL="54864" marR="54864" marT="54864" marB="54864" anchor="ctr">
                    <a:lnL w="9525" cap="flat" cmpd="sng" algn="ctr">
                      <a:solidFill>
                        <a:srgbClr val="EEF3F4"/>
                      </a:solidFill>
                      <a:prstDash val="solid"/>
                      <a:round/>
                      <a:headEnd type="none" w="med" len="med"/>
                      <a:tailEnd type="none" w="med" len="med"/>
                    </a:lnL>
                    <a:lnR w="9525" cap="flat" cmpd="sng" algn="ctr">
                      <a:solidFill>
                        <a:srgbClr val="EEF3F4"/>
                      </a:solidFill>
                      <a:prstDash val="solid"/>
                      <a:round/>
                      <a:headEnd type="none" w="med" len="med"/>
                      <a:tailEnd type="none" w="med" len="med"/>
                    </a:lnR>
                    <a:lnT w="9525" cap="flat" cmpd="sng" algn="ctr">
                      <a:solidFill>
                        <a:srgbClr val="EEF3F4"/>
                      </a:solidFill>
                      <a:prstDash val="solid"/>
                      <a:round/>
                      <a:headEnd type="none" w="med" len="med"/>
                      <a:tailEnd type="none" w="med" len="med"/>
                    </a:lnT>
                    <a:lnB w="9525" cap="flat" cmpd="sng" algn="ctr">
                      <a:solidFill>
                        <a:srgbClr val="EEF3F4"/>
                      </a:solidFill>
                      <a:prstDash val="solid"/>
                      <a:round/>
                      <a:headEnd type="none" w="med" len="med"/>
                      <a:tailEnd type="none" w="med" len="med"/>
                    </a:lnB>
                    <a:solidFill>
                      <a:schemeClr val="bg1"/>
                    </a:solidFill>
                  </a:tcPr>
                </a:tc>
              </a:tr>
            </a:tbl>
          </a:graphicData>
        </a:graphic>
      </p:graphicFrame>
      <p:sp>
        <p:nvSpPr>
          <p:cNvPr id="4" name="protocol note"/>
          <p:cNvSpPr txBox="1"/>
          <p:nvPr/>
        </p:nvSpPr>
        <p:spPr>
          <a:xfrm>
            <a:off x="457200" y="3291840"/>
            <a:ext cx="5120640" cy="685800"/>
          </a:xfrm>
          <a:prstGeom prst="rect">
            <a:avLst/>
          </a:prstGeom>
          <a:noFill/>
          <a:ln/>
        </p:spPr>
        <p:txBody>
          <a:bodyPr wrap="square" lIns="0" tIns="0" rIns="0" bIns="0" rtlCol="0" anchor="ctr"/>
          <a:lstStyle/>
          <a:p>
            <a:pPr indent="0" marL="0">
              <a:buNone/>
            </a:pPr>
            <a:r>
              <a:rPr lang="en-US" sz="1200" dirty="0">
                <a:solidFill>
                  <a:schemeClr val="tx1"/>
                </a:solidFill>
              </a:rPr>
              <a:t>Component study (exploration and routing off): 72 runs, 6 practice systems × 3 repeats × 4 versions, 20 tries each. The reference reproduced exactly.</a:t>
            </a:r>
            <a:endParaRPr lang="en-US" sz="1200" dirty="0"/>
          </a:p>
        </p:txBody>
      </p:sp>
      <p:sp>
        <p:nvSpPr>
          <p:cNvPr id="5" name="stat card"/>
          <p:cNvSpPr/>
          <p:nvPr/>
        </p:nvSpPr>
        <p:spPr>
          <a:xfrm>
            <a:off x="5943600" y="1188720"/>
            <a:ext cx="2743200" cy="2788920"/>
          </a:xfrm>
          <a:prstGeom prst="roundRect">
            <a:avLst>
              <a:gd name="adj" fmla="val 2667"/>
            </a:avLst>
          </a:prstGeom>
          <a:solidFill>
            <a:schemeClr val="bg2"/>
          </a:solidFill>
          <a:ln w="12700">
            <a:solidFill>
              <a:schemeClr val="bg2"/>
            </a:solidFill>
            <a:prstDash val="solid"/>
          </a:ln>
        </p:spPr>
      </p:sp>
      <p:sp>
        <p:nvSpPr>
          <p:cNvPr id="6" name="baseline stat"/>
          <p:cNvSpPr txBox="1"/>
          <p:nvPr/>
        </p:nvSpPr>
        <p:spPr>
          <a:xfrm>
            <a:off x="6035040" y="1325880"/>
            <a:ext cx="2560320" cy="822960"/>
          </a:xfrm>
          <a:prstGeom prst="rect">
            <a:avLst/>
          </a:prstGeom>
          <a:noFill/>
          <a:ln/>
        </p:spPr>
        <p:txBody>
          <a:bodyPr wrap="square" lIns="0" tIns="0" rIns="0" bIns="0" rtlCol="0" anchor="ctr"/>
          <a:lstStyle/>
          <a:p>
            <a:pPr algn="ctr" indent="0" marL="0">
              <a:buNone/>
            </a:pPr>
            <a:r>
              <a:rPr lang="en-US" sz="5400" b="1" dirty="0">
                <a:solidFill>
                  <a:schemeClr val="accent1"/>
                </a:solidFill>
              </a:rPr>
              <a:t>−4.7</a:t>
            </a:r>
            <a:endParaRPr lang="en-US" sz="5400" dirty="0"/>
          </a:p>
        </p:txBody>
      </p:sp>
      <p:sp>
        <p:nvSpPr>
          <p:cNvPr id="7" name="baseline stat label"/>
          <p:cNvSpPr txBox="1"/>
          <p:nvPr/>
        </p:nvSpPr>
        <p:spPr>
          <a:xfrm>
            <a:off x="6126480" y="2194560"/>
            <a:ext cx="2377440" cy="548640"/>
          </a:xfrm>
          <a:prstGeom prst="rect">
            <a:avLst/>
          </a:prstGeom>
          <a:noFill/>
          <a:ln/>
        </p:spPr>
        <p:txBody>
          <a:bodyPr wrap="square" lIns="0" tIns="0" rIns="0" bIns="0" rtlCol="0" anchor="ctr"/>
          <a:lstStyle/>
          <a:p>
            <a:pPr algn="ctr" indent="0" marL="0">
              <a:buNone/>
            </a:pPr>
            <a:r>
              <a:rPr lang="en-US" sz="1200" dirty="0">
                <a:solidFill>
                  <a:schemeClr val="tx1"/>
                </a:solidFill>
              </a:rPr>
              <a:t>finds per run without planning</a:t>
            </a:r>
            <a:endParaRPr lang="en-US" sz="1200" dirty="0"/>
          </a:p>
          <a:p>
            <a:pPr algn="ctr" indent="0" marL="0">
              <a:buNone/>
            </a:pPr>
            <a:r>
              <a:rPr lang="en-US" sz="1200" dirty="0">
                <a:solidFill>
                  <a:schemeClr val="tx1"/>
                </a:solidFill>
              </a:rPr>
              <a:t>in the full agent: 10.0 → 5.3</a:t>
            </a:r>
            <a:endParaRPr lang="en-US" sz="1200" dirty="0"/>
          </a:p>
        </p:txBody>
      </p:sp>
      <p:sp>
        <p:nvSpPr>
          <p:cNvPr id="8" name="pending label"/>
          <p:cNvSpPr txBox="1"/>
          <p:nvPr/>
        </p:nvSpPr>
        <p:spPr>
          <a:xfrm>
            <a:off x="6126480" y="3017520"/>
            <a:ext cx="2377440" cy="731520"/>
          </a:xfrm>
          <a:prstGeom prst="rect">
            <a:avLst/>
          </a:prstGeom>
          <a:noFill/>
          <a:ln/>
        </p:spPr>
        <p:txBody>
          <a:bodyPr wrap="square" lIns="0" tIns="0" rIns="0" bIns="0" rtlCol="0" anchor="ctr"/>
          <a:lstStyle/>
          <a:p>
            <a:pPr algn="ctr" indent="0" marL="0">
              <a:buNone/>
            </a:pPr>
            <a:r>
              <a:rPr lang="en-US" sz="1400" b="1" dirty="0">
                <a:solidFill>
                  <a:schemeClr val="accent3"/>
                </a:solidFill>
              </a:rPr>
              <a:t>Worse in 15 of 18 runs</a:t>
            </a:r>
            <a:endParaRPr lang="en-US" sz="1400" dirty="0"/>
          </a:p>
          <a:p>
            <a:pPr algn="ctr" indent="0" marL="0">
              <a:buNone/>
            </a:pPr>
            <a:r>
              <a:rPr lang="en-US" sz="1400" b="1" dirty="0">
                <a:solidFill>
                  <a:schemeClr val="accent3"/>
                </a:solidFill>
              </a:rPr>
              <a:t>Self-correction off: 9.5, no clear effect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
        <p:nvSpPr>
          <p:cNvPr id="26" name="ablation effects"/>
          <p:cNvSpPr txBox="1"/>
          <p:nvPr/>
        </p:nvSpPr>
        <p:spPr>
          <a:xfrm>
            <a:off x="457200" y="4069080"/>
            <a:ext cx="5120640" cy="548640"/>
          </a:xfrm>
          <a:prstGeom prst="rect">
            <a:avLst/>
          </a:prstGeom>
          <a:noFill/>
          <a:ln/>
        </p:spPr>
        <p:txBody>
          <a:bodyPr wrap="square" lIns="0" tIns="0" rIns="0" bIns="0" rtlCol="0" anchor="ctr"/>
          <a:lstStyle/>
          <a:p>
            <a:pPr indent="0" marL="0">
              <a:buNone/>
            </a:pPr>
            <a:r>
              <a:rPr lang="en-US" sz="1200" dirty="0">
                <a:solidFill>
                  <a:schemeClr val="tx1"/>
                </a:solidFill>
              </a:rPr>
              <a:t>Component study: +1.5 per run vs reference (hard systems 1 → 7, easy 9 → 6). Cobalt–magnesium–sodium: changing course raised finds 3 → 13.</a:t>
            </a:r>
            <a:endParaRPr lang="en-US" sz="1200" dirty="0"/>
          </a:p>
        </p:txBody>
      </p:sp>
    </p:spTree>
  </p:cSld>
  <p:clrMapOvr>
    <a:masterClrMapping/>
  </p:clrMapOvr>
</p:sld>
</file>

<file path=ppt/theme/theme1.xml><?xml version="1.0" encoding="utf-8"?>
<a:theme xmlns:a="http://schemas.openxmlformats.org/drawingml/2006/main" name="M3 Graphite Teal">
  <a:themeElements>
    <a:clrScheme name="M3 Graphite Teal">
      <a:dk1>
        <a:srgbClr val="1E272C"/>
      </a:dk1>
      <a:lt1>
        <a:srgbClr val="FFFFFF"/>
      </a:lt1>
      <a:dk2>
        <a:srgbClr val="0E4D5A"/>
      </a:dk2>
      <a:lt2>
        <a:srgbClr val="EEF3F4"/>
      </a:lt2>
      <a:accent1>
        <a:srgbClr val="0F7C8C"/>
      </a:accent1>
      <a:accent2>
        <a:srgbClr val="E39B2D"/>
      </a:accent2>
      <a:accent3>
        <a:srgbClr val="B5523B"/>
      </a:accent3>
      <a:accent4>
        <a:srgbClr val="5B8E7D"/>
      </a:accent4>
      <a:accent5>
        <a:srgbClr val="8A9BA3"/>
      </a:accent5>
      <a:accent6>
        <a:srgbClr val="2F4858"/>
      </a:accent6>
      <a:hlink>
        <a:srgbClr val="0F7C8C"/>
      </a:hlink>
      <a:folHlink>
        <a:srgbClr val="6B5B95"/>
      </a:folHlink>
    </a:clrScheme>
    <a:fontScheme name="M3 Graphite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M3 planning and self-correction</dc:title>
  <dc:subject>PptxGenJS Presentation</dc:subject>
  <dc:creator>PE6203 Group 6, M3</dc:creator>
  <cp:lastModifiedBy>PE6203 Group 6, M3</cp:lastModifiedBy>
  <cp:revision>1</cp:revision>
  <dcterms:created xsi:type="dcterms:W3CDTF">2026-10-20T06:15:35Z</dcterms:created>
  <dcterms:modified xsi:type="dcterms:W3CDTF">2026-10-20T06:15:35Z</dcterms:modified>
</cp:coreProperties>
</file>